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HelloJess is a task and habit tracker built for the TaskFlow subject, with all four bonuses. It has one backend and two clients: a web app and a mobile app. This presentation walks through every section: first the backend, then the web app, then the mobile app, then the profile feature we just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HelloJess lets a user register, manage their own tasks, track recurring habits day by day, and see their activity on a calendar, a heatmap and completion statistics. Everything is private per user and enforced by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pieces share one backend. The web and mobile apps only display data and send requests over HTTP with JSON. All rules live in the API, so both clients always behave the same. The API talks to MongoDB through Mongoose.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choices keep the project simple: Node's built-in test runner means no extra test dependency, zod gives precise validation messages, and Expo lets one code base run on iOS and Android.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request goes through layers, each with one job. app.js sets up Express. Routes map URLs to controllers. Middleware validates input and checks the login. Controllers talk HTTP. Services hold the business rules and database queries. Models describe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file has a clear place. config reads settings, models define the data, schemas.js holds all validation rules, middleware.js and security.js handle input checking and login, controllers and routes are one file per resource, and services contain the logic. Pure calculation modules are separate so they can be unit-tested without a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env.js reads PORT, MONGODB_URI, CORS_ORIGIN, SECRET_KEY and the token lifetime with safe defaults. server.js connects to MongoDB first and only then starts listening, so the API never accepts requests it cannot serve. app.js mounts the five routers and the error handlers.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collections. Every model removes internal fields when sent as JSON: the id is exposed as id, and owner and the password hash are never sent. Due dates and habit dates are plain YYYY-MM-DD text, so they never shift with time zones. A unique index stops a habit being recorded twice for the same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request has one zod schema in schemas.js. The validate middleware runs it against the body or query and replaces it with the cleaned values. Invalid input returns 422 with one clear message per field, which the web and mobile apps display. Unknown fields such as owner or completedAt are ignored, so a client cannot forge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Passwords are hashed with bcrypt and only the hash is stored. Login returns a signed JWT whose subject is the user id. requireAuth decodes it and loads the user. The most important rule: every query is scoped to the logged-in user, and a resource that belongs to someone else behaves exactly like one that does not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Controllers stay thin. The services decide how things work: for example taskService stamps completedAt when a task becomes done and clears it when it leaves done. habitService treats adding the same day twice as a no-op. Statistics and calendar use pure functions that take plain data, which is why they are easy to unit-test.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all the endpoints. Everything except register, login and health needs the Bearer token. The task list takes filters as query parameters, and the stats and calendar endpoints take a time zone so days are computed where the user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heatmap returns one entry per day, including empty days. total is completed tasks plus habit completions. level goes from 0 to 4: zero when nothing happened, otherwise the ceiling of total over the busiest day times four. Days are computed in the user's time zone, so a task finished at 23:30 UTC counts for the next day in Paris.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week or month we count completed tasks and the workload, meaning the tasks that were in play during that period. The rate is completed over workload. If there is no workload the rate is null and not zero, because a rate cannot be measured on zero tasks. The change compares with the previous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calendar endpoint turns tasks and habit completions into events. Open tasks appear on their due date, or on the day they were created if they have no due date, so a new task always shows up. Overdue tasks keep their status colour with a red outline, and overdue tasks from before the visible grid are carried onto today so they are never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Dates are a classic source of bugs. Due dates are civil dates with no time, so they never shift. For statistics, each instant is converted to a calendar day in the user's time zone using Intl, instead of adding 24 hours, which keeps daylight-saving days of 23 or 25 hours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Sixty unit tests run with Node's built-in runner and need no database because the logic being tested is in pure functions. Beyond unit tests, the API and both clients were exercised end to end against throwaway databases and in a browser, including error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 app is a React single-page app. App.tsx declares the routes and wraps private pages in RequireAuth. api.ts is the single axios client: it adds the Bearer token, has a 10-second timeout and turns API errors into readable messages. AuthContext keeps the logged-in user for every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home page. At the top, the add-task form shows validation messages from the API. Below, filters by status, priority and due date, a counter per status, and the list. Each row has a checkbox and a status selector, and overdue tasks are highlighted in red. Clicking a title opens the detail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detail page shows every field of one task and lets you edit or delete it. Validation errors come straight from the API and are shown next to the form, for example an empty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month grid with coloured events, previous and next month navigation, and the list of the selected day's events underneath. Colours: purple to do, orange doing, green done, blue habits, red outline for overdue.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Habits shows each habit with the last seven days as buttons: click to record or remove a completion. Statistics shows the summary numbers, the heatmap of the last 52 weeks and the completion chart, weekly or monthly.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mobile app has the same features as the web app and uses the same API. A native stack navigator shows Login and Register when logged out, and Tasks, TaskDetail, Calendar, Habits, Stats and Profile when logged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left to right: tasks with filters and counters, the calendar, habits with day cells to tap, statistics with a scrollable heatmap and completion bars, and the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phone cannot reach localhost, so the app needs the computer's LAN address in mobile/.env. A request that cannot connect times out after ten seconds and the error names the URL. Date names are written by hand so the app does not depend on Intl support on the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logged-in user's name and email are shown at the top of every screen. Clicking or tapping them opens the profile, which shows the account details and an activity summary. Edit profile opens a form to change the name and email. Errors, like an email already used, stay in the form so you can correct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design choice is that the token holds the user id and not the email. So changing the email never invalidates a session or orphans data, and tasks and habits stay linked to the same user. Only name and email can be edited, and the schema ignores every other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the mandatory part and all four bonuses are implemented, plus a calendar and an editable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terminals: the backend on port 8000, the web app on 5173, and Expo for the phone. MongoDB must be running. On the phone, remember to set the LAN address in mobile/.env.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honest limits, and natural next steps.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6C5CE7"/>
          </a:solidFill>
          <a:ln w="12700">
            <a:solidFill>
              <a:srgbClr val="6C5CE7"/>
            </a:solidFill>
            <a:prstDash val="solid"/>
          </a:ln>
        </p:spPr>
      </p:sp>
      <p:sp>
        <p:nvSpPr>
          <p:cNvPr id="3" name="Text 1"/>
          <p:cNvSpPr/>
          <p:nvPr/>
        </p:nvSpPr>
        <p:spPr>
          <a:xfrm>
            <a:off x="1097280" y="1828800"/>
            <a:ext cx="7315200" cy="1188720"/>
          </a:xfrm>
          <a:prstGeom prst="rect">
            <a:avLst/>
          </a:prstGeom>
          <a:noFill/>
          <a:ln/>
        </p:spPr>
        <p:txBody>
          <a:bodyPr wrap="square" lIns="0" tIns="0" rIns="0" bIns="0" rtlCol="0" anchor="ctr"/>
          <a:lstStyle/>
          <a:p>
            <a:pPr indent="0" marL="0">
              <a:buNone/>
            </a:pPr>
            <a:r>
              <a:rPr lang="en-US" sz="7200" b="1" dirty="0">
                <a:solidFill>
                  <a:srgbClr val="F2F1F6"/>
                </a:solidFill>
                <a:latin typeface="Calibri" pitchFamily="34" charset="0"/>
                <a:ea typeface="Calibri" pitchFamily="34" charset="-122"/>
                <a:cs typeface="Calibri" pitchFamily="34" charset="-120"/>
              </a:rPr>
              <a:t>HelloJess</a:t>
            </a:r>
            <a:endParaRPr lang="en-US" sz="7200" dirty="0"/>
          </a:p>
        </p:txBody>
      </p:sp>
      <p:sp>
        <p:nvSpPr>
          <p:cNvPr id="4" name="Text 2"/>
          <p:cNvSpPr/>
          <p:nvPr/>
        </p:nvSpPr>
        <p:spPr>
          <a:xfrm>
            <a:off x="1097280" y="3017520"/>
            <a:ext cx="8229600" cy="548640"/>
          </a:xfrm>
          <a:prstGeom prst="rect">
            <a:avLst/>
          </a:prstGeom>
          <a:noFill/>
          <a:ln/>
        </p:spPr>
        <p:txBody>
          <a:bodyPr wrap="square" lIns="0" tIns="0" rIns="0" bIns="0" rtlCol="0" anchor="ctr"/>
          <a:lstStyle/>
          <a:p>
            <a:pPr indent="0" marL="0">
              <a:buNone/>
            </a:pPr>
            <a:r>
              <a:rPr lang="en-US" sz="2600" dirty="0">
                <a:solidFill>
                  <a:srgbClr val="A29BFE"/>
                </a:solidFill>
                <a:latin typeface="Calibri" pitchFamily="34" charset="0"/>
                <a:ea typeface="Calibri" pitchFamily="34" charset="-122"/>
                <a:cs typeface="Calibri" pitchFamily="34" charset="-120"/>
              </a:rPr>
              <a:t>Task and habit tracker: backend, web and mobile</a:t>
            </a:r>
            <a:endParaRPr lang="en-US" sz="2600" dirty="0"/>
          </a:p>
        </p:txBody>
      </p:sp>
      <p:sp>
        <p:nvSpPr>
          <p:cNvPr id="5" name="Text 3"/>
          <p:cNvSpPr/>
          <p:nvPr/>
        </p:nvSpPr>
        <p:spPr>
          <a:xfrm>
            <a:off x="1097280" y="3749040"/>
            <a:ext cx="10058400" cy="457200"/>
          </a:xfrm>
          <a:prstGeom prst="rect">
            <a:avLst/>
          </a:prstGeom>
          <a:noFill/>
          <a:ln/>
        </p:spPr>
        <p:txBody>
          <a:bodyPr wrap="square" lIns="0" tIns="0" rIns="0" bIns="0" rtlCol="0" anchor="ctr"/>
          <a:lstStyle/>
          <a:p>
            <a:pPr indent="0" marL="0">
              <a:buNone/>
            </a:pPr>
            <a:r>
              <a:rPr lang="en-US" sz="1600" dirty="0">
                <a:solidFill>
                  <a:srgbClr val="A9A7B8"/>
                </a:solidFill>
                <a:latin typeface="Calibri" pitchFamily="34" charset="0"/>
                <a:ea typeface="Calibri" pitchFamily="34" charset="-122"/>
                <a:cs typeface="Calibri" pitchFamily="34" charset="-120"/>
              </a:rPr>
              <a:t>Node.js + Express + MongoDB   |   React (Vite)   |   React Native (Expo)</a:t>
            </a:r>
            <a:endParaRPr lang="en-US" sz="1600" dirty="0"/>
          </a:p>
        </p:txBody>
      </p:sp>
      <p:sp>
        <p:nvSpPr>
          <p:cNvPr id="6" name="Text 4"/>
          <p:cNvSpPr/>
          <p:nvPr/>
        </p:nvSpPr>
        <p:spPr>
          <a:xfrm>
            <a:off x="1097280" y="4206240"/>
            <a:ext cx="8229600" cy="365760"/>
          </a:xfrm>
          <a:prstGeom prst="rect">
            <a:avLst/>
          </a:prstGeom>
          <a:noFill/>
          <a:ln/>
        </p:spPr>
        <p:txBody>
          <a:bodyPr wrap="square" lIns="0" tIns="0" rIns="0" bIns="0" rtlCol="0" anchor="ctr"/>
          <a:lstStyle/>
          <a:p>
            <a:pPr indent="0" marL="0">
              <a:buNone/>
            </a:pPr>
            <a:r>
              <a:rPr lang="en-US" sz="1400" dirty="0">
                <a:solidFill>
                  <a:srgbClr val="A9A7B8"/>
                </a:solidFill>
                <a:latin typeface="Calibri" pitchFamily="34" charset="0"/>
                <a:ea typeface="Calibri" pitchFamily="34" charset="-122"/>
                <a:cs typeface="Calibri" pitchFamily="34" charset="-120"/>
              </a:rPr>
              <a:t>TaskFlow subject, bonuses B1 to B4</a:t>
            </a:r>
            <a:endParaRPr lang="en-US" sz="1400" dirty="0"/>
          </a:p>
        </p:txBody>
      </p:sp>
      <p:sp>
        <p:nvSpPr>
          <p:cNvPr id="7" name="Shape 5"/>
          <p:cNvSpPr/>
          <p:nvPr/>
        </p:nvSpPr>
        <p:spPr>
          <a:xfrm>
            <a:off x="9504381" y="1060704"/>
            <a:ext cx="2296758" cy="4919472"/>
          </a:xfrm>
          <a:prstGeom prst="rect">
            <a:avLst/>
          </a:prstGeom>
          <a:solidFill>
            <a:srgbClr val="2C2A37"/>
          </a:solidFill>
          <a:ln w="12700">
            <a:solidFill>
              <a:srgbClr val="3A3748"/>
            </a:solidFill>
            <a:prstDash val="solid"/>
          </a:ln>
        </p:spPr>
      </p:sp>
      <p:pic>
        <p:nvPicPr>
          <p:cNvPr id="8" name="Image 0" descr="C:/Users/User/AppData/Local/Temp/claude/C--Users-User-OneDrive-Desktop-HelloJess/4f5de54d-7640-4ce8-b96f-c26ed1b4fe92/scratchpad/crop/mobile-tasks.png">    </p:cNvPr>
          <p:cNvPicPr>
            <a:picLocks noChangeAspect="1"/>
          </p:cNvPicPr>
          <p:nvPr/>
        </p:nvPicPr>
        <p:blipFill>
          <a:blip r:embed="rId1"/>
          <a:stretch>
            <a:fillRect/>
          </a:stretch>
        </p:blipFill>
        <p:spPr>
          <a:xfrm>
            <a:off x="9540957" y="1097280"/>
            <a:ext cx="2223606" cy="48463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What is HelloJess?</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OVERVIEW</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2</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sp>
        <p:nvSpPr>
          <p:cNvPr id="8" name="Shape 5"/>
          <p:cNvSpPr/>
          <p:nvPr/>
        </p:nvSpPr>
        <p:spPr>
          <a:xfrm>
            <a:off x="548640" y="1371600"/>
            <a:ext cx="3544824" cy="2377440"/>
          </a:xfrm>
          <a:prstGeom prst="roundRect">
            <a:avLst>
              <a:gd name="adj" fmla="val 3077"/>
            </a:avLst>
          </a:prstGeom>
          <a:solidFill>
            <a:srgbClr val="23212B"/>
          </a:solidFill>
          <a:ln w="12700">
            <a:solidFill>
              <a:srgbClr val="3A3748"/>
            </a:solidFill>
            <a:prstDash val="solid"/>
          </a:ln>
        </p:spPr>
      </p:sp>
      <p:sp>
        <p:nvSpPr>
          <p:cNvPr id="9" name="Shape 6"/>
          <p:cNvSpPr/>
          <p:nvPr/>
        </p:nvSpPr>
        <p:spPr>
          <a:xfrm>
            <a:off x="566928" y="1536192"/>
            <a:ext cx="64008" cy="365760"/>
          </a:xfrm>
          <a:prstGeom prst="rect">
            <a:avLst/>
          </a:prstGeom>
          <a:solidFill>
            <a:srgbClr val="6C5CE7"/>
          </a:solidFill>
          <a:ln w="12700">
            <a:solidFill>
              <a:srgbClr val="6C5CE7"/>
            </a:solidFill>
            <a:prstDash val="solid"/>
          </a:ln>
        </p:spPr>
      </p:sp>
      <p:sp>
        <p:nvSpPr>
          <p:cNvPr id="10" name="Text 7"/>
          <p:cNvSpPr/>
          <p:nvPr/>
        </p:nvSpPr>
        <p:spPr>
          <a:xfrm>
            <a:off x="777240" y="1481328"/>
            <a:ext cx="3179064"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Tasks</a:t>
            </a:r>
            <a:endParaRPr lang="en-US" sz="1700" dirty="0"/>
          </a:p>
        </p:txBody>
      </p:sp>
      <p:sp>
        <p:nvSpPr>
          <p:cNvPr id="11" name="Text 8"/>
          <p:cNvSpPr/>
          <p:nvPr/>
        </p:nvSpPr>
        <p:spPr>
          <a:xfrm>
            <a:off x="777240" y="1984248"/>
            <a:ext cx="3133344" cy="1673352"/>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Title, status, description, due date, priority</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Filters and a counter per status</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Edit, delete, overdue highlighting</a:t>
            </a:r>
            <a:endParaRPr lang="en-US" sz="1550" dirty="0"/>
          </a:p>
        </p:txBody>
      </p:sp>
      <p:sp>
        <p:nvSpPr>
          <p:cNvPr id="12" name="Shape 9"/>
          <p:cNvSpPr/>
          <p:nvPr/>
        </p:nvSpPr>
        <p:spPr>
          <a:xfrm>
            <a:off x="4322064" y="1371600"/>
            <a:ext cx="3544824" cy="2377440"/>
          </a:xfrm>
          <a:prstGeom prst="roundRect">
            <a:avLst>
              <a:gd name="adj" fmla="val 3077"/>
            </a:avLst>
          </a:prstGeom>
          <a:solidFill>
            <a:srgbClr val="23212B"/>
          </a:solidFill>
          <a:ln w="12700">
            <a:solidFill>
              <a:srgbClr val="3A3748"/>
            </a:solidFill>
            <a:prstDash val="solid"/>
          </a:ln>
        </p:spPr>
      </p:sp>
      <p:sp>
        <p:nvSpPr>
          <p:cNvPr id="13" name="Shape 10"/>
          <p:cNvSpPr/>
          <p:nvPr/>
        </p:nvSpPr>
        <p:spPr>
          <a:xfrm>
            <a:off x="4340352" y="1536192"/>
            <a:ext cx="64008" cy="365760"/>
          </a:xfrm>
          <a:prstGeom prst="rect">
            <a:avLst/>
          </a:prstGeom>
          <a:solidFill>
            <a:srgbClr val="3498DB"/>
          </a:solidFill>
          <a:ln w="12700">
            <a:solidFill>
              <a:srgbClr val="3498DB"/>
            </a:solidFill>
            <a:prstDash val="solid"/>
          </a:ln>
        </p:spPr>
      </p:sp>
      <p:sp>
        <p:nvSpPr>
          <p:cNvPr id="14" name="Text 11"/>
          <p:cNvSpPr/>
          <p:nvPr/>
        </p:nvSpPr>
        <p:spPr>
          <a:xfrm>
            <a:off x="4550664" y="1481328"/>
            <a:ext cx="3179064"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Habits</a:t>
            </a:r>
            <a:endParaRPr lang="en-US" sz="1700" dirty="0"/>
          </a:p>
        </p:txBody>
      </p:sp>
      <p:sp>
        <p:nvSpPr>
          <p:cNvPr id="15" name="Text 12"/>
          <p:cNvSpPr/>
          <p:nvPr/>
        </p:nvSpPr>
        <p:spPr>
          <a:xfrm>
            <a:off x="4550664" y="1984248"/>
            <a:ext cx="3133344" cy="1673352"/>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Recurring things you do day by day</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Tick a day, untick a day</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One completion per habit per day</a:t>
            </a:r>
            <a:endParaRPr lang="en-US" sz="1550" dirty="0"/>
          </a:p>
        </p:txBody>
      </p:sp>
      <p:sp>
        <p:nvSpPr>
          <p:cNvPr id="16" name="Shape 13"/>
          <p:cNvSpPr/>
          <p:nvPr/>
        </p:nvSpPr>
        <p:spPr>
          <a:xfrm>
            <a:off x="8095488" y="1371600"/>
            <a:ext cx="3544824" cy="2377440"/>
          </a:xfrm>
          <a:prstGeom prst="roundRect">
            <a:avLst>
              <a:gd name="adj" fmla="val 3077"/>
            </a:avLst>
          </a:prstGeom>
          <a:solidFill>
            <a:srgbClr val="23212B"/>
          </a:solidFill>
          <a:ln w="12700">
            <a:solidFill>
              <a:srgbClr val="3A3748"/>
            </a:solidFill>
            <a:prstDash val="solid"/>
          </a:ln>
        </p:spPr>
      </p:sp>
      <p:sp>
        <p:nvSpPr>
          <p:cNvPr id="17" name="Shape 14"/>
          <p:cNvSpPr/>
          <p:nvPr/>
        </p:nvSpPr>
        <p:spPr>
          <a:xfrm>
            <a:off x="8113776" y="1536192"/>
            <a:ext cx="64008" cy="365760"/>
          </a:xfrm>
          <a:prstGeom prst="rect">
            <a:avLst/>
          </a:prstGeom>
          <a:solidFill>
            <a:srgbClr val="2ECC71"/>
          </a:solidFill>
          <a:ln w="12700">
            <a:solidFill>
              <a:srgbClr val="2ECC71"/>
            </a:solidFill>
            <a:prstDash val="solid"/>
          </a:ln>
        </p:spPr>
      </p:sp>
      <p:sp>
        <p:nvSpPr>
          <p:cNvPr id="18" name="Text 15"/>
          <p:cNvSpPr/>
          <p:nvPr/>
        </p:nvSpPr>
        <p:spPr>
          <a:xfrm>
            <a:off x="8324088" y="1481328"/>
            <a:ext cx="3179064"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Insights</a:t>
            </a:r>
            <a:endParaRPr lang="en-US" sz="1700" dirty="0"/>
          </a:p>
        </p:txBody>
      </p:sp>
      <p:sp>
        <p:nvSpPr>
          <p:cNvPr id="19" name="Text 16"/>
          <p:cNvSpPr/>
          <p:nvPr/>
        </p:nvSpPr>
        <p:spPr>
          <a:xfrm>
            <a:off x="8324088" y="1984248"/>
            <a:ext cx="3133344" cy="1673352"/>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Calendar with a colour per status</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GitHub-style activity heatmap</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Weekly and monthly completion rate</a:t>
            </a:r>
            <a:endParaRPr lang="en-US" sz="1550" dirty="0"/>
          </a:p>
        </p:txBody>
      </p:sp>
      <p:sp>
        <p:nvSpPr>
          <p:cNvPr id="20" name="Text 17"/>
          <p:cNvSpPr/>
          <p:nvPr/>
        </p:nvSpPr>
        <p:spPr>
          <a:xfrm>
            <a:off x="548640" y="4023360"/>
            <a:ext cx="5486400" cy="365760"/>
          </a:xfrm>
          <a:prstGeom prst="rect">
            <a:avLst/>
          </a:prstGeom>
          <a:noFill/>
          <a:ln/>
        </p:spPr>
        <p:txBody>
          <a:bodyPr wrap="square" lIns="0" tIns="0" rIns="0" bIns="0" rtlCol="0" anchor="ctr"/>
          <a:lstStyle/>
          <a:p>
            <a:pPr indent="0" marL="0">
              <a:buNone/>
            </a:pPr>
            <a:r>
              <a:rPr lang="en-US" sz="1600" b="1" dirty="0">
                <a:solidFill>
                  <a:srgbClr val="A29BFE"/>
                </a:solidFill>
                <a:latin typeface="Calibri" pitchFamily="34" charset="0"/>
                <a:ea typeface="Calibri" pitchFamily="34" charset="-122"/>
                <a:cs typeface="Calibri" pitchFamily="34" charset="-120"/>
              </a:rPr>
              <a:t>Bonuses implemented</a:t>
            </a:r>
            <a:endParaRPr lang="en-US" sz="1600" dirty="0"/>
          </a:p>
        </p:txBody>
      </p:sp>
      <p:sp>
        <p:nvSpPr>
          <p:cNvPr id="21" name="Shape 18"/>
          <p:cNvSpPr/>
          <p:nvPr/>
        </p:nvSpPr>
        <p:spPr>
          <a:xfrm>
            <a:off x="548640" y="4480560"/>
            <a:ext cx="2072030" cy="1371600"/>
          </a:xfrm>
          <a:prstGeom prst="roundRect">
            <a:avLst>
              <a:gd name="adj" fmla="val 5333"/>
            </a:avLst>
          </a:prstGeom>
          <a:solidFill>
            <a:srgbClr val="23212B"/>
          </a:solidFill>
          <a:ln w="19050">
            <a:solidFill>
              <a:srgbClr val="6C5CE7"/>
            </a:solidFill>
            <a:prstDash val="solid"/>
          </a:ln>
        </p:spPr>
      </p:sp>
      <p:sp>
        <p:nvSpPr>
          <p:cNvPr id="22" name="Text 19"/>
          <p:cNvSpPr/>
          <p:nvPr/>
        </p:nvSpPr>
        <p:spPr>
          <a:xfrm>
            <a:off x="548640" y="4572000"/>
            <a:ext cx="2072030" cy="548640"/>
          </a:xfrm>
          <a:prstGeom prst="rect">
            <a:avLst/>
          </a:prstGeom>
          <a:noFill/>
          <a:ln/>
        </p:spPr>
        <p:txBody>
          <a:bodyPr wrap="square" lIns="0" tIns="0" rIns="0" bIns="0" rtlCol="0" anchor="ctr"/>
          <a:lstStyle/>
          <a:p>
            <a:pPr algn="ctr" indent="0" marL="0">
              <a:buNone/>
            </a:pPr>
            <a:r>
              <a:rPr lang="en-US" sz="2600" b="1" dirty="0">
                <a:solidFill>
                  <a:srgbClr val="6C5CE7"/>
                </a:solidFill>
                <a:latin typeface="Calibri" pitchFamily="34" charset="0"/>
                <a:ea typeface="Calibri" pitchFamily="34" charset="-122"/>
                <a:cs typeface="Calibri" pitchFamily="34" charset="-120"/>
              </a:rPr>
              <a:t>B1</a:t>
            </a:r>
            <a:endParaRPr lang="en-US" sz="2600" dirty="0"/>
          </a:p>
        </p:txBody>
      </p:sp>
      <p:sp>
        <p:nvSpPr>
          <p:cNvPr id="23" name="Text 20"/>
          <p:cNvSpPr/>
          <p:nvPr/>
        </p:nvSpPr>
        <p:spPr>
          <a:xfrm>
            <a:off x="640080" y="5166360"/>
            <a:ext cx="1889150" cy="640080"/>
          </a:xfrm>
          <a:prstGeom prst="rect">
            <a:avLst/>
          </a:prstGeom>
          <a:noFill/>
          <a:ln/>
        </p:spPr>
        <p:txBody>
          <a:bodyPr wrap="square" lIns="0" tIns="0" rIns="0" bIns="0" rtlCol="0" anchor="t"/>
          <a:lstStyle/>
          <a:p>
            <a:pPr algn="ctr" indent="0" marL="0">
              <a:buNone/>
            </a:pPr>
            <a:r>
              <a:rPr lang="en-US" sz="1300" dirty="0">
                <a:solidFill>
                  <a:srgbClr val="F2F1F6"/>
                </a:solidFill>
                <a:latin typeface="Calibri" pitchFamily="34" charset="0"/>
                <a:ea typeface="Calibri" pitchFamily="34" charset="-122"/>
                <a:cs typeface="Calibri" pitchFamily="34" charset="-120"/>
              </a:rPr>
              <a:t>Priority, filters, counters</a:t>
            </a:r>
            <a:endParaRPr lang="en-US" sz="1300" dirty="0"/>
          </a:p>
        </p:txBody>
      </p:sp>
      <p:sp>
        <p:nvSpPr>
          <p:cNvPr id="24" name="Shape 21"/>
          <p:cNvSpPr/>
          <p:nvPr/>
        </p:nvSpPr>
        <p:spPr>
          <a:xfrm>
            <a:off x="2803550" y="4480560"/>
            <a:ext cx="2072030" cy="1371600"/>
          </a:xfrm>
          <a:prstGeom prst="roundRect">
            <a:avLst>
              <a:gd name="adj" fmla="val 5333"/>
            </a:avLst>
          </a:prstGeom>
          <a:solidFill>
            <a:srgbClr val="23212B"/>
          </a:solidFill>
          <a:ln w="19050">
            <a:solidFill>
              <a:srgbClr val="6C5CE7"/>
            </a:solidFill>
            <a:prstDash val="solid"/>
          </a:ln>
        </p:spPr>
      </p:sp>
      <p:sp>
        <p:nvSpPr>
          <p:cNvPr id="25" name="Text 22"/>
          <p:cNvSpPr/>
          <p:nvPr/>
        </p:nvSpPr>
        <p:spPr>
          <a:xfrm>
            <a:off x="2803550" y="4572000"/>
            <a:ext cx="2072030" cy="548640"/>
          </a:xfrm>
          <a:prstGeom prst="rect">
            <a:avLst/>
          </a:prstGeom>
          <a:noFill/>
          <a:ln/>
        </p:spPr>
        <p:txBody>
          <a:bodyPr wrap="square" lIns="0" tIns="0" rIns="0" bIns="0" rtlCol="0" anchor="ctr"/>
          <a:lstStyle/>
          <a:p>
            <a:pPr algn="ctr" indent="0" marL="0">
              <a:buNone/>
            </a:pPr>
            <a:r>
              <a:rPr lang="en-US" sz="2600" b="1" dirty="0">
                <a:solidFill>
                  <a:srgbClr val="6C5CE7"/>
                </a:solidFill>
                <a:latin typeface="Calibri" pitchFamily="34" charset="0"/>
                <a:ea typeface="Calibri" pitchFamily="34" charset="-122"/>
                <a:cs typeface="Calibri" pitchFamily="34" charset="-120"/>
              </a:rPr>
              <a:t>B2</a:t>
            </a:r>
            <a:endParaRPr lang="en-US" sz="2600" dirty="0"/>
          </a:p>
        </p:txBody>
      </p:sp>
      <p:sp>
        <p:nvSpPr>
          <p:cNvPr id="26" name="Text 23"/>
          <p:cNvSpPr/>
          <p:nvPr/>
        </p:nvSpPr>
        <p:spPr>
          <a:xfrm>
            <a:off x="2894990" y="5166360"/>
            <a:ext cx="1889150" cy="640080"/>
          </a:xfrm>
          <a:prstGeom prst="rect">
            <a:avLst/>
          </a:prstGeom>
          <a:noFill/>
          <a:ln/>
        </p:spPr>
        <p:txBody>
          <a:bodyPr wrap="square" lIns="0" tIns="0" rIns="0" bIns="0" rtlCol="0" anchor="t"/>
          <a:lstStyle/>
          <a:p>
            <a:pPr algn="ctr" indent="0" marL="0">
              <a:buNone/>
            </a:pPr>
            <a:r>
              <a:rPr lang="en-US" sz="1300" dirty="0">
                <a:solidFill>
                  <a:srgbClr val="F2F1F6"/>
                </a:solidFill>
                <a:latin typeface="Calibri" pitchFamily="34" charset="0"/>
                <a:ea typeface="Calibri" pitchFamily="34" charset="-122"/>
                <a:cs typeface="Calibri" pitchFamily="34" charset="-120"/>
              </a:rPr>
              <a:t>Second entity: Habit</a:t>
            </a:r>
            <a:endParaRPr lang="en-US" sz="1300" dirty="0"/>
          </a:p>
        </p:txBody>
      </p:sp>
      <p:sp>
        <p:nvSpPr>
          <p:cNvPr id="27" name="Shape 24"/>
          <p:cNvSpPr/>
          <p:nvPr/>
        </p:nvSpPr>
        <p:spPr>
          <a:xfrm>
            <a:off x="5058461" y="4480560"/>
            <a:ext cx="2072030" cy="1371600"/>
          </a:xfrm>
          <a:prstGeom prst="roundRect">
            <a:avLst>
              <a:gd name="adj" fmla="val 5333"/>
            </a:avLst>
          </a:prstGeom>
          <a:solidFill>
            <a:srgbClr val="23212B"/>
          </a:solidFill>
          <a:ln w="19050">
            <a:solidFill>
              <a:srgbClr val="6C5CE7"/>
            </a:solidFill>
            <a:prstDash val="solid"/>
          </a:ln>
        </p:spPr>
      </p:sp>
      <p:sp>
        <p:nvSpPr>
          <p:cNvPr id="28" name="Text 25"/>
          <p:cNvSpPr/>
          <p:nvPr/>
        </p:nvSpPr>
        <p:spPr>
          <a:xfrm>
            <a:off x="5058461" y="4572000"/>
            <a:ext cx="2072030" cy="548640"/>
          </a:xfrm>
          <a:prstGeom prst="rect">
            <a:avLst/>
          </a:prstGeom>
          <a:noFill/>
          <a:ln/>
        </p:spPr>
        <p:txBody>
          <a:bodyPr wrap="square" lIns="0" tIns="0" rIns="0" bIns="0" rtlCol="0" anchor="ctr"/>
          <a:lstStyle/>
          <a:p>
            <a:pPr algn="ctr" indent="0" marL="0">
              <a:buNone/>
            </a:pPr>
            <a:r>
              <a:rPr lang="en-US" sz="2600" b="1" dirty="0">
                <a:solidFill>
                  <a:srgbClr val="6C5CE7"/>
                </a:solidFill>
                <a:latin typeface="Calibri" pitchFamily="34" charset="0"/>
                <a:ea typeface="Calibri" pitchFamily="34" charset="-122"/>
                <a:cs typeface="Calibri" pitchFamily="34" charset="-120"/>
              </a:rPr>
              <a:t>B3</a:t>
            </a:r>
            <a:endParaRPr lang="en-US" sz="2600" dirty="0"/>
          </a:p>
        </p:txBody>
      </p:sp>
      <p:sp>
        <p:nvSpPr>
          <p:cNvPr id="29" name="Text 26"/>
          <p:cNvSpPr/>
          <p:nvPr/>
        </p:nvSpPr>
        <p:spPr>
          <a:xfrm>
            <a:off x="5149901" y="5166360"/>
            <a:ext cx="1889150" cy="640080"/>
          </a:xfrm>
          <a:prstGeom prst="rect">
            <a:avLst/>
          </a:prstGeom>
          <a:noFill/>
          <a:ln/>
        </p:spPr>
        <p:txBody>
          <a:bodyPr wrap="square" lIns="0" tIns="0" rIns="0" bIns="0" rtlCol="0" anchor="t"/>
          <a:lstStyle/>
          <a:p>
            <a:pPr algn="ctr" indent="0" marL="0">
              <a:buNone/>
            </a:pPr>
            <a:r>
              <a:rPr lang="en-US" sz="1300" dirty="0">
                <a:solidFill>
                  <a:srgbClr val="F2F1F6"/>
                </a:solidFill>
                <a:latin typeface="Calibri" pitchFamily="34" charset="0"/>
                <a:ea typeface="Calibri" pitchFamily="34" charset="-122"/>
                <a:cs typeface="Calibri" pitchFamily="34" charset="-120"/>
              </a:rPr>
              <a:t>Activity heatmap</a:t>
            </a:r>
            <a:endParaRPr lang="en-US" sz="1300" dirty="0"/>
          </a:p>
        </p:txBody>
      </p:sp>
      <p:sp>
        <p:nvSpPr>
          <p:cNvPr id="30" name="Shape 27"/>
          <p:cNvSpPr/>
          <p:nvPr/>
        </p:nvSpPr>
        <p:spPr>
          <a:xfrm>
            <a:off x="7313371" y="4480560"/>
            <a:ext cx="2072030" cy="1371600"/>
          </a:xfrm>
          <a:prstGeom prst="roundRect">
            <a:avLst>
              <a:gd name="adj" fmla="val 5333"/>
            </a:avLst>
          </a:prstGeom>
          <a:solidFill>
            <a:srgbClr val="23212B"/>
          </a:solidFill>
          <a:ln w="19050">
            <a:solidFill>
              <a:srgbClr val="6C5CE7"/>
            </a:solidFill>
            <a:prstDash val="solid"/>
          </a:ln>
        </p:spPr>
      </p:sp>
      <p:sp>
        <p:nvSpPr>
          <p:cNvPr id="31" name="Text 28"/>
          <p:cNvSpPr/>
          <p:nvPr/>
        </p:nvSpPr>
        <p:spPr>
          <a:xfrm>
            <a:off x="7313371" y="4572000"/>
            <a:ext cx="2072030" cy="548640"/>
          </a:xfrm>
          <a:prstGeom prst="rect">
            <a:avLst/>
          </a:prstGeom>
          <a:noFill/>
          <a:ln/>
        </p:spPr>
        <p:txBody>
          <a:bodyPr wrap="square" lIns="0" tIns="0" rIns="0" bIns="0" rtlCol="0" anchor="ctr"/>
          <a:lstStyle/>
          <a:p>
            <a:pPr algn="ctr" indent="0" marL="0">
              <a:buNone/>
            </a:pPr>
            <a:r>
              <a:rPr lang="en-US" sz="2600" b="1" dirty="0">
                <a:solidFill>
                  <a:srgbClr val="6C5CE7"/>
                </a:solidFill>
                <a:latin typeface="Calibri" pitchFamily="34" charset="0"/>
                <a:ea typeface="Calibri" pitchFamily="34" charset="-122"/>
                <a:cs typeface="Calibri" pitchFamily="34" charset="-120"/>
              </a:rPr>
              <a:t>B4</a:t>
            </a:r>
            <a:endParaRPr lang="en-US" sz="2600" dirty="0"/>
          </a:p>
        </p:txBody>
      </p:sp>
      <p:sp>
        <p:nvSpPr>
          <p:cNvPr id="32" name="Text 29"/>
          <p:cNvSpPr/>
          <p:nvPr/>
        </p:nvSpPr>
        <p:spPr>
          <a:xfrm>
            <a:off x="7404811" y="5166360"/>
            <a:ext cx="1889150" cy="640080"/>
          </a:xfrm>
          <a:prstGeom prst="rect">
            <a:avLst/>
          </a:prstGeom>
          <a:noFill/>
          <a:ln/>
        </p:spPr>
        <p:txBody>
          <a:bodyPr wrap="square" lIns="0" tIns="0" rIns="0" bIns="0" rtlCol="0" anchor="t"/>
          <a:lstStyle/>
          <a:p>
            <a:pPr algn="ctr" indent="0" marL="0">
              <a:buNone/>
            </a:pPr>
            <a:r>
              <a:rPr lang="en-US" sz="1300" dirty="0">
                <a:solidFill>
                  <a:srgbClr val="F2F1F6"/>
                </a:solidFill>
                <a:latin typeface="Calibri" pitchFamily="34" charset="0"/>
                <a:ea typeface="Calibri" pitchFamily="34" charset="-122"/>
                <a:cs typeface="Calibri" pitchFamily="34" charset="-120"/>
              </a:rPr>
              <a:t>Completion statistics</a:t>
            </a:r>
            <a:endParaRPr lang="en-US" sz="1300" dirty="0"/>
          </a:p>
        </p:txBody>
      </p:sp>
      <p:sp>
        <p:nvSpPr>
          <p:cNvPr id="33" name="Shape 30"/>
          <p:cNvSpPr/>
          <p:nvPr/>
        </p:nvSpPr>
        <p:spPr>
          <a:xfrm>
            <a:off x="9568282" y="4480560"/>
            <a:ext cx="2072030" cy="1371600"/>
          </a:xfrm>
          <a:prstGeom prst="roundRect">
            <a:avLst>
              <a:gd name="adj" fmla="val 5333"/>
            </a:avLst>
          </a:prstGeom>
          <a:solidFill>
            <a:srgbClr val="23212B"/>
          </a:solidFill>
          <a:ln w="19050">
            <a:solidFill>
              <a:srgbClr val="6C5CE7"/>
            </a:solidFill>
            <a:prstDash val="solid"/>
          </a:ln>
        </p:spPr>
      </p:sp>
      <p:sp>
        <p:nvSpPr>
          <p:cNvPr id="34" name="Text 31"/>
          <p:cNvSpPr/>
          <p:nvPr/>
        </p:nvSpPr>
        <p:spPr>
          <a:xfrm>
            <a:off x="9568282" y="4572000"/>
            <a:ext cx="2072030" cy="548640"/>
          </a:xfrm>
          <a:prstGeom prst="rect">
            <a:avLst/>
          </a:prstGeom>
          <a:noFill/>
          <a:ln/>
        </p:spPr>
        <p:txBody>
          <a:bodyPr wrap="square" lIns="0" tIns="0" rIns="0" bIns="0" rtlCol="0" anchor="ctr"/>
          <a:lstStyle/>
          <a:p>
            <a:pPr algn="ctr" indent="0" marL="0">
              <a:buNone/>
            </a:pPr>
            <a:r>
              <a:rPr lang="en-US" sz="2600" b="1" dirty="0">
                <a:solidFill>
                  <a:srgbClr val="6C5CE7"/>
                </a:solidFill>
                <a:latin typeface="Calibri" pitchFamily="34" charset="0"/>
                <a:ea typeface="Calibri" pitchFamily="34" charset="-122"/>
                <a:cs typeface="Calibri" pitchFamily="34" charset="-120"/>
              </a:rPr>
              <a:t>+</a:t>
            </a:r>
            <a:endParaRPr lang="en-US" sz="2600" dirty="0"/>
          </a:p>
        </p:txBody>
      </p:sp>
      <p:sp>
        <p:nvSpPr>
          <p:cNvPr id="35" name="Text 32"/>
          <p:cNvSpPr/>
          <p:nvPr/>
        </p:nvSpPr>
        <p:spPr>
          <a:xfrm>
            <a:off x="9659722" y="5166360"/>
            <a:ext cx="1889150" cy="640080"/>
          </a:xfrm>
          <a:prstGeom prst="rect">
            <a:avLst/>
          </a:prstGeom>
          <a:noFill/>
          <a:ln/>
        </p:spPr>
        <p:txBody>
          <a:bodyPr wrap="square" lIns="0" tIns="0" rIns="0" bIns="0" rtlCol="0" anchor="t"/>
          <a:lstStyle/>
          <a:p>
            <a:pPr algn="ctr" indent="0" marL="0">
              <a:buNone/>
            </a:pPr>
            <a:r>
              <a:rPr lang="en-US" sz="1300" dirty="0">
                <a:solidFill>
                  <a:srgbClr val="F2F1F6"/>
                </a:solidFill>
                <a:latin typeface="Calibri" pitchFamily="34" charset="0"/>
                <a:ea typeface="Calibri" pitchFamily="34" charset="-122"/>
                <a:cs typeface="Calibri" pitchFamily="34" charset="-120"/>
              </a:rPr>
              <a:t>Calendar and profile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Architecture</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OVERVIEW</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3</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sp>
        <p:nvSpPr>
          <p:cNvPr id="8" name="Shape 5"/>
          <p:cNvSpPr/>
          <p:nvPr/>
        </p:nvSpPr>
        <p:spPr>
          <a:xfrm>
            <a:off x="548640" y="1554480"/>
            <a:ext cx="2926080" cy="1554480"/>
          </a:xfrm>
          <a:prstGeom prst="roundRect">
            <a:avLst>
              <a:gd name="adj" fmla="val 5882"/>
            </a:avLst>
          </a:prstGeom>
          <a:solidFill>
            <a:srgbClr val="23212B"/>
          </a:solidFill>
          <a:ln w="25400">
            <a:solidFill>
              <a:srgbClr val="6C5CE7"/>
            </a:solidFill>
            <a:prstDash val="solid"/>
          </a:ln>
        </p:spPr>
      </p:sp>
      <p:sp>
        <p:nvSpPr>
          <p:cNvPr id="9" name="Text 6"/>
          <p:cNvSpPr/>
          <p:nvPr/>
        </p:nvSpPr>
        <p:spPr>
          <a:xfrm>
            <a:off x="548640" y="1691640"/>
            <a:ext cx="2926080" cy="457200"/>
          </a:xfrm>
          <a:prstGeom prst="rect">
            <a:avLst/>
          </a:prstGeom>
          <a:noFill/>
          <a:ln/>
        </p:spPr>
        <p:txBody>
          <a:bodyPr wrap="square" lIns="0" tIns="0" rIns="0" bIns="0" rtlCol="0" anchor="ctr"/>
          <a:lstStyle/>
          <a:p>
            <a:pPr algn="ctr" indent="0" marL="0">
              <a:buNone/>
            </a:pPr>
            <a:r>
              <a:rPr lang="en-US" sz="2000" b="1" dirty="0">
                <a:solidFill>
                  <a:srgbClr val="F2F1F6"/>
                </a:solidFill>
                <a:latin typeface="Calibri" pitchFamily="34" charset="0"/>
                <a:ea typeface="Calibri" pitchFamily="34" charset="-122"/>
                <a:cs typeface="Calibri" pitchFamily="34" charset="-120"/>
              </a:rPr>
              <a:t>Web app</a:t>
            </a:r>
            <a:endParaRPr lang="en-US" sz="2000" dirty="0"/>
          </a:p>
        </p:txBody>
      </p:sp>
      <p:sp>
        <p:nvSpPr>
          <p:cNvPr id="10" name="Text 7"/>
          <p:cNvSpPr/>
          <p:nvPr/>
        </p:nvSpPr>
        <p:spPr>
          <a:xfrm>
            <a:off x="685800" y="2194560"/>
            <a:ext cx="2651760" cy="822960"/>
          </a:xfrm>
          <a:prstGeom prst="rect">
            <a:avLst/>
          </a:prstGeom>
          <a:noFill/>
          <a:ln/>
        </p:spPr>
        <p:txBody>
          <a:bodyPr wrap="square" lIns="0" tIns="0" rIns="0" bIns="0" rtlCol="0" anchor="t"/>
          <a:lstStyle/>
          <a:p>
            <a:pPr algn="ctr" indent="0" marL="0">
              <a:buNone/>
            </a:pPr>
            <a:r>
              <a:rPr lang="en-US" sz="1300" dirty="0">
                <a:solidFill>
                  <a:srgbClr val="A9A7B8"/>
                </a:solidFill>
                <a:latin typeface="Calibri" pitchFamily="34" charset="0"/>
                <a:ea typeface="Calibri" pitchFamily="34" charset="-122"/>
                <a:cs typeface="Calibri" pitchFamily="34" charset="-120"/>
              </a:rPr>
              <a:t>React 19, TypeScript, Vite</a:t>
            </a:r>
            <a:endParaRPr lang="en-US" sz="1300" dirty="0"/>
          </a:p>
          <a:p>
            <a:pPr algn="ctr" indent="0" marL="0">
              <a:buNone/>
            </a:pPr>
            <a:r>
              <a:rPr lang="en-US" sz="1300" dirty="0">
                <a:solidFill>
                  <a:srgbClr val="A9A7B8"/>
                </a:solidFill>
                <a:latin typeface="Calibri" pitchFamily="34" charset="0"/>
                <a:ea typeface="Calibri" pitchFamily="34" charset="-122"/>
                <a:cs typeface="Calibri" pitchFamily="34" charset="-120"/>
              </a:rPr>
              <a:t>React Router, axios</a:t>
            </a:r>
            <a:endParaRPr lang="en-US" sz="1300" dirty="0"/>
          </a:p>
        </p:txBody>
      </p:sp>
      <p:sp>
        <p:nvSpPr>
          <p:cNvPr id="11" name="Shape 8"/>
          <p:cNvSpPr/>
          <p:nvPr/>
        </p:nvSpPr>
        <p:spPr>
          <a:xfrm>
            <a:off x="548640" y="3474720"/>
            <a:ext cx="2926080" cy="1554480"/>
          </a:xfrm>
          <a:prstGeom prst="roundRect">
            <a:avLst>
              <a:gd name="adj" fmla="val 5882"/>
            </a:avLst>
          </a:prstGeom>
          <a:solidFill>
            <a:srgbClr val="23212B"/>
          </a:solidFill>
          <a:ln w="25400">
            <a:solidFill>
              <a:srgbClr val="6C5CE7"/>
            </a:solidFill>
            <a:prstDash val="solid"/>
          </a:ln>
        </p:spPr>
      </p:sp>
      <p:sp>
        <p:nvSpPr>
          <p:cNvPr id="12" name="Text 9"/>
          <p:cNvSpPr/>
          <p:nvPr/>
        </p:nvSpPr>
        <p:spPr>
          <a:xfrm>
            <a:off x="548640" y="3611880"/>
            <a:ext cx="2926080" cy="457200"/>
          </a:xfrm>
          <a:prstGeom prst="rect">
            <a:avLst/>
          </a:prstGeom>
          <a:noFill/>
          <a:ln/>
        </p:spPr>
        <p:txBody>
          <a:bodyPr wrap="square" lIns="0" tIns="0" rIns="0" bIns="0" rtlCol="0" anchor="ctr"/>
          <a:lstStyle/>
          <a:p>
            <a:pPr algn="ctr" indent="0" marL="0">
              <a:buNone/>
            </a:pPr>
            <a:r>
              <a:rPr lang="en-US" sz="2000" b="1" dirty="0">
                <a:solidFill>
                  <a:srgbClr val="F2F1F6"/>
                </a:solidFill>
                <a:latin typeface="Calibri" pitchFamily="34" charset="0"/>
                <a:ea typeface="Calibri" pitchFamily="34" charset="-122"/>
                <a:cs typeface="Calibri" pitchFamily="34" charset="-120"/>
              </a:rPr>
              <a:t>Mobile app</a:t>
            </a:r>
            <a:endParaRPr lang="en-US" sz="2000" dirty="0"/>
          </a:p>
        </p:txBody>
      </p:sp>
      <p:sp>
        <p:nvSpPr>
          <p:cNvPr id="13" name="Text 10"/>
          <p:cNvSpPr/>
          <p:nvPr/>
        </p:nvSpPr>
        <p:spPr>
          <a:xfrm>
            <a:off x="685800" y="4114800"/>
            <a:ext cx="2651760" cy="822960"/>
          </a:xfrm>
          <a:prstGeom prst="rect">
            <a:avLst/>
          </a:prstGeom>
          <a:noFill/>
          <a:ln/>
        </p:spPr>
        <p:txBody>
          <a:bodyPr wrap="square" lIns="0" tIns="0" rIns="0" bIns="0" rtlCol="0" anchor="t"/>
          <a:lstStyle/>
          <a:p>
            <a:pPr algn="ctr" indent="0" marL="0">
              <a:buNone/>
            </a:pPr>
            <a:r>
              <a:rPr lang="en-US" sz="1300" dirty="0">
                <a:solidFill>
                  <a:srgbClr val="A9A7B8"/>
                </a:solidFill>
                <a:latin typeface="Calibri" pitchFamily="34" charset="0"/>
                <a:ea typeface="Calibri" pitchFamily="34" charset="-122"/>
                <a:cs typeface="Calibri" pitchFamily="34" charset="-120"/>
              </a:rPr>
              <a:t>React Native, Expo SDK 57</a:t>
            </a:r>
            <a:endParaRPr lang="en-US" sz="1300" dirty="0"/>
          </a:p>
          <a:p>
            <a:pPr algn="ctr" indent="0" marL="0">
              <a:buNone/>
            </a:pPr>
            <a:r>
              <a:rPr lang="en-US" sz="1300" dirty="0">
                <a:solidFill>
                  <a:srgbClr val="A9A7B8"/>
                </a:solidFill>
                <a:latin typeface="Calibri" pitchFamily="34" charset="0"/>
                <a:ea typeface="Calibri" pitchFamily="34" charset="-122"/>
                <a:cs typeface="Calibri" pitchFamily="34" charset="-120"/>
              </a:rPr>
              <a:t>React Navigation, AsyncStorage</a:t>
            </a:r>
            <a:endParaRPr lang="en-US" sz="1300" dirty="0"/>
          </a:p>
        </p:txBody>
      </p:sp>
      <p:sp>
        <p:nvSpPr>
          <p:cNvPr id="14" name="Shape 11"/>
          <p:cNvSpPr/>
          <p:nvPr/>
        </p:nvSpPr>
        <p:spPr>
          <a:xfrm>
            <a:off x="4572000" y="2011680"/>
            <a:ext cx="3017520" cy="2377440"/>
          </a:xfrm>
          <a:prstGeom prst="roundRect">
            <a:avLst>
              <a:gd name="adj" fmla="val 3846"/>
            </a:avLst>
          </a:prstGeom>
          <a:solidFill>
            <a:srgbClr val="2C2A37"/>
          </a:solidFill>
          <a:ln w="25400">
            <a:solidFill>
              <a:srgbClr val="A29BFE"/>
            </a:solidFill>
            <a:prstDash val="solid"/>
          </a:ln>
        </p:spPr>
      </p:sp>
      <p:sp>
        <p:nvSpPr>
          <p:cNvPr id="15" name="Text 12"/>
          <p:cNvSpPr/>
          <p:nvPr/>
        </p:nvSpPr>
        <p:spPr>
          <a:xfrm>
            <a:off x="4572000" y="2148840"/>
            <a:ext cx="3017520" cy="457200"/>
          </a:xfrm>
          <a:prstGeom prst="rect">
            <a:avLst/>
          </a:prstGeom>
          <a:noFill/>
          <a:ln/>
        </p:spPr>
        <p:txBody>
          <a:bodyPr wrap="square" lIns="0" tIns="0" rIns="0" bIns="0" rtlCol="0" anchor="ctr"/>
          <a:lstStyle/>
          <a:p>
            <a:pPr algn="ctr" indent="0" marL="0">
              <a:buNone/>
            </a:pPr>
            <a:r>
              <a:rPr lang="en-US" sz="2000" b="1" dirty="0">
                <a:solidFill>
                  <a:srgbClr val="F2F1F6"/>
                </a:solidFill>
                <a:latin typeface="Calibri" pitchFamily="34" charset="0"/>
                <a:ea typeface="Calibri" pitchFamily="34" charset="-122"/>
                <a:cs typeface="Calibri" pitchFamily="34" charset="-120"/>
              </a:rPr>
              <a:t>Express API</a:t>
            </a:r>
            <a:endParaRPr lang="en-US" sz="2000" dirty="0"/>
          </a:p>
        </p:txBody>
      </p:sp>
      <p:sp>
        <p:nvSpPr>
          <p:cNvPr id="16" name="Text 13"/>
          <p:cNvSpPr/>
          <p:nvPr/>
        </p:nvSpPr>
        <p:spPr>
          <a:xfrm>
            <a:off x="4709160" y="2651760"/>
            <a:ext cx="2743200" cy="1645920"/>
          </a:xfrm>
          <a:prstGeom prst="rect">
            <a:avLst/>
          </a:prstGeom>
          <a:noFill/>
          <a:ln/>
        </p:spPr>
        <p:txBody>
          <a:bodyPr wrap="square" lIns="0" tIns="0" rIns="0" bIns="0" rtlCol="0" anchor="t"/>
          <a:lstStyle/>
          <a:p>
            <a:pPr algn="ctr" indent="0" marL="0">
              <a:buNone/>
            </a:pPr>
            <a:r>
              <a:rPr lang="en-US" sz="1300" dirty="0">
                <a:solidFill>
                  <a:srgbClr val="A9A7B8"/>
                </a:solidFill>
                <a:latin typeface="Calibri" pitchFamily="34" charset="0"/>
                <a:ea typeface="Calibri" pitchFamily="34" charset="-122"/>
                <a:cs typeface="Calibri" pitchFamily="34" charset="-120"/>
              </a:rPr>
              <a:t>Node.js 22+</a:t>
            </a:r>
            <a:endParaRPr lang="en-US" sz="1300" dirty="0"/>
          </a:p>
          <a:p>
            <a:pPr algn="ctr" indent="0" marL="0">
              <a:buNone/>
            </a:pPr>
            <a:r>
              <a:rPr lang="en-US" sz="1300" dirty="0">
                <a:solidFill>
                  <a:srgbClr val="A9A7B8"/>
                </a:solidFill>
                <a:latin typeface="Calibri" pitchFamily="34" charset="0"/>
                <a:ea typeface="Calibri" pitchFamily="34" charset="-122"/>
                <a:cs typeface="Calibri" pitchFamily="34" charset="-120"/>
              </a:rPr>
              <a:t>routes, middleware,</a:t>
            </a:r>
            <a:endParaRPr lang="en-US" sz="1300" dirty="0"/>
          </a:p>
          <a:p>
            <a:pPr algn="ctr" indent="0" marL="0">
              <a:buNone/>
            </a:pPr>
            <a:r>
              <a:rPr lang="en-US" sz="1300" dirty="0">
                <a:solidFill>
                  <a:srgbClr val="A9A7B8"/>
                </a:solidFill>
                <a:latin typeface="Calibri" pitchFamily="34" charset="0"/>
                <a:ea typeface="Calibri" pitchFamily="34" charset="-122"/>
                <a:cs typeface="Calibri" pitchFamily="34" charset="-120"/>
              </a:rPr>
              <a:t>controllers, services</a:t>
            </a:r>
            <a:endParaRPr lang="en-US" sz="1300" dirty="0"/>
          </a:p>
          <a:p>
            <a:pPr algn="ctr" indent="0" marL="0">
              <a:buNone/>
            </a:pPr>
            <a:r>
              <a:rPr lang="en-US" sz="1300" dirty="0">
                <a:solidFill>
                  <a:srgbClr val="A9A7B8"/>
                </a:solidFill>
                <a:latin typeface="Calibri" pitchFamily="34" charset="0"/>
                <a:ea typeface="Calibri" pitchFamily="34" charset="-122"/>
                <a:cs typeface="Calibri" pitchFamily="34" charset="-120"/>
              </a:rPr>
              <a:t>zod validation, JWT auth</a:t>
            </a:r>
            <a:endParaRPr lang="en-US" sz="1300" dirty="0"/>
          </a:p>
        </p:txBody>
      </p:sp>
      <p:sp>
        <p:nvSpPr>
          <p:cNvPr id="17" name="Shape 14"/>
          <p:cNvSpPr/>
          <p:nvPr/>
        </p:nvSpPr>
        <p:spPr>
          <a:xfrm>
            <a:off x="9052560" y="2194560"/>
            <a:ext cx="2560320" cy="2011680"/>
          </a:xfrm>
          <a:prstGeom prst="roundRect">
            <a:avLst>
              <a:gd name="adj" fmla="val 4545"/>
            </a:avLst>
          </a:prstGeom>
          <a:solidFill>
            <a:srgbClr val="1E2B24"/>
          </a:solidFill>
          <a:ln w="25400">
            <a:solidFill>
              <a:srgbClr val="2ECC71"/>
            </a:solidFill>
            <a:prstDash val="solid"/>
          </a:ln>
        </p:spPr>
      </p:sp>
      <p:sp>
        <p:nvSpPr>
          <p:cNvPr id="18" name="Text 15"/>
          <p:cNvSpPr/>
          <p:nvPr/>
        </p:nvSpPr>
        <p:spPr>
          <a:xfrm>
            <a:off x="9052560" y="2331720"/>
            <a:ext cx="2560320" cy="457200"/>
          </a:xfrm>
          <a:prstGeom prst="rect">
            <a:avLst/>
          </a:prstGeom>
          <a:noFill/>
          <a:ln/>
        </p:spPr>
        <p:txBody>
          <a:bodyPr wrap="square" lIns="0" tIns="0" rIns="0" bIns="0" rtlCol="0" anchor="ctr"/>
          <a:lstStyle/>
          <a:p>
            <a:pPr algn="ctr" indent="0" marL="0">
              <a:buNone/>
            </a:pPr>
            <a:r>
              <a:rPr lang="en-US" sz="2000" b="1" dirty="0">
                <a:solidFill>
                  <a:srgbClr val="F2F1F6"/>
                </a:solidFill>
                <a:latin typeface="Calibri" pitchFamily="34" charset="0"/>
                <a:ea typeface="Calibri" pitchFamily="34" charset="-122"/>
                <a:cs typeface="Calibri" pitchFamily="34" charset="-120"/>
              </a:rPr>
              <a:t>MongoDB</a:t>
            </a:r>
            <a:endParaRPr lang="en-US" sz="2000" dirty="0"/>
          </a:p>
        </p:txBody>
      </p:sp>
      <p:sp>
        <p:nvSpPr>
          <p:cNvPr id="19" name="Text 16"/>
          <p:cNvSpPr/>
          <p:nvPr/>
        </p:nvSpPr>
        <p:spPr>
          <a:xfrm>
            <a:off x="9189720" y="2834640"/>
            <a:ext cx="2286000" cy="1280160"/>
          </a:xfrm>
          <a:prstGeom prst="rect">
            <a:avLst/>
          </a:prstGeom>
          <a:noFill/>
          <a:ln/>
        </p:spPr>
        <p:txBody>
          <a:bodyPr wrap="square" lIns="0" tIns="0" rIns="0" bIns="0" rtlCol="0" anchor="t"/>
          <a:lstStyle/>
          <a:p>
            <a:pPr algn="ctr" indent="0" marL="0">
              <a:buNone/>
            </a:pPr>
            <a:r>
              <a:rPr lang="en-US" sz="1300" dirty="0">
                <a:solidFill>
                  <a:srgbClr val="A9A7B8"/>
                </a:solidFill>
                <a:latin typeface="Calibri" pitchFamily="34" charset="0"/>
                <a:ea typeface="Calibri" pitchFamily="34" charset="-122"/>
                <a:cs typeface="Calibri" pitchFamily="34" charset="-120"/>
              </a:rPr>
              <a:t>users, tasks,</a:t>
            </a:r>
            <a:endParaRPr lang="en-US" sz="1300" dirty="0"/>
          </a:p>
          <a:p>
            <a:pPr algn="ctr" indent="0" marL="0">
              <a:buNone/>
            </a:pPr>
            <a:r>
              <a:rPr lang="en-US" sz="1300" dirty="0">
                <a:solidFill>
                  <a:srgbClr val="A9A7B8"/>
                </a:solidFill>
                <a:latin typeface="Calibri" pitchFamily="34" charset="0"/>
                <a:ea typeface="Calibri" pitchFamily="34" charset="-122"/>
                <a:cs typeface="Calibri" pitchFamily="34" charset="-120"/>
              </a:rPr>
              <a:t>habits, habitevents</a:t>
            </a:r>
            <a:endParaRPr lang="en-US" sz="1300" dirty="0"/>
          </a:p>
          <a:p>
            <a:pPr algn="ctr" indent="0" marL="0">
              <a:buNone/>
            </a:pPr>
            <a:r>
              <a:rPr lang="en-US" sz="1300" dirty="0">
                <a:solidFill>
                  <a:srgbClr val="A9A7B8"/>
                </a:solidFill>
                <a:latin typeface="Calibri" pitchFamily="34" charset="0"/>
                <a:ea typeface="Calibri" pitchFamily="34" charset="-122"/>
                <a:cs typeface="Calibri" pitchFamily="34" charset="-120"/>
              </a:rPr>
              <a:t>(via Mongoose)</a:t>
            </a:r>
            <a:endParaRPr lang="en-US" sz="1300" dirty="0"/>
          </a:p>
        </p:txBody>
      </p:sp>
      <p:sp>
        <p:nvSpPr>
          <p:cNvPr id="20" name="Text 17"/>
          <p:cNvSpPr/>
          <p:nvPr/>
        </p:nvSpPr>
        <p:spPr>
          <a:xfrm>
            <a:off x="3474720" y="2286000"/>
            <a:ext cx="1097280" cy="822960"/>
          </a:xfrm>
          <a:prstGeom prst="rect">
            <a:avLst/>
          </a:prstGeom>
          <a:noFill/>
          <a:ln/>
        </p:spPr>
        <p:txBody>
          <a:bodyPr wrap="square" lIns="0" tIns="0" rIns="0" bIns="0" rtlCol="0" anchor="ctr"/>
          <a:lstStyle/>
          <a:p>
            <a:pPr algn="ctr" indent="0" marL="0">
              <a:buNone/>
            </a:pPr>
            <a:r>
              <a:rPr lang="en-US" sz="1100" dirty="0">
                <a:solidFill>
                  <a:srgbClr val="A9A7B8"/>
                </a:solidFill>
                <a:latin typeface="Calibri" pitchFamily="34" charset="0"/>
                <a:ea typeface="Calibri" pitchFamily="34" charset="-122"/>
                <a:cs typeface="Calibri" pitchFamily="34" charset="-120"/>
              </a:rPr>
              <a:t>HTTP + JSON</a:t>
            </a:r>
            <a:endParaRPr lang="en-US" sz="1100" dirty="0"/>
          </a:p>
          <a:p>
            <a:pPr algn="ctr" indent="0" marL="0">
              <a:buNone/>
            </a:pPr>
            <a:r>
              <a:rPr lang="en-US" sz="1100" dirty="0">
                <a:solidFill>
                  <a:srgbClr val="A9A7B8"/>
                </a:solidFill>
                <a:latin typeface="Calibri" pitchFamily="34" charset="0"/>
                <a:ea typeface="Calibri" pitchFamily="34" charset="-122"/>
                <a:cs typeface="Calibri" pitchFamily="34" charset="-120"/>
              </a:rPr>
              <a:t>/api/...</a:t>
            </a:r>
            <a:endParaRPr lang="en-US" sz="1100" dirty="0"/>
          </a:p>
        </p:txBody>
      </p:sp>
      <p:sp>
        <p:nvSpPr>
          <p:cNvPr id="21" name="Text 18"/>
          <p:cNvSpPr/>
          <p:nvPr/>
        </p:nvSpPr>
        <p:spPr>
          <a:xfrm>
            <a:off x="3840480" y="3063240"/>
            <a:ext cx="457200" cy="365760"/>
          </a:xfrm>
          <a:prstGeom prst="rect">
            <a:avLst/>
          </a:prstGeom>
          <a:noFill/>
          <a:ln/>
        </p:spPr>
        <p:txBody>
          <a:bodyPr wrap="square" lIns="0" tIns="0" rIns="0" bIns="0" rtlCol="0" anchor="ctr"/>
          <a:lstStyle/>
          <a:p>
            <a:pPr algn="ctr" indent="0" marL="0">
              <a:buNone/>
            </a:pPr>
            <a:r>
              <a:rPr lang="en-US" sz="1800" dirty="0">
                <a:solidFill>
                  <a:srgbClr val="6C5CE7"/>
                </a:solidFill>
              </a:rPr>
              <a:t>▶</a:t>
            </a:r>
            <a:endParaRPr lang="en-US" sz="1800" dirty="0"/>
          </a:p>
        </p:txBody>
      </p:sp>
      <p:sp>
        <p:nvSpPr>
          <p:cNvPr id="22" name="Text 19"/>
          <p:cNvSpPr/>
          <p:nvPr/>
        </p:nvSpPr>
        <p:spPr>
          <a:xfrm>
            <a:off x="7680960" y="2743200"/>
            <a:ext cx="1280160" cy="365760"/>
          </a:xfrm>
          <a:prstGeom prst="rect">
            <a:avLst/>
          </a:prstGeom>
          <a:noFill/>
          <a:ln/>
        </p:spPr>
        <p:txBody>
          <a:bodyPr wrap="square" lIns="0" tIns="0" rIns="0" bIns="0" rtlCol="0" anchor="ctr"/>
          <a:lstStyle/>
          <a:p>
            <a:pPr algn="ctr" indent="0" marL="0">
              <a:buNone/>
            </a:pPr>
            <a:r>
              <a:rPr lang="en-US" sz="1100" dirty="0">
                <a:solidFill>
                  <a:srgbClr val="A9A7B8"/>
                </a:solidFill>
                <a:latin typeface="Calibri" pitchFamily="34" charset="0"/>
                <a:ea typeface="Calibri" pitchFamily="34" charset="-122"/>
                <a:cs typeface="Calibri" pitchFamily="34" charset="-120"/>
              </a:rPr>
              <a:t>Mongoose</a:t>
            </a:r>
            <a:endParaRPr lang="en-US" sz="1100" dirty="0"/>
          </a:p>
        </p:txBody>
      </p:sp>
      <p:sp>
        <p:nvSpPr>
          <p:cNvPr id="23" name="Text 20"/>
          <p:cNvSpPr/>
          <p:nvPr/>
        </p:nvSpPr>
        <p:spPr>
          <a:xfrm>
            <a:off x="7909560" y="3108960"/>
            <a:ext cx="457200" cy="365760"/>
          </a:xfrm>
          <a:prstGeom prst="rect">
            <a:avLst/>
          </a:prstGeom>
          <a:noFill/>
          <a:ln/>
        </p:spPr>
        <p:txBody>
          <a:bodyPr wrap="square" lIns="0" tIns="0" rIns="0" bIns="0" rtlCol="0" anchor="ctr"/>
          <a:lstStyle/>
          <a:p>
            <a:pPr algn="ctr" indent="0" marL="0">
              <a:buNone/>
            </a:pPr>
            <a:r>
              <a:rPr lang="en-US" sz="1800" dirty="0">
                <a:solidFill>
                  <a:srgbClr val="6C5CE7"/>
                </a:solidFill>
              </a:rPr>
              <a:t>▶</a:t>
            </a:r>
            <a:endParaRPr lang="en-US" sz="1800" dirty="0"/>
          </a:p>
        </p:txBody>
      </p:sp>
      <p:sp>
        <p:nvSpPr>
          <p:cNvPr id="24" name="Text 21"/>
          <p:cNvSpPr/>
          <p:nvPr/>
        </p:nvSpPr>
        <p:spPr>
          <a:xfrm>
            <a:off x="548640" y="5486400"/>
            <a:ext cx="11091672" cy="457200"/>
          </a:xfrm>
          <a:prstGeom prst="rect">
            <a:avLst/>
          </a:prstGeom>
          <a:noFill/>
          <a:ln/>
        </p:spPr>
        <p:txBody>
          <a:bodyPr wrap="square" lIns="0" tIns="0" rIns="0" bIns="0" rtlCol="0" anchor="ctr"/>
          <a:lstStyle/>
          <a:p>
            <a:pPr algn="ctr" indent="0" marL="0">
              <a:buNone/>
            </a:pPr>
            <a:r>
              <a:rPr lang="en-US" sz="1400" i="1" dirty="0">
                <a:solidFill>
                  <a:srgbClr val="A29BFE"/>
                </a:solidFill>
                <a:latin typeface="Calibri" pitchFamily="34" charset="0"/>
                <a:ea typeface="Calibri" pitchFamily="34" charset="-122"/>
                <a:cs typeface="Calibri" pitchFamily="34" charset="-120"/>
              </a:rPr>
              <a:t>Authorization: Bearer &lt;JWT&gt; on every request except register, login and /health</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Technology stack</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OVERVIEW</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4</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sp>
        <p:nvSpPr>
          <p:cNvPr id="8" name="Shape 5"/>
          <p:cNvSpPr/>
          <p:nvPr/>
        </p:nvSpPr>
        <p:spPr>
          <a:xfrm>
            <a:off x="548640" y="1371600"/>
            <a:ext cx="5431536" cy="2103120"/>
          </a:xfrm>
          <a:prstGeom prst="roundRect">
            <a:avLst>
              <a:gd name="adj" fmla="val 3478"/>
            </a:avLst>
          </a:prstGeom>
          <a:solidFill>
            <a:srgbClr val="23212B"/>
          </a:solidFill>
          <a:ln w="12700">
            <a:solidFill>
              <a:srgbClr val="3A3748"/>
            </a:solidFill>
            <a:prstDash val="solid"/>
          </a:ln>
        </p:spPr>
      </p:sp>
      <p:sp>
        <p:nvSpPr>
          <p:cNvPr id="9" name="Shape 6"/>
          <p:cNvSpPr/>
          <p:nvPr/>
        </p:nvSpPr>
        <p:spPr>
          <a:xfrm>
            <a:off x="566928" y="1536192"/>
            <a:ext cx="64008" cy="365760"/>
          </a:xfrm>
          <a:prstGeom prst="rect">
            <a:avLst/>
          </a:prstGeom>
          <a:solidFill>
            <a:srgbClr val="6C5CE7"/>
          </a:solidFill>
          <a:ln w="12700">
            <a:solidFill>
              <a:srgbClr val="6C5CE7"/>
            </a:solidFill>
            <a:prstDash val="solid"/>
          </a:ln>
        </p:spPr>
      </p:sp>
      <p:sp>
        <p:nvSpPr>
          <p:cNvPr id="10" name="Text 7"/>
          <p:cNvSpPr/>
          <p:nvPr/>
        </p:nvSpPr>
        <p:spPr>
          <a:xfrm>
            <a:off x="777240" y="1481328"/>
            <a:ext cx="5065776"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Backend</a:t>
            </a:r>
            <a:endParaRPr lang="en-US" sz="1700" dirty="0"/>
          </a:p>
        </p:txBody>
      </p:sp>
      <p:sp>
        <p:nvSpPr>
          <p:cNvPr id="11" name="Text 8"/>
          <p:cNvSpPr/>
          <p:nvPr/>
        </p:nvSpPr>
        <p:spPr>
          <a:xfrm>
            <a:off x="777240" y="1984248"/>
            <a:ext cx="5020056" cy="1399032"/>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Node.js 22+, Express 5, MongoDB + Mongoose 9</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zod 4 validation, bcryptjs (12 rounds), jsonwebtoken (HS256)</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dotenv, cors; tests with node --test</a:t>
            </a:r>
            <a:endParaRPr lang="en-US" sz="1550" dirty="0"/>
          </a:p>
        </p:txBody>
      </p:sp>
      <p:sp>
        <p:nvSpPr>
          <p:cNvPr id="12" name="Shape 9"/>
          <p:cNvSpPr/>
          <p:nvPr/>
        </p:nvSpPr>
        <p:spPr>
          <a:xfrm>
            <a:off x="6208776" y="1371600"/>
            <a:ext cx="5431536" cy="2103120"/>
          </a:xfrm>
          <a:prstGeom prst="roundRect">
            <a:avLst>
              <a:gd name="adj" fmla="val 3478"/>
            </a:avLst>
          </a:prstGeom>
          <a:solidFill>
            <a:srgbClr val="23212B"/>
          </a:solidFill>
          <a:ln w="12700">
            <a:solidFill>
              <a:srgbClr val="3A3748"/>
            </a:solidFill>
            <a:prstDash val="solid"/>
          </a:ln>
        </p:spPr>
      </p:sp>
      <p:sp>
        <p:nvSpPr>
          <p:cNvPr id="13" name="Shape 10"/>
          <p:cNvSpPr/>
          <p:nvPr/>
        </p:nvSpPr>
        <p:spPr>
          <a:xfrm>
            <a:off x="6227064" y="1536192"/>
            <a:ext cx="64008" cy="365760"/>
          </a:xfrm>
          <a:prstGeom prst="rect">
            <a:avLst/>
          </a:prstGeom>
          <a:solidFill>
            <a:srgbClr val="3498DB"/>
          </a:solidFill>
          <a:ln w="12700">
            <a:solidFill>
              <a:srgbClr val="3498DB"/>
            </a:solidFill>
            <a:prstDash val="solid"/>
          </a:ln>
        </p:spPr>
      </p:sp>
      <p:sp>
        <p:nvSpPr>
          <p:cNvPr id="14" name="Text 11"/>
          <p:cNvSpPr/>
          <p:nvPr/>
        </p:nvSpPr>
        <p:spPr>
          <a:xfrm>
            <a:off x="6437376" y="1481328"/>
            <a:ext cx="5065776"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Web</a:t>
            </a:r>
            <a:endParaRPr lang="en-US" sz="1700" dirty="0"/>
          </a:p>
        </p:txBody>
      </p:sp>
      <p:sp>
        <p:nvSpPr>
          <p:cNvPr id="15" name="Text 12"/>
          <p:cNvSpPr/>
          <p:nvPr/>
        </p:nvSpPr>
        <p:spPr>
          <a:xfrm>
            <a:off x="6437376" y="1984248"/>
            <a:ext cx="5020056" cy="1399032"/>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React 19, TypeScript, Vite</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React Router 7, axios</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Token in localStorage</a:t>
            </a:r>
            <a:endParaRPr lang="en-US" sz="1550" dirty="0"/>
          </a:p>
        </p:txBody>
      </p:sp>
      <p:sp>
        <p:nvSpPr>
          <p:cNvPr id="16" name="Shape 13"/>
          <p:cNvSpPr/>
          <p:nvPr/>
        </p:nvSpPr>
        <p:spPr>
          <a:xfrm>
            <a:off x="548640" y="3703320"/>
            <a:ext cx="5431536" cy="2103120"/>
          </a:xfrm>
          <a:prstGeom prst="roundRect">
            <a:avLst>
              <a:gd name="adj" fmla="val 3478"/>
            </a:avLst>
          </a:prstGeom>
          <a:solidFill>
            <a:srgbClr val="23212B"/>
          </a:solidFill>
          <a:ln w="12700">
            <a:solidFill>
              <a:srgbClr val="3A3748"/>
            </a:solidFill>
            <a:prstDash val="solid"/>
          </a:ln>
        </p:spPr>
      </p:sp>
      <p:sp>
        <p:nvSpPr>
          <p:cNvPr id="17" name="Shape 14"/>
          <p:cNvSpPr/>
          <p:nvPr/>
        </p:nvSpPr>
        <p:spPr>
          <a:xfrm>
            <a:off x="566928" y="3867912"/>
            <a:ext cx="64008" cy="365760"/>
          </a:xfrm>
          <a:prstGeom prst="rect">
            <a:avLst/>
          </a:prstGeom>
          <a:solidFill>
            <a:srgbClr val="F5A623"/>
          </a:solidFill>
          <a:ln w="12700">
            <a:solidFill>
              <a:srgbClr val="F5A623"/>
            </a:solidFill>
            <a:prstDash val="solid"/>
          </a:ln>
        </p:spPr>
      </p:sp>
      <p:sp>
        <p:nvSpPr>
          <p:cNvPr id="18" name="Text 15"/>
          <p:cNvSpPr/>
          <p:nvPr/>
        </p:nvSpPr>
        <p:spPr>
          <a:xfrm>
            <a:off x="777240" y="3813048"/>
            <a:ext cx="5065776"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Mobile</a:t>
            </a:r>
            <a:endParaRPr lang="en-US" sz="1700" dirty="0"/>
          </a:p>
        </p:txBody>
      </p:sp>
      <p:sp>
        <p:nvSpPr>
          <p:cNvPr id="19" name="Text 16"/>
          <p:cNvSpPr/>
          <p:nvPr/>
        </p:nvSpPr>
        <p:spPr>
          <a:xfrm>
            <a:off x="777240" y="4315968"/>
            <a:ext cx="5020056" cy="1399032"/>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React Native 0.86, Expo SDK 57</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React Navigation 7 (native stack)</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AsyncStorage, runs in Expo Go</a:t>
            </a:r>
            <a:endParaRPr lang="en-US" sz="1550" dirty="0"/>
          </a:p>
        </p:txBody>
      </p:sp>
      <p:sp>
        <p:nvSpPr>
          <p:cNvPr id="20" name="Shape 17"/>
          <p:cNvSpPr/>
          <p:nvPr/>
        </p:nvSpPr>
        <p:spPr>
          <a:xfrm>
            <a:off x="6208776" y="3703320"/>
            <a:ext cx="5431536" cy="2103120"/>
          </a:xfrm>
          <a:prstGeom prst="roundRect">
            <a:avLst>
              <a:gd name="adj" fmla="val 3478"/>
            </a:avLst>
          </a:prstGeom>
          <a:solidFill>
            <a:srgbClr val="23212B"/>
          </a:solidFill>
          <a:ln w="12700">
            <a:solidFill>
              <a:srgbClr val="3A3748"/>
            </a:solidFill>
            <a:prstDash val="solid"/>
          </a:ln>
        </p:spPr>
      </p:sp>
      <p:sp>
        <p:nvSpPr>
          <p:cNvPr id="21" name="Shape 18"/>
          <p:cNvSpPr/>
          <p:nvPr/>
        </p:nvSpPr>
        <p:spPr>
          <a:xfrm>
            <a:off x="6227064" y="3867912"/>
            <a:ext cx="64008" cy="365760"/>
          </a:xfrm>
          <a:prstGeom prst="rect">
            <a:avLst/>
          </a:prstGeom>
          <a:solidFill>
            <a:srgbClr val="2ECC71"/>
          </a:solidFill>
          <a:ln w="12700">
            <a:solidFill>
              <a:srgbClr val="2ECC71"/>
            </a:solidFill>
            <a:prstDash val="solid"/>
          </a:ln>
        </p:spPr>
      </p:sp>
      <p:sp>
        <p:nvSpPr>
          <p:cNvPr id="22" name="Text 19"/>
          <p:cNvSpPr/>
          <p:nvPr/>
        </p:nvSpPr>
        <p:spPr>
          <a:xfrm>
            <a:off x="6437376" y="3813048"/>
            <a:ext cx="5065776"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Data and tools</a:t>
            </a:r>
            <a:endParaRPr lang="en-US" sz="1700" dirty="0"/>
          </a:p>
        </p:txBody>
      </p:sp>
      <p:sp>
        <p:nvSpPr>
          <p:cNvPr id="23" name="Text 20"/>
          <p:cNvSpPr/>
          <p:nvPr/>
        </p:nvSpPr>
        <p:spPr>
          <a:xfrm>
            <a:off x="6437376" y="4315968"/>
            <a:ext cx="5020056" cy="1399032"/>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MongoDB Community Server, Compass to browse</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Git and GitHub for the repository</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Type checks with tsc, production build with Vite</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Backend: how a request travels</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BACKEND</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5</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sp>
        <p:nvSpPr>
          <p:cNvPr id="8" name="Shape 5"/>
          <p:cNvSpPr/>
          <p:nvPr/>
        </p:nvSpPr>
        <p:spPr>
          <a:xfrm>
            <a:off x="548640" y="1554480"/>
            <a:ext cx="1635252" cy="1828800"/>
          </a:xfrm>
          <a:prstGeom prst="roundRect">
            <a:avLst>
              <a:gd name="adj" fmla="val 4473"/>
            </a:avLst>
          </a:prstGeom>
          <a:solidFill>
            <a:srgbClr val="23212B"/>
          </a:solidFill>
          <a:ln w="19050">
            <a:solidFill>
              <a:srgbClr val="6C5CE7"/>
            </a:solidFill>
            <a:prstDash val="solid"/>
          </a:ln>
        </p:spPr>
      </p:sp>
      <p:sp>
        <p:nvSpPr>
          <p:cNvPr id="9" name="Text 6"/>
          <p:cNvSpPr/>
          <p:nvPr/>
        </p:nvSpPr>
        <p:spPr>
          <a:xfrm>
            <a:off x="621792" y="1645920"/>
            <a:ext cx="1488948" cy="411480"/>
          </a:xfrm>
          <a:prstGeom prst="rect">
            <a:avLst/>
          </a:prstGeom>
          <a:noFill/>
          <a:ln/>
        </p:spPr>
        <p:txBody>
          <a:bodyPr wrap="square" lIns="0" tIns="0" rIns="0" bIns="0" rtlCol="0" anchor="ctr"/>
          <a:lstStyle/>
          <a:p>
            <a:pPr algn="ctr" indent="0" marL="0">
              <a:buNone/>
            </a:pPr>
            <a:r>
              <a:rPr lang="en-US" sz="1500" b="1" dirty="0">
                <a:solidFill>
                  <a:srgbClr val="F2F1F6"/>
                </a:solidFill>
                <a:latin typeface="Calibri" pitchFamily="34" charset="0"/>
                <a:ea typeface="Calibri" pitchFamily="34" charset="-122"/>
                <a:cs typeface="Calibri" pitchFamily="34" charset="-120"/>
              </a:rPr>
              <a:t>app.js</a:t>
            </a:r>
            <a:endParaRPr lang="en-US" sz="1500" dirty="0"/>
          </a:p>
        </p:txBody>
      </p:sp>
      <p:sp>
        <p:nvSpPr>
          <p:cNvPr id="10" name="Text 7"/>
          <p:cNvSpPr/>
          <p:nvPr/>
        </p:nvSpPr>
        <p:spPr>
          <a:xfrm>
            <a:off x="640080" y="2057400"/>
            <a:ext cx="1452372" cy="1234440"/>
          </a:xfrm>
          <a:prstGeom prst="rect">
            <a:avLst/>
          </a:prstGeom>
          <a:noFill/>
          <a:ln/>
        </p:spPr>
        <p:txBody>
          <a:bodyPr wrap="square" lIns="0" tIns="0" rIns="0" bIns="0" rtlCol="0" anchor="t"/>
          <a:lstStyle/>
          <a:p>
            <a:pPr algn="ctr" indent="0" marL="0">
              <a:buNone/>
            </a:pPr>
            <a:r>
              <a:rPr lang="en-US" sz="1200" dirty="0">
                <a:solidFill>
                  <a:srgbClr val="A9A7B8"/>
                </a:solidFill>
                <a:latin typeface="Calibri" pitchFamily="34" charset="0"/>
                <a:ea typeface="Calibri" pitchFamily="34" charset="-122"/>
                <a:cs typeface="Calibri" pitchFamily="34" charset="-120"/>
              </a:rPr>
              <a:t>CORS, JSON body, mounts /api routes</a:t>
            </a:r>
            <a:endParaRPr lang="en-US" sz="1200" dirty="0"/>
          </a:p>
        </p:txBody>
      </p:sp>
      <p:sp>
        <p:nvSpPr>
          <p:cNvPr id="11" name="Text 8"/>
          <p:cNvSpPr/>
          <p:nvPr/>
        </p:nvSpPr>
        <p:spPr>
          <a:xfrm>
            <a:off x="2183892" y="2286000"/>
            <a:ext cx="256032" cy="365760"/>
          </a:xfrm>
          <a:prstGeom prst="rect">
            <a:avLst/>
          </a:prstGeom>
          <a:noFill/>
          <a:ln/>
        </p:spPr>
        <p:txBody>
          <a:bodyPr wrap="square" lIns="0" tIns="0" rIns="0" bIns="0" rtlCol="0" anchor="ctr"/>
          <a:lstStyle/>
          <a:p>
            <a:pPr algn="ctr" indent="0" marL="0">
              <a:buNone/>
            </a:pPr>
            <a:r>
              <a:rPr lang="en-US" sz="1200" dirty="0">
                <a:solidFill>
                  <a:srgbClr val="6C5CE7"/>
                </a:solidFill>
              </a:rPr>
              <a:t>▶</a:t>
            </a:r>
            <a:endParaRPr lang="en-US" sz="1200" dirty="0"/>
          </a:p>
        </p:txBody>
      </p:sp>
      <p:sp>
        <p:nvSpPr>
          <p:cNvPr id="12" name="Shape 9"/>
          <p:cNvSpPr/>
          <p:nvPr/>
        </p:nvSpPr>
        <p:spPr>
          <a:xfrm>
            <a:off x="2439924" y="1554480"/>
            <a:ext cx="1635252" cy="1828800"/>
          </a:xfrm>
          <a:prstGeom prst="roundRect">
            <a:avLst>
              <a:gd name="adj" fmla="val 4473"/>
            </a:avLst>
          </a:prstGeom>
          <a:solidFill>
            <a:srgbClr val="23212B"/>
          </a:solidFill>
          <a:ln w="19050">
            <a:solidFill>
              <a:srgbClr val="6C5CE7"/>
            </a:solidFill>
            <a:prstDash val="solid"/>
          </a:ln>
        </p:spPr>
      </p:sp>
      <p:sp>
        <p:nvSpPr>
          <p:cNvPr id="13" name="Text 10"/>
          <p:cNvSpPr/>
          <p:nvPr/>
        </p:nvSpPr>
        <p:spPr>
          <a:xfrm>
            <a:off x="2513076" y="1645920"/>
            <a:ext cx="1488948" cy="411480"/>
          </a:xfrm>
          <a:prstGeom prst="rect">
            <a:avLst/>
          </a:prstGeom>
          <a:noFill/>
          <a:ln/>
        </p:spPr>
        <p:txBody>
          <a:bodyPr wrap="square" lIns="0" tIns="0" rIns="0" bIns="0" rtlCol="0" anchor="ctr"/>
          <a:lstStyle/>
          <a:p>
            <a:pPr algn="ctr" indent="0" marL="0">
              <a:buNone/>
            </a:pPr>
            <a:r>
              <a:rPr lang="en-US" sz="1500" b="1" dirty="0">
                <a:solidFill>
                  <a:srgbClr val="F2F1F6"/>
                </a:solidFill>
                <a:latin typeface="Calibri" pitchFamily="34" charset="0"/>
                <a:ea typeface="Calibri" pitchFamily="34" charset="-122"/>
                <a:cs typeface="Calibri" pitchFamily="34" charset="-120"/>
              </a:rPr>
              <a:t>routes/</a:t>
            </a:r>
            <a:endParaRPr lang="en-US" sz="1500" dirty="0"/>
          </a:p>
        </p:txBody>
      </p:sp>
      <p:sp>
        <p:nvSpPr>
          <p:cNvPr id="14" name="Text 11"/>
          <p:cNvSpPr/>
          <p:nvPr/>
        </p:nvSpPr>
        <p:spPr>
          <a:xfrm>
            <a:off x="2531364" y="2057400"/>
            <a:ext cx="1452372" cy="1234440"/>
          </a:xfrm>
          <a:prstGeom prst="rect">
            <a:avLst/>
          </a:prstGeom>
          <a:noFill/>
          <a:ln/>
        </p:spPr>
        <p:txBody>
          <a:bodyPr wrap="square" lIns="0" tIns="0" rIns="0" bIns="0" rtlCol="0" anchor="t"/>
          <a:lstStyle/>
          <a:p>
            <a:pPr algn="ctr" indent="0" marL="0">
              <a:buNone/>
            </a:pPr>
            <a:r>
              <a:rPr lang="en-US" sz="1200" dirty="0">
                <a:solidFill>
                  <a:srgbClr val="A9A7B8"/>
                </a:solidFill>
                <a:latin typeface="Calibri" pitchFamily="34" charset="0"/>
                <a:ea typeface="Calibri" pitchFamily="34" charset="-122"/>
                <a:cs typeface="Calibri" pitchFamily="34" charset="-120"/>
              </a:rPr>
              <a:t>URL + method to a controller, with middleware</a:t>
            </a:r>
            <a:endParaRPr lang="en-US" sz="1200" dirty="0"/>
          </a:p>
        </p:txBody>
      </p:sp>
      <p:sp>
        <p:nvSpPr>
          <p:cNvPr id="15" name="Text 12"/>
          <p:cNvSpPr/>
          <p:nvPr/>
        </p:nvSpPr>
        <p:spPr>
          <a:xfrm>
            <a:off x="4075176" y="2286000"/>
            <a:ext cx="256032" cy="365760"/>
          </a:xfrm>
          <a:prstGeom prst="rect">
            <a:avLst/>
          </a:prstGeom>
          <a:noFill/>
          <a:ln/>
        </p:spPr>
        <p:txBody>
          <a:bodyPr wrap="square" lIns="0" tIns="0" rIns="0" bIns="0" rtlCol="0" anchor="ctr"/>
          <a:lstStyle/>
          <a:p>
            <a:pPr algn="ctr" indent="0" marL="0">
              <a:buNone/>
            </a:pPr>
            <a:r>
              <a:rPr lang="en-US" sz="1200" dirty="0">
                <a:solidFill>
                  <a:srgbClr val="6C5CE7"/>
                </a:solidFill>
              </a:rPr>
              <a:t>▶</a:t>
            </a:r>
            <a:endParaRPr lang="en-US" sz="1200" dirty="0"/>
          </a:p>
        </p:txBody>
      </p:sp>
      <p:sp>
        <p:nvSpPr>
          <p:cNvPr id="16" name="Shape 13"/>
          <p:cNvSpPr/>
          <p:nvPr/>
        </p:nvSpPr>
        <p:spPr>
          <a:xfrm>
            <a:off x="4331208" y="1554480"/>
            <a:ext cx="1635252" cy="1828800"/>
          </a:xfrm>
          <a:prstGeom prst="roundRect">
            <a:avLst>
              <a:gd name="adj" fmla="val 4473"/>
            </a:avLst>
          </a:prstGeom>
          <a:solidFill>
            <a:srgbClr val="23212B"/>
          </a:solidFill>
          <a:ln w="19050">
            <a:solidFill>
              <a:srgbClr val="6C5CE7"/>
            </a:solidFill>
            <a:prstDash val="solid"/>
          </a:ln>
        </p:spPr>
      </p:sp>
      <p:sp>
        <p:nvSpPr>
          <p:cNvPr id="17" name="Text 14"/>
          <p:cNvSpPr/>
          <p:nvPr/>
        </p:nvSpPr>
        <p:spPr>
          <a:xfrm>
            <a:off x="4404360" y="1645920"/>
            <a:ext cx="1488948" cy="411480"/>
          </a:xfrm>
          <a:prstGeom prst="rect">
            <a:avLst/>
          </a:prstGeom>
          <a:noFill/>
          <a:ln/>
        </p:spPr>
        <p:txBody>
          <a:bodyPr wrap="square" lIns="0" tIns="0" rIns="0" bIns="0" rtlCol="0" anchor="ctr"/>
          <a:lstStyle/>
          <a:p>
            <a:pPr algn="ctr" indent="0" marL="0">
              <a:buNone/>
            </a:pPr>
            <a:r>
              <a:rPr lang="en-US" sz="1500" b="1" dirty="0">
                <a:solidFill>
                  <a:srgbClr val="F2F1F6"/>
                </a:solidFill>
                <a:latin typeface="Calibri" pitchFamily="34" charset="0"/>
                <a:ea typeface="Calibri" pitchFamily="34" charset="-122"/>
                <a:cs typeface="Calibri" pitchFamily="34" charset="-120"/>
              </a:rPr>
              <a:t>middleware</a:t>
            </a:r>
            <a:endParaRPr lang="en-US" sz="1500" dirty="0"/>
          </a:p>
        </p:txBody>
      </p:sp>
      <p:sp>
        <p:nvSpPr>
          <p:cNvPr id="18" name="Text 15"/>
          <p:cNvSpPr/>
          <p:nvPr/>
        </p:nvSpPr>
        <p:spPr>
          <a:xfrm>
            <a:off x="4422648" y="2057400"/>
            <a:ext cx="1452372" cy="1234440"/>
          </a:xfrm>
          <a:prstGeom prst="rect">
            <a:avLst/>
          </a:prstGeom>
          <a:noFill/>
          <a:ln/>
        </p:spPr>
        <p:txBody>
          <a:bodyPr wrap="square" lIns="0" tIns="0" rIns="0" bIns="0" rtlCol="0" anchor="t"/>
          <a:lstStyle/>
          <a:p>
            <a:pPr algn="ctr" indent="0" marL="0">
              <a:buNone/>
            </a:pPr>
            <a:r>
              <a:rPr lang="en-US" sz="1200" dirty="0">
                <a:solidFill>
                  <a:srgbClr val="A9A7B8"/>
                </a:solidFill>
                <a:latin typeface="Calibri" pitchFamily="34" charset="0"/>
                <a:ea typeface="Calibri" pitchFamily="34" charset="-122"/>
                <a:cs typeface="Calibri" pitchFamily="34" charset="-120"/>
              </a:rPr>
              <a:t>validate(schema) then requireAuth</a:t>
            </a:r>
            <a:endParaRPr lang="en-US" sz="1200" dirty="0"/>
          </a:p>
        </p:txBody>
      </p:sp>
      <p:sp>
        <p:nvSpPr>
          <p:cNvPr id="19" name="Text 16"/>
          <p:cNvSpPr/>
          <p:nvPr/>
        </p:nvSpPr>
        <p:spPr>
          <a:xfrm>
            <a:off x="5966460" y="2286000"/>
            <a:ext cx="256032" cy="365760"/>
          </a:xfrm>
          <a:prstGeom prst="rect">
            <a:avLst/>
          </a:prstGeom>
          <a:noFill/>
          <a:ln/>
        </p:spPr>
        <p:txBody>
          <a:bodyPr wrap="square" lIns="0" tIns="0" rIns="0" bIns="0" rtlCol="0" anchor="ctr"/>
          <a:lstStyle/>
          <a:p>
            <a:pPr algn="ctr" indent="0" marL="0">
              <a:buNone/>
            </a:pPr>
            <a:r>
              <a:rPr lang="en-US" sz="1200" dirty="0">
                <a:solidFill>
                  <a:srgbClr val="6C5CE7"/>
                </a:solidFill>
              </a:rPr>
              <a:t>▶</a:t>
            </a:r>
            <a:endParaRPr lang="en-US" sz="1200" dirty="0"/>
          </a:p>
        </p:txBody>
      </p:sp>
      <p:sp>
        <p:nvSpPr>
          <p:cNvPr id="20" name="Shape 17"/>
          <p:cNvSpPr/>
          <p:nvPr/>
        </p:nvSpPr>
        <p:spPr>
          <a:xfrm>
            <a:off x="6222492" y="1554480"/>
            <a:ext cx="1635252" cy="1828800"/>
          </a:xfrm>
          <a:prstGeom prst="roundRect">
            <a:avLst>
              <a:gd name="adj" fmla="val 4473"/>
            </a:avLst>
          </a:prstGeom>
          <a:solidFill>
            <a:srgbClr val="23212B"/>
          </a:solidFill>
          <a:ln w="19050">
            <a:solidFill>
              <a:srgbClr val="6C5CE7"/>
            </a:solidFill>
            <a:prstDash val="solid"/>
          </a:ln>
        </p:spPr>
      </p:sp>
      <p:sp>
        <p:nvSpPr>
          <p:cNvPr id="21" name="Text 18"/>
          <p:cNvSpPr/>
          <p:nvPr/>
        </p:nvSpPr>
        <p:spPr>
          <a:xfrm>
            <a:off x="6295644" y="1645920"/>
            <a:ext cx="1488948" cy="411480"/>
          </a:xfrm>
          <a:prstGeom prst="rect">
            <a:avLst/>
          </a:prstGeom>
          <a:noFill/>
          <a:ln/>
        </p:spPr>
        <p:txBody>
          <a:bodyPr wrap="square" lIns="0" tIns="0" rIns="0" bIns="0" rtlCol="0" anchor="ctr"/>
          <a:lstStyle/>
          <a:p>
            <a:pPr algn="ctr" indent="0" marL="0">
              <a:buNone/>
            </a:pPr>
            <a:r>
              <a:rPr lang="en-US" sz="1500" b="1" dirty="0">
                <a:solidFill>
                  <a:srgbClr val="F2F1F6"/>
                </a:solidFill>
                <a:latin typeface="Calibri" pitchFamily="34" charset="0"/>
                <a:ea typeface="Calibri" pitchFamily="34" charset="-122"/>
                <a:cs typeface="Calibri" pitchFamily="34" charset="-120"/>
              </a:rPr>
              <a:t>controllers/</a:t>
            </a:r>
            <a:endParaRPr lang="en-US" sz="1500" dirty="0"/>
          </a:p>
        </p:txBody>
      </p:sp>
      <p:sp>
        <p:nvSpPr>
          <p:cNvPr id="22" name="Text 19"/>
          <p:cNvSpPr/>
          <p:nvPr/>
        </p:nvSpPr>
        <p:spPr>
          <a:xfrm>
            <a:off x="6313932" y="2057400"/>
            <a:ext cx="1452372" cy="1234440"/>
          </a:xfrm>
          <a:prstGeom prst="rect">
            <a:avLst/>
          </a:prstGeom>
          <a:noFill/>
          <a:ln/>
        </p:spPr>
        <p:txBody>
          <a:bodyPr wrap="square" lIns="0" tIns="0" rIns="0" bIns="0" rtlCol="0" anchor="t"/>
          <a:lstStyle/>
          <a:p>
            <a:pPr algn="ctr" indent="0" marL="0">
              <a:buNone/>
            </a:pPr>
            <a:r>
              <a:rPr lang="en-US" sz="1200" dirty="0">
                <a:solidFill>
                  <a:srgbClr val="A9A7B8"/>
                </a:solidFill>
                <a:latin typeface="Calibri" pitchFamily="34" charset="0"/>
                <a:ea typeface="Calibri" pitchFamily="34" charset="-122"/>
                <a:cs typeface="Calibri" pitchFamily="34" charset="-120"/>
              </a:rPr>
              <a:t>read the request, call a service, send the response</a:t>
            </a:r>
            <a:endParaRPr lang="en-US" sz="1200" dirty="0"/>
          </a:p>
        </p:txBody>
      </p:sp>
      <p:sp>
        <p:nvSpPr>
          <p:cNvPr id="23" name="Text 20"/>
          <p:cNvSpPr/>
          <p:nvPr/>
        </p:nvSpPr>
        <p:spPr>
          <a:xfrm>
            <a:off x="7857744" y="2286000"/>
            <a:ext cx="256032" cy="365760"/>
          </a:xfrm>
          <a:prstGeom prst="rect">
            <a:avLst/>
          </a:prstGeom>
          <a:noFill/>
          <a:ln/>
        </p:spPr>
        <p:txBody>
          <a:bodyPr wrap="square" lIns="0" tIns="0" rIns="0" bIns="0" rtlCol="0" anchor="ctr"/>
          <a:lstStyle/>
          <a:p>
            <a:pPr algn="ctr" indent="0" marL="0">
              <a:buNone/>
            </a:pPr>
            <a:r>
              <a:rPr lang="en-US" sz="1200" dirty="0">
                <a:solidFill>
                  <a:srgbClr val="6C5CE7"/>
                </a:solidFill>
              </a:rPr>
              <a:t>▶</a:t>
            </a:r>
            <a:endParaRPr lang="en-US" sz="1200" dirty="0"/>
          </a:p>
        </p:txBody>
      </p:sp>
      <p:sp>
        <p:nvSpPr>
          <p:cNvPr id="24" name="Shape 21"/>
          <p:cNvSpPr/>
          <p:nvPr/>
        </p:nvSpPr>
        <p:spPr>
          <a:xfrm>
            <a:off x="8113776" y="1554480"/>
            <a:ext cx="1635252" cy="1828800"/>
          </a:xfrm>
          <a:prstGeom prst="roundRect">
            <a:avLst>
              <a:gd name="adj" fmla="val 4473"/>
            </a:avLst>
          </a:prstGeom>
          <a:solidFill>
            <a:srgbClr val="23212B"/>
          </a:solidFill>
          <a:ln w="19050">
            <a:solidFill>
              <a:srgbClr val="6C5CE7"/>
            </a:solidFill>
            <a:prstDash val="solid"/>
          </a:ln>
        </p:spPr>
      </p:sp>
      <p:sp>
        <p:nvSpPr>
          <p:cNvPr id="25" name="Text 22"/>
          <p:cNvSpPr/>
          <p:nvPr/>
        </p:nvSpPr>
        <p:spPr>
          <a:xfrm>
            <a:off x="8186928" y="1645920"/>
            <a:ext cx="1488948" cy="411480"/>
          </a:xfrm>
          <a:prstGeom prst="rect">
            <a:avLst/>
          </a:prstGeom>
          <a:noFill/>
          <a:ln/>
        </p:spPr>
        <p:txBody>
          <a:bodyPr wrap="square" lIns="0" tIns="0" rIns="0" bIns="0" rtlCol="0" anchor="ctr"/>
          <a:lstStyle/>
          <a:p>
            <a:pPr algn="ctr" indent="0" marL="0">
              <a:buNone/>
            </a:pPr>
            <a:r>
              <a:rPr lang="en-US" sz="1500" b="1" dirty="0">
                <a:solidFill>
                  <a:srgbClr val="F2F1F6"/>
                </a:solidFill>
                <a:latin typeface="Calibri" pitchFamily="34" charset="0"/>
                <a:ea typeface="Calibri" pitchFamily="34" charset="-122"/>
                <a:cs typeface="Calibri" pitchFamily="34" charset="-120"/>
              </a:rPr>
              <a:t>services/</a:t>
            </a:r>
            <a:endParaRPr lang="en-US" sz="1500" dirty="0"/>
          </a:p>
        </p:txBody>
      </p:sp>
      <p:sp>
        <p:nvSpPr>
          <p:cNvPr id="26" name="Text 23"/>
          <p:cNvSpPr/>
          <p:nvPr/>
        </p:nvSpPr>
        <p:spPr>
          <a:xfrm>
            <a:off x="8205216" y="2057400"/>
            <a:ext cx="1452372" cy="1234440"/>
          </a:xfrm>
          <a:prstGeom prst="rect">
            <a:avLst/>
          </a:prstGeom>
          <a:noFill/>
          <a:ln/>
        </p:spPr>
        <p:txBody>
          <a:bodyPr wrap="square" lIns="0" tIns="0" rIns="0" bIns="0" rtlCol="0" anchor="t"/>
          <a:lstStyle/>
          <a:p>
            <a:pPr algn="ctr" indent="0" marL="0">
              <a:buNone/>
            </a:pPr>
            <a:r>
              <a:rPr lang="en-US" sz="1200" dirty="0">
                <a:solidFill>
                  <a:srgbClr val="A9A7B8"/>
                </a:solidFill>
                <a:latin typeface="Calibri" pitchFamily="34" charset="0"/>
                <a:ea typeface="Calibri" pitchFamily="34" charset="-122"/>
                <a:cs typeface="Calibri" pitchFamily="34" charset="-120"/>
              </a:rPr>
              <a:t>business rules and database queries</a:t>
            </a:r>
            <a:endParaRPr lang="en-US" sz="1200" dirty="0"/>
          </a:p>
        </p:txBody>
      </p:sp>
      <p:sp>
        <p:nvSpPr>
          <p:cNvPr id="27" name="Text 24"/>
          <p:cNvSpPr/>
          <p:nvPr/>
        </p:nvSpPr>
        <p:spPr>
          <a:xfrm>
            <a:off x="9749028" y="2286000"/>
            <a:ext cx="256032" cy="365760"/>
          </a:xfrm>
          <a:prstGeom prst="rect">
            <a:avLst/>
          </a:prstGeom>
          <a:noFill/>
          <a:ln/>
        </p:spPr>
        <p:txBody>
          <a:bodyPr wrap="square" lIns="0" tIns="0" rIns="0" bIns="0" rtlCol="0" anchor="ctr"/>
          <a:lstStyle/>
          <a:p>
            <a:pPr algn="ctr" indent="0" marL="0">
              <a:buNone/>
            </a:pPr>
            <a:r>
              <a:rPr lang="en-US" sz="1200" dirty="0">
                <a:solidFill>
                  <a:srgbClr val="6C5CE7"/>
                </a:solidFill>
              </a:rPr>
              <a:t>▶</a:t>
            </a:r>
            <a:endParaRPr lang="en-US" sz="1200" dirty="0"/>
          </a:p>
        </p:txBody>
      </p:sp>
      <p:sp>
        <p:nvSpPr>
          <p:cNvPr id="28" name="Shape 25"/>
          <p:cNvSpPr/>
          <p:nvPr/>
        </p:nvSpPr>
        <p:spPr>
          <a:xfrm>
            <a:off x="10005060" y="1554480"/>
            <a:ext cx="1635252" cy="1828800"/>
          </a:xfrm>
          <a:prstGeom prst="roundRect">
            <a:avLst>
              <a:gd name="adj" fmla="val 4473"/>
            </a:avLst>
          </a:prstGeom>
          <a:solidFill>
            <a:srgbClr val="23212B"/>
          </a:solidFill>
          <a:ln w="19050">
            <a:solidFill>
              <a:srgbClr val="6C5CE7"/>
            </a:solidFill>
            <a:prstDash val="solid"/>
          </a:ln>
        </p:spPr>
      </p:sp>
      <p:sp>
        <p:nvSpPr>
          <p:cNvPr id="29" name="Text 26"/>
          <p:cNvSpPr/>
          <p:nvPr/>
        </p:nvSpPr>
        <p:spPr>
          <a:xfrm>
            <a:off x="10078212" y="1645920"/>
            <a:ext cx="1488948" cy="411480"/>
          </a:xfrm>
          <a:prstGeom prst="rect">
            <a:avLst/>
          </a:prstGeom>
          <a:noFill/>
          <a:ln/>
        </p:spPr>
        <p:txBody>
          <a:bodyPr wrap="square" lIns="0" tIns="0" rIns="0" bIns="0" rtlCol="0" anchor="ctr"/>
          <a:lstStyle/>
          <a:p>
            <a:pPr algn="ctr" indent="0" marL="0">
              <a:buNone/>
            </a:pPr>
            <a:r>
              <a:rPr lang="en-US" sz="1500" b="1" dirty="0">
                <a:solidFill>
                  <a:srgbClr val="F2F1F6"/>
                </a:solidFill>
                <a:latin typeface="Calibri" pitchFamily="34" charset="0"/>
                <a:ea typeface="Calibri" pitchFamily="34" charset="-122"/>
                <a:cs typeface="Calibri" pitchFamily="34" charset="-120"/>
              </a:rPr>
              <a:t>models/</a:t>
            </a:r>
            <a:endParaRPr lang="en-US" sz="1500" dirty="0"/>
          </a:p>
        </p:txBody>
      </p:sp>
      <p:sp>
        <p:nvSpPr>
          <p:cNvPr id="30" name="Text 27"/>
          <p:cNvSpPr/>
          <p:nvPr/>
        </p:nvSpPr>
        <p:spPr>
          <a:xfrm>
            <a:off x="10096500" y="2057400"/>
            <a:ext cx="1452372" cy="1234440"/>
          </a:xfrm>
          <a:prstGeom prst="rect">
            <a:avLst/>
          </a:prstGeom>
          <a:noFill/>
          <a:ln/>
        </p:spPr>
        <p:txBody>
          <a:bodyPr wrap="square" lIns="0" tIns="0" rIns="0" bIns="0" rtlCol="0" anchor="t"/>
          <a:lstStyle/>
          <a:p>
            <a:pPr algn="ctr" indent="0" marL="0">
              <a:buNone/>
            </a:pPr>
            <a:r>
              <a:rPr lang="en-US" sz="1200" dirty="0">
                <a:solidFill>
                  <a:srgbClr val="A9A7B8"/>
                </a:solidFill>
                <a:latin typeface="Calibri" pitchFamily="34" charset="0"/>
                <a:ea typeface="Calibri" pitchFamily="34" charset="-122"/>
                <a:cs typeface="Calibri" pitchFamily="34" charset="-120"/>
              </a:rPr>
              <a:t>Mongoose schemas for each collection</a:t>
            </a:r>
            <a:endParaRPr lang="en-US" sz="1200" dirty="0"/>
          </a:p>
        </p:txBody>
      </p:sp>
      <p:sp>
        <p:nvSpPr>
          <p:cNvPr id="31" name="Shape 28"/>
          <p:cNvSpPr/>
          <p:nvPr/>
        </p:nvSpPr>
        <p:spPr>
          <a:xfrm>
            <a:off x="548640" y="3931920"/>
            <a:ext cx="11091672" cy="1737360"/>
          </a:xfrm>
          <a:prstGeom prst="roundRect">
            <a:avLst>
              <a:gd name="adj" fmla="val 3158"/>
            </a:avLst>
          </a:prstGeom>
          <a:solidFill>
            <a:srgbClr val="0F0E12"/>
          </a:solidFill>
          <a:ln w="12700">
            <a:solidFill>
              <a:srgbClr val="3A3748"/>
            </a:solidFill>
            <a:prstDash val="solid"/>
          </a:ln>
        </p:spPr>
      </p:sp>
      <p:sp>
        <p:nvSpPr>
          <p:cNvPr id="32" name="Text 29"/>
          <p:cNvSpPr/>
          <p:nvPr/>
        </p:nvSpPr>
        <p:spPr>
          <a:xfrm>
            <a:off x="731520" y="4041648"/>
            <a:ext cx="10725912" cy="1517904"/>
          </a:xfrm>
          <a:prstGeom prst="rect">
            <a:avLst/>
          </a:prstGeom>
          <a:noFill/>
          <a:ln/>
        </p:spPr>
        <p:txBody>
          <a:bodyPr wrap="square" lIns="0" tIns="0" rIns="0" bIns="0" rtlCol="0" anchor="t"/>
          <a:lstStyle/>
          <a:p>
            <a:pPr indent="0" marL="0">
              <a:buNone/>
            </a:pPr>
            <a:r>
              <a:rPr lang="en-US" sz="1300" dirty="0">
                <a:solidFill>
                  <a:srgbClr val="CFCDE0"/>
                </a:solidFill>
                <a:latin typeface="Consolas" pitchFamily="34" charset="0"/>
                <a:ea typeface="Consolas" pitchFamily="34" charset="-122"/>
                <a:cs typeface="Consolas" pitchFamily="34" charset="-120"/>
              </a:rPr>
              <a:t>POST /api/tasks   { "title": "Buy milk", "status": "todo" }</a:t>
            </a:r>
            <a:endParaRPr lang="en-US" sz="1300" dirty="0"/>
          </a:p>
          <a:p>
            <a:pPr indent="0" marL="0">
              <a:buNone/>
            </a:pPr>
            <a:r>
              <a:rPr lang="en-US" sz="1300" dirty="0">
                <a:solidFill>
                  <a:srgbClr val="CFCDE0"/>
                </a:solidFill>
                <a:latin typeface="Consolas" pitchFamily="34" charset="0"/>
                <a:ea typeface="Consolas" pitchFamily="34" charset="-122"/>
                <a:cs typeface="Consolas" pitchFamily="34" charset="-120"/>
              </a:rPr>
              <a:t>  -&gt; validate(taskCreateSchema)  : 422 if title empty, status unknown, date impossible</a:t>
            </a:r>
            <a:endParaRPr lang="en-US" sz="1300" dirty="0"/>
          </a:p>
          <a:p>
            <a:pPr indent="0" marL="0">
              <a:buNone/>
            </a:pPr>
            <a:r>
              <a:rPr lang="en-US" sz="1300" dirty="0">
                <a:solidFill>
                  <a:srgbClr val="CFCDE0"/>
                </a:solidFill>
                <a:latin typeface="Consolas" pitchFamily="34" charset="0"/>
                <a:ea typeface="Consolas" pitchFamily="34" charset="-122"/>
                <a:cs typeface="Consolas" pitchFamily="34" charset="-120"/>
              </a:rPr>
              <a:t>  -&gt; requireAuth                 : 401 if no valid token, else req.user</a:t>
            </a:r>
            <a:endParaRPr lang="en-US" sz="1300" dirty="0"/>
          </a:p>
          <a:p>
            <a:pPr indent="0" marL="0">
              <a:buNone/>
            </a:pPr>
            <a:r>
              <a:rPr lang="en-US" sz="1300" dirty="0">
                <a:solidFill>
                  <a:srgbClr val="CFCDE0"/>
                </a:solidFill>
                <a:latin typeface="Consolas" pitchFamily="34" charset="0"/>
                <a:ea typeface="Consolas" pitchFamily="34" charset="-122"/>
                <a:cs typeface="Consolas" pitchFamily="34" charset="-120"/>
              </a:rPr>
              <a:t>  -&gt; taskController.createTask   : calls taskService.createTask(req.user.id, data)</a:t>
            </a:r>
            <a:endParaRPr lang="en-US" sz="1300" dirty="0"/>
          </a:p>
          <a:p>
            <a:pPr indent="0" marL="0">
              <a:buNone/>
            </a:pPr>
            <a:r>
              <a:rPr lang="en-US" sz="1300" dirty="0">
                <a:solidFill>
                  <a:srgbClr val="CFCDE0"/>
                </a:solidFill>
                <a:latin typeface="Consolas" pitchFamily="34" charset="0"/>
                <a:ea typeface="Consolas" pitchFamily="34" charset="-122"/>
                <a:cs typeface="Consolas" pitchFamily="34" charset="-120"/>
              </a:rPr>
              <a:t>  -&gt; taskService / Task model    : saves with owner = req.user.id   -&gt; 201 + the task</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Backend: folder map</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BACKEND</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6</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840480"/>
                <a:gridCol w="7251192"/>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Path (backend/src)</a:t>
                      </a:r>
                      <a:endParaRPr lang="en-US" sz="1300" dirty="0">
                        <a:latin typeface="Calibri" charset="0"/>
                        <a:ea typeface="Calibri" charset="0"/>
                        <a:cs typeface="Calibri" charset="0"/>
                      </a:endParaRPr>
                    </a:p>
                  </a:txBody>
                  <a:tcPr marL="91440" marR="91440" marT="36576" marB="36576">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6C5CE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marL="91440" marR="91440" marT="36576" marB="36576">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6C5CE7"/>
                    </a:solidFill>
                  </a:tcPr>
                </a:tc>
              </a:tr>
              <a:tr h="393192">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config/env.js, config/db.js</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Settings from environment variables; MongoDB connection with Mongoose</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r>
              <a:tr h="393192">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models/</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User, Task, Habit, HabitEvent schemas</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r>
              <a:tr h="393192">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schemas.js</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All zod validation schemas, one per request</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r>
              <a:tr h="393192">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middleware.js, security.js</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validate() and requireAuth; password hashing and tokens</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r>
              <a:tr h="393192">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controllers/, routes/</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auth, tasks, habits, stats, calendar: one controller and one router each</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r>
              <a:tr h="393192">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services/app.js, services/server.js</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Build the Express app and mount /api routes; connect to MongoDB then listen</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r>
              <a:tr h="393192">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services/*Service.js</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taskService, habitService, statsService, calendarService</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r>
              <a:tr h="393192">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statsCalculations.js, calendarEvents.js</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Pure functions (no database): heatmap, completion rate, calendar events</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r>
              <a:tr h="393192">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utils/dates.js</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Calendar dates and time-zone conversion</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r>
              <a:tr h="393192">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test/</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60 unit tests</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Backend: configuration and startup</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BACKEND</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7</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sp>
        <p:nvSpPr>
          <p:cNvPr id="8" name="Shape 5"/>
          <p:cNvSpPr/>
          <p:nvPr/>
        </p:nvSpPr>
        <p:spPr>
          <a:xfrm>
            <a:off x="548640" y="1371600"/>
            <a:ext cx="5577840" cy="4480560"/>
          </a:xfrm>
          <a:prstGeom prst="roundRect">
            <a:avLst>
              <a:gd name="adj" fmla="val 1224"/>
            </a:avLst>
          </a:prstGeom>
          <a:solidFill>
            <a:srgbClr val="0F0E12"/>
          </a:solidFill>
          <a:ln w="12700">
            <a:solidFill>
              <a:srgbClr val="3A3748"/>
            </a:solidFill>
            <a:prstDash val="solid"/>
          </a:ln>
        </p:spPr>
      </p:sp>
      <p:sp>
        <p:nvSpPr>
          <p:cNvPr id="9" name="Text 6"/>
          <p:cNvSpPr/>
          <p:nvPr/>
        </p:nvSpPr>
        <p:spPr>
          <a:xfrm>
            <a:off x="731520" y="1481328"/>
            <a:ext cx="5212080" cy="4261104"/>
          </a:xfrm>
          <a:prstGeom prst="rect">
            <a:avLst/>
          </a:prstGeom>
          <a:noFill/>
          <a:ln/>
        </p:spPr>
        <p:txBody>
          <a:bodyPr wrap="square" lIns="0" tIns="0" rIns="0" bIns="0" rtlCol="0" anchor="t"/>
          <a:lstStyle/>
          <a:p>
            <a:pPr indent="0" marL="0">
              <a:buNone/>
            </a:pPr>
            <a:r>
              <a:rPr lang="en-US" sz="1200" dirty="0">
                <a:solidFill>
                  <a:srgbClr val="CFCDE0"/>
                </a:solidFill>
                <a:latin typeface="Consolas" pitchFamily="34" charset="0"/>
                <a:ea typeface="Consolas" pitchFamily="34" charset="-122"/>
                <a:cs typeface="Consolas" pitchFamily="34" charset="-120"/>
              </a:rPr>
              <a:t>// config/env.js</a:t>
            </a:r>
            <a:endParaRPr lang="en-US" sz="1200" dirty="0"/>
          </a:p>
          <a:p>
            <a:pPr indent="0" marL="0">
              <a:buNone/>
            </a:pPr>
            <a:r>
              <a:rPr lang="en-US" sz="1200" dirty="0">
                <a:solidFill>
                  <a:srgbClr val="CFCDE0"/>
                </a:solidFill>
                <a:latin typeface="Consolas" pitchFamily="34" charset="0"/>
                <a:ea typeface="Consolas" pitchFamily="34" charset="-122"/>
                <a:cs typeface="Consolas" pitchFamily="34" charset="-120"/>
              </a:rPr>
              <a:t>export const config = {</a:t>
            </a:r>
            <a:endParaRPr lang="en-US" sz="1200" dirty="0"/>
          </a:p>
          <a:p>
            <a:pPr indent="0" marL="0">
              <a:buNone/>
            </a:pPr>
            <a:r>
              <a:rPr lang="en-US" sz="1200" dirty="0">
                <a:solidFill>
                  <a:srgbClr val="CFCDE0"/>
                </a:solidFill>
                <a:latin typeface="Consolas" pitchFamily="34" charset="0"/>
                <a:ea typeface="Consolas" pitchFamily="34" charset="-122"/>
                <a:cs typeface="Consolas" pitchFamily="34" charset="-120"/>
              </a:rPr>
              <a:t>  port: Number(process.env.PORT ?? 8000),</a:t>
            </a:r>
            <a:endParaRPr lang="en-US" sz="1200" dirty="0"/>
          </a:p>
          <a:p>
            <a:pPr indent="0" marL="0">
              <a:buNone/>
            </a:pPr>
            <a:r>
              <a:rPr lang="en-US" sz="1200" dirty="0">
                <a:solidFill>
                  <a:srgbClr val="CFCDE0"/>
                </a:solidFill>
                <a:latin typeface="Consolas" pitchFamily="34" charset="0"/>
                <a:ea typeface="Consolas" pitchFamily="34" charset="-122"/>
                <a:cs typeface="Consolas" pitchFamily="34" charset="-120"/>
              </a:rPr>
              <a:t>  mongodbUri: process.env.MONGODB_URI</a:t>
            </a:r>
            <a:endParaRPr lang="en-US" sz="1200" dirty="0"/>
          </a:p>
          <a:p>
            <a:pPr indent="0" marL="0">
              <a:buNone/>
            </a:pPr>
            <a:r>
              <a:rPr lang="en-US" sz="1200" dirty="0">
                <a:solidFill>
                  <a:srgbClr val="CFCDE0"/>
                </a:solidFill>
                <a:latin typeface="Consolas" pitchFamily="34" charset="0"/>
                <a:ea typeface="Consolas" pitchFamily="34" charset="-122"/>
                <a:cs typeface="Consolas" pitchFamily="34" charset="-120"/>
              </a:rPr>
              <a:t>    ?? "mongodb://127.0.0.1:27017/hellojess",</a:t>
            </a:r>
            <a:endParaRPr lang="en-US" sz="1200" dirty="0"/>
          </a:p>
          <a:p>
            <a:pPr indent="0" marL="0">
              <a:buNone/>
            </a:pPr>
            <a:r>
              <a:rPr lang="en-US" sz="1200" dirty="0">
                <a:solidFill>
                  <a:srgbClr val="CFCDE0"/>
                </a:solidFill>
                <a:latin typeface="Consolas" pitchFamily="34" charset="0"/>
                <a:ea typeface="Consolas" pitchFamily="34" charset="-122"/>
                <a:cs typeface="Consolas" pitchFamily="34" charset="-120"/>
              </a:rPr>
              <a:t>  corsOrigin: process.env.CORS_ORIGIN ?? "*",</a:t>
            </a:r>
            <a:endParaRPr lang="en-US" sz="1200" dirty="0"/>
          </a:p>
          <a:p>
            <a:pPr indent="0" marL="0">
              <a:buNone/>
            </a:pPr>
            <a:r>
              <a:rPr lang="en-US" sz="1200" dirty="0">
                <a:solidFill>
                  <a:srgbClr val="CFCDE0"/>
                </a:solidFill>
                <a:latin typeface="Consolas" pitchFamily="34" charset="0"/>
                <a:ea typeface="Consolas" pitchFamily="34" charset="-122"/>
                <a:cs typeface="Consolas" pitchFamily="34" charset="-120"/>
              </a:rPr>
              <a:t>  secretKey: process.env.SECRET_KEY ?? "dev-secret",</a:t>
            </a:r>
            <a:endParaRPr lang="en-US" sz="1200" dirty="0"/>
          </a:p>
          <a:p>
            <a:pPr indent="0" marL="0">
              <a:buNone/>
            </a:pPr>
            <a:r>
              <a:rPr lang="en-US" sz="1200" dirty="0">
                <a:solidFill>
                  <a:srgbClr val="CFCDE0"/>
                </a:solidFill>
                <a:latin typeface="Consolas" pitchFamily="34" charset="0"/>
                <a:ea typeface="Consolas" pitchFamily="34" charset="-122"/>
                <a:cs typeface="Consolas" pitchFamily="34" charset="-120"/>
              </a:rPr>
              <a:t>};</a:t>
            </a:r>
            <a:endParaRPr lang="en-US" sz="1200" dirty="0"/>
          </a:p>
          <a:p>
            <a:pPr indent="0" marL="0">
              <a:buNone/>
            </a:pPr>
            <a:endParaRPr lang="en-US" sz="1200" dirty="0"/>
          </a:p>
          <a:p>
            <a:pPr indent="0" marL="0">
              <a:buNone/>
            </a:pPr>
            <a:r>
              <a:rPr lang="en-US" sz="1200" dirty="0">
                <a:solidFill>
                  <a:srgbClr val="CFCDE0"/>
                </a:solidFill>
                <a:latin typeface="Consolas" pitchFamily="34" charset="0"/>
                <a:ea typeface="Consolas" pitchFamily="34" charset="-122"/>
                <a:cs typeface="Consolas" pitchFamily="34" charset="-120"/>
              </a:rPr>
              <a:t>// services/app.js</a:t>
            </a:r>
            <a:endParaRPr lang="en-US" sz="1200" dirty="0"/>
          </a:p>
          <a:p>
            <a:pPr indent="0" marL="0">
              <a:buNone/>
            </a:pPr>
            <a:r>
              <a:rPr lang="en-US" sz="1200" dirty="0">
                <a:solidFill>
                  <a:srgbClr val="CFCDE0"/>
                </a:solidFill>
                <a:latin typeface="Consolas" pitchFamily="34" charset="0"/>
                <a:ea typeface="Consolas" pitchFamily="34" charset="-122"/>
                <a:cs typeface="Consolas" pitchFamily="34" charset="-120"/>
              </a:rPr>
              <a:t>app.use(cors(...));  app.use(express.json());</a:t>
            </a:r>
            <a:endParaRPr lang="en-US" sz="1200" dirty="0"/>
          </a:p>
          <a:p>
            <a:pPr indent="0" marL="0">
              <a:buNone/>
            </a:pPr>
            <a:r>
              <a:rPr lang="en-US" sz="1200" dirty="0">
                <a:solidFill>
                  <a:srgbClr val="CFCDE0"/>
                </a:solidFill>
                <a:latin typeface="Consolas" pitchFamily="34" charset="0"/>
                <a:ea typeface="Consolas" pitchFamily="34" charset="-122"/>
                <a:cs typeface="Consolas" pitchFamily="34" charset="-120"/>
              </a:rPr>
              <a:t>app.get("/health", ...);</a:t>
            </a:r>
            <a:endParaRPr lang="en-US" sz="1200" dirty="0"/>
          </a:p>
          <a:p>
            <a:pPr indent="0" marL="0">
              <a:buNone/>
            </a:pPr>
            <a:r>
              <a:rPr lang="en-US" sz="1200" dirty="0">
                <a:solidFill>
                  <a:srgbClr val="CFCDE0"/>
                </a:solidFill>
                <a:latin typeface="Consolas" pitchFamily="34" charset="0"/>
                <a:ea typeface="Consolas" pitchFamily="34" charset="-122"/>
                <a:cs typeface="Consolas" pitchFamily="34" charset="-120"/>
              </a:rPr>
              <a:t>app.use("/api/auth",     authRouter);</a:t>
            </a:r>
            <a:endParaRPr lang="en-US" sz="1200" dirty="0"/>
          </a:p>
          <a:p>
            <a:pPr indent="0" marL="0">
              <a:buNone/>
            </a:pPr>
            <a:r>
              <a:rPr lang="en-US" sz="1200" dirty="0">
                <a:solidFill>
                  <a:srgbClr val="CFCDE0"/>
                </a:solidFill>
                <a:latin typeface="Consolas" pitchFamily="34" charset="0"/>
                <a:ea typeface="Consolas" pitchFamily="34" charset="-122"/>
                <a:cs typeface="Consolas" pitchFamily="34" charset="-120"/>
              </a:rPr>
              <a:t>app.use("/api/tasks",    taskRouter);</a:t>
            </a:r>
            <a:endParaRPr lang="en-US" sz="1200" dirty="0"/>
          </a:p>
          <a:p>
            <a:pPr indent="0" marL="0">
              <a:buNone/>
            </a:pPr>
            <a:r>
              <a:rPr lang="en-US" sz="1200" dirty="0">
                <a:solidFill>
                  <a:srgbClr val="CFCDE0"/>
                </a:solidFill>
                <a:latin typeface="Consolas" pitchFamily="34" charset="0"/>
                <a:ea typeface="Consolas" pitchFamily="34" charset="-122"/>
                <a:cs typeface="Consolas" pitchFamily="34" charset="-120"/>
              </a:rPr>
              <a:t>app.use("/api/habits",   habitRouter);</a:t>
            </a:r>
            <a:endParaRPr lang="en-US" sz="1200" dirty="0"/>
          </a:p>
          <a:p>
            <a:pPr indent="0" marL="0">
              <a:buNone/>
            </a:pPr>
            <a:r>
              <a:rPr lang="en-US" sz="1200" dirty="0">
                <a:solidFill>
                  <a:srgbClr val="CFCDE0"/>
                </a:solidFill>
                <a:latin typeface="Consolas" pitchFamily="34" charset="0"/>
                <a:ea typeface="Consolas" pitchFamily="34" charset="-122"/>
                <a:cs typeface="Consolas" pitchFamily="34" charset="-120"/>
              </a:rPr>
              <a:t>app.use("/api/stats",    statsRouter);</a:t>
            </a:r>
            <a:endParaRPr lang="en-US" sz="1200" dirty="0"/>
          </a:p>
          <a:p>
            <a:pPr indent="0" marL="0">
              <a:buNone/>
            </a:pPr>
            <a:r>
              <a:rPr lang="en-US" sz="1200" dirty="0">
                <a:solidFill>
                  <a:srgbClr val="CFCDE0"/>
                </a:solidFill>
                <a:latin typeface="Consolas" pitchFamily="34" charset="0"/>
                <a:ea typeface="Consolas" pitchFamily="34" charset="-122"/>
                <a:cs typeface="Consolas" pitchFamily="34" charset="-120"/>
              </a:rPr>
              <a:t>app.use("/api/calendar", calendarRouter);</a:t>
            </a:r>
            <a:endParaRPr lang="en-US" sz="1200" dirty="0"/>
          </a:p>
        </p:txBody>
      </p:sp>
      <p:sp>
        <p:nvSpPr>
          <p:cNvPr id="10" name="Shape 7"/>
          <p:cNvSpPr/>
          <p:nvPr/>
        </p:nvSpPr>
        <p:spPr>
          <a:xfrm>
            <a:off x="6355080" y="1371600"/>
            <a:ext cx="5303520" cy="2103120"/>
          </a:xfrm>
          <a:prstGeom prst="roundRect">
            <a:avLst>
              <a:gd name="adj" fmla="val 3478"/>
            </a:avLst>
          </a:prstGeom>
          <a:solidFill>
            <a:srgbClr val="23212B"/>
          </a:solidFill>
          <a:ln w="12700">
            <a:solidFill>
              <a:srgbClr val="3A3748"/>
            </a:solidFill>
            <a:prstDash val="solid"/>
          </a:ln>
        </p:spPr>
      </p:sp>
      <p:sp>
        <p:nvSpPr>
          <p:cNvPr id="11" name="Text 8"/>
          <p:cNvSpPr/>
          <p:nvPr/>
        </p:nvSpPr>
        <p:spPr>
          <a:xfrm>
            <a:off x="6583680" y="1481328"/>
            <a:ext cx="4937760"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server.js</a:t>
            </a:r>
            <a:endParaRPr lang="en-US" sz="1700" dirty="0"/>
          </a:p>
        </p:txBody>
      </p:sp>
      <p:sp>
        <p:nvSpPr>
          <p:cNvPr id="12" name="Text 9"/>
          <p:cNvSpPr/>
          <p:nvPr/>
        </p:nvSpPr>
        <p:spPr>
          <a:xfrm>
            <a:off x="6583680" y="1984248"/>
            <a:ext cx="4892040" cy="1399032"/>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Connects to MongoDB (config/db.js)</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Then listens on 0.0.0.0:8000 so a phone on the same Wi-Fi can reach it</a:t>
            </a:r>
            <a:endParaRPr lang="en-US" sz="1550" dirty="0"/>
          </a:p>
        </p:txBody>
      </p:sp>
      <p:sp>
        <p:nvSpPr>
          <p:cNvPr id="13" name="Shape 10"/>
          <p:cNvSpPr/>
          <p:nvPr/>
        </p:nvSpPr>
        <p:spPr>
          <a:xfrm>
            <a:off x="6355080" y="3657600"/>
            <a:ext cx="5303520" cy="2194560"/>
          </a:xfrm>
          <a:prstGeom prst="roundRect">
            <a:avLst>
              <a:gd name="adj" fmla="val 3333"/>
            </a:avLst>
          </a:prstGeom>
          <a:solidFill>
            <a:srgbClr val="23212B"/>
          </a:solidFill>
          <a:ln w="12700">
            <a:solidFill>
              <a:srgbClr val="3A3748"/>
            </a:solidFill>
            <a:prstDash val="solid"/>
          </a:ln>
        </p:spPr>
      </p:sp>
      <p:sp>
        <p:nvSpPr>
          <p:cNvPr id="14" name="Text 11"/>
          <p:cNvSpPr/>
          <p:nvPr/>
        </p:nvSpPr>
        <p:spPr>
          <a:xfrm>
            <a:off x="6583680" y="3767328"/>
            <a:ext cx="4937760"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Error handling in app.js</a:t>
            </a:r>
            <a:endParaRPr lang="en-US" sz="1700" dirty="0"/>
          </a:p>
        </p:txBody>
      </p:sp>
      <p:sp>
        <p:nvSpPr>
          <p:cNvPr id="15" name="Text 12"/>
          <p:cNvSpPr/>
          <p:nvPr/>
        </p:nvSpPr>
        <p:spPr>
          <a:xfrm>
            <a:off x="6583680" y="4270248"/>
            <a:ext cx="4892040" cy="1490472"/>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Unknown URL: 404 { detail: "Not Found" }</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Malformed JSON: 400</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Mongoose validation: 422 with per-field messages</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Anything else: logged, then 500</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Backend: data model</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BACKEND</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8</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sp>
        <p:nvSpPr>
          <p:cNvPr id="8" name="Shape 5"/>
          <p:cNvSpPr/>
          <p:nvPr/>
        </p:nvSpPr>
        <p:spPr>
          <a:xfrm>
            <a:off x="548640" y="1371600"/>
            <a:ext cx="5431536" cy="2148840"/>
          </a:xfrm>
          <a:prstGeom prst="roundRect">
            <a:avLst>
              <a:gd name="adj" fmla="val 3404"/>
            </a:avLst>
          </a:prstGeom>
          <a:solidFill>
            <a:srgbClr val="23212B"/>
          </a:solidFill>
          <a:ln w="12700">
            <a:solidFill>
              <a:srgbClr val="3A3748"/>
            </a:solidFill>
            <a:prstDash val="solid"/>
          </a:ln>
        </p:spPr>
      </p:sp>
      <p:sp>
        <p:nvSpPr>
          <p:cNvPr id="9" name="Shape 6"/>
          <p:cNvSpPr/>
          <p:nvPr/>
        </p:nvSpPr>
        <p:spPr>
          <a:xfrm>
            <a:off x="566928" y="1536192"/>
            <a:ext cx="64008" cy="365760"/>
          </a:xfrm>
          <a:prstGeom prst="rect">
            <a:avLst/>
          </a:prstGeom>
          <a:solidFill>
            <a:srgbClr val="6C5CE7"/>
          </a:solidFill>
          <a:ln w="12700">
            <a:solidFill>
              <a:srgbClr val="6C5CE7"/>
            </a:solidFill>
            <a:prstDash val="solid"/>
          </a:ln>
        </p:spPr>
      </p:sp>
      <p:sp>
        <p:nvSpPr>
          <p:cNvPr id="10" name="Text 7"/>
          <p:cNvSpPr/>
          <p:nvPr/>
        </p:nvSpPr>
        <p:spPr>
          <a:xfrm>
            <a:off x="777240" y="1481328"/>
            <a:ext cx="5065776"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User (users)</a:t>
            </a:r>
            <a:endParaRPr lang="en-US" sz="1700" dirty="0"/>
          </a:p>
        </p:txBody>
      </p:sp>
      <p:sp>
        <p:nvSpPr>
          <p:cNvPr id="11" name="Text 8"/>
          <p:cNvSpPr/>
          <p:nvPr/>
        </p:nvSpPr>
        <p:spPr>
          <a:xfrm>
            <a:off x="777240" y="1984248"/>
            <a:ext cx="5020056" cy="1444752"/>
          </a:xfrm>
          <a:prstGeom prst="rect">
            <a:avLst/>
          </a:prstGeom>
          <a:noFill/>
          <a:ln/>
        </p:spPr>
        <p:txBody>
          <a:bodyPr wrap="square" lIns="0" tIns="0" rIns="0" bIns="0" rtlCol="0" anchor="t"/>
          <a:lstStyle/>
          <a:p>
            <a:pPr marL="177800" indent="-177800">
              <a:spcAft>
                <a:spcPts val="400"/>
              </a:spcAft>
              <a:buSzPct val="100000"/>
              <a:buChar char="•"/>
            </a:pPr>
            <a:r>
              <a:rPr lang="en-US" sz="1450" dirty="0">
                <a:solidFill>
                  <a:srgbClr val="F2F1F6"/>
                </a:solidFill>
                <a:latin typeface="Calibri" pitchFamily="34" charset="0"/>
                <a:ea typeface="Calibri" pitchFamily="34" charset="-122"/>
                <a:cs typeface="Calibri" pitchFamily="34" charset="-120"/>
              </a:rPr>
              <a:t>email (unique), name, hashed_password, created_at</a:t>
            </a:r>
            <a:endParaRPr lang="en-US" sz="1450" dirty="0"/>
          </a:p>
          <a:p>
            <a:pPr marL="177800" indent="-177800">
              <a:spcAft>
                <a:spcPts val="400"/>
              </a:spcAft>
              <a:buSzPct val="100000"/>
              <a:buChar char="•"/>
            </a:pPr>
            <a:r>
              <a:rPr lang="en-US" sz="1450" dirty="0">
                <a:solidFill>
                  <a:srgbClr val="F2F1F6"/>
                </a:solidFill>
                <a:latin typeface="Calibri" pitchFamily="34" charset="0"/>
                <a:ea typeface="Calibri" pitchFamily="34" charset="-122"/>
                <a:cs typeface="Calibri" pitchFamily="34" charset="-120"/>
              </a:rPr>
              <a:t>The hash is never returned by the API</a:t>
            </a:r>
            <a:endParaRPr lang="en-US" sz="1450" dirty="0"/>
          </a:p>
        </p:txBody>
      </p:sp>
      <p:sp>
        <p:nvSpPr>
          <p:cNvPr id="12" name="Shape 9"/>
          <p:cNvSpPr/>
          <p:nvPr/>
        </p:nvSpPr>
        <p:spPr>
          <a:xfrm>
            <a:off x="6208776" y="1371600"/>
            <a:ext cx="5431536" cy="2148840"/>
          </a:xfrm>
          <a:prstGeom prst="roundRect">
            <a:avLst>
              <a:gd name="adj" fmla="val 3404"/>
            </a:avLst>
          </a:prstGeom>
          <a:solidFill>
            <a:srgbClr val="23212B"/>
          </a:solidFill>
          <a:ln w="12700">
            <a:solidFill>
              <a:srgbClr val="3A3748"/>
            </a:solidFill>
            <a:prstDash val="solid"/>
          </a:ln>
        </p:spPr>
      </p:sp>
      <p:sp>
        <p:nvSpPr>
          <p:cNvPr id="13" name="Shape 10"/>
          <p:cNvSpPr/>
          <p:nvPr/>
        </p:nvSpPr>
        <p:spPr>
          <a:xfrm>
            <a:off x="6227064" y="1536192"/>
            <a:ext cx="64008" cy="365760"/>
          </a:xfrm>
          <a:prstGeom prst="rect">
            <a:avLst/>
          </a:prstGeom>
          <a:solidFill>
            <a:srgbClr val="6C5CE7"/>
          </a:solidFill>
          <a:ln w="12700">
            <a:solidFill>
              <a:srgbClr val="6C5CE7"/>
            </a:solidFill>
            <a:prstDash val="solid"/>
          </a:ln>
        </p:spPr>
      </p:sp>
      <p:sp>
        <p:nvSpPr>
          <p:cNvPr id="14" name="Text 11"/>
          <p:cNvSpPr/>
          <p:nvPr/>
        </p:nvSpPr>
        <p:spPr>
          <a:xfrm>
            <a:off x="6437376" y="1481328"/>
            <a:ext cx="5065776"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Task (tasks)</a:t>
            </a:r>
            <a:endParaRPr lang="en-US" sz="1700" dirty="0"/>
          </a:p>
        </p:txBody>
      </p:sp>
      <p:sp>
        <p:nvSpPr>
          <p:cNvPr id="15" name="Text 12"/>
          <p:cNvSpPr/>
          <p:nvPr/>
        </p:nvSpPr>
        <p:spPr>
          <a:xfrm>
            <a:off x="6437376" y="1984248"/>
            <a:ext cx="5020056" cy="1444752"/>
          </a:xfrm>
          <a:prstGeom prst="rect">
            <a:avLst/>
          </a:prstGeom>
          <a:noFill/>
          <a:ln/>
        </p:spPr>
        <p:txBody>
          <a:bodyPr wrap="square" lIns="0" tIns="0" rIns="0" bIns="0" rtlCol="0" anchor="t"/>
          <a:lstStyle/>
          <a:p>
            <a:pPr marL="177800" indent="-177800">
              <a:spcAft>
                <a:spcPts val="400"/>
              </a:spcAft>
              <a:buSzPct val="100000"/>
              <a:buChar char="•"/>
            </a:pPr>
            <a:r>
              <a:rPr lang="en-US" sz="1450" dirty="0">
                <a:solidFill>
                  <a:srgbClr val="F2F1F6"/>
                </a:solidFill>
                <a:latin typeface="Calibri" pitchFamily="34" charset="0"/>
                <a:ea typeface="Calibri" pitchFamily="34" charset="-122"/>
                <a:cs typeface="Calibri" pitchFamily="34" charset="-120"/>
              </a:rPr>
              <a:t>owner, title (1-120), status: todo | doing | done</a:t>
            </a:r>
            <a:endParaRPr lang="en-US" sz="1450" dirty="0"/>
          </a:p>
          <a:p>
            <a:pPr marL="177800" indent="-177800">
              <a:spcAft>
                <a:spcPts val="400"/>
              </a:spcAft>
              <a:buSzPct val="100000"/>
              <a:buChar char="•"/>
            </a:pPr>
            <a:r>
              <a:rPr lang="en-US" sz="1450" dirty="0">
                <a:solidFill>
                  <a:srgbClr val="F2F1F6"/>
                </a:solidFill>
                <a:latin typeface="Calibri" pitchFamily="34" charset="0"/>
                <a:ea typeface="Calibri" pitchFamily="34" charset="-122"/>
                <a:cs typeface="Calibri" pitchFamily="34" charset="-120"/>
              </a:rPr>
              <a:t>description, dueDate (YYYY-MM-DD or null)</a:t>
            </a:r>
            <a:endParaRPr lang="en-US" sz="1450" dirty="0"/>
          </a:p>
          <a:p>
            <a:pPr marL="177800" indent="-177800">
              <a:spcAft>
                <a:spcPts val="400"/>
              </a:spcAft>
              <a:buSzPct val="100000"/>
              <a:buChar char="•"/>
            </a:pPr>
            <a:r>
              <a:rPr lang="en-US" sz="1450" dirty="0">
                <a:solidFill>
                  <a:srgbClr val="F2F1F6"/>
                </a:solidFill>
                <a:latin typeface="Calibri" pitchFamily="34" charset="0"/>
                <a:ea typeface="Calibri" pitchFamily="34" charset="-122"/>
                <a:cs typeface="Calibri" pitchFamily="34" charset="-120"/>
              </a:rPr>
              <a:t>priority: low | medium | high, completedAt</a:t>
            </a:r>
            <a:endParaRPr lang="en-US" sz="1450" dirty="0"/>
          </a:p>
        </p:txBody>
      </p:sp>
      <p:sp>
        <p:nvSpPr>
          <p:cNvPr id="16" name="Shape 13"/>
          <p:cNvSpPr/>
          <p:nvPr/>
        </p:nvSpPr>
        <p:spPr>
          <a:xfrm>
            <a:off x="548640" y="3749040"/>
            <a:ext cx="5431536" cy="2148840"/>
          </a:xfrm>
          <a:prstGeom prst="roundRect">
            <a:avLst>
              <a:gd name="adj" fmla="val 3404"/>
            </a:avLst>
          </a:prstGeom>
          <a:solidFill>
            <a:srgbClr val="23212B"/>
          </a:solidFill>
          <a:ln w="12700">
            <a:solidFill>
              <a:srgbClr val="3A3748"/>
            </a:solidFill>
            <a:prstDash val="solid"/>
          </a:ln>
        </p:spPr>
      </p:sp>
      <p:sp>
        <p:nvSpPr>
          <p:cNvPr id="17" name="Shape 14"/>
          <p:cNvSpPr/>
          <p:nvPr/>
        </p:nvSpPr>
        <p:spPr>
          <a:xfrm>
            <a:off x="566928" y="3913632"/>
            <a:ext cx="64008" cy="365760"/>
          </a:xfrm>
          <a:prstGeom prst="rect">
            <a:avLst/>
          </a:prstGeom>
          <a:solidFill>
            <a:srgbClr val="3498DB"/>
          </a:solidFill>
          <a:ln w="12700">
            <a:solidFill>
              <a:srgbClr val="3498DB"/>
            </a:solidFill>
            <a:prstDash val="solid"/>
          </a:ln>
        </p:spPr>
      </p:sp>
      <p:sp>
        <p:nvSpPr>
          <p:cNvPr id="18" name="Text 15"/>
          <p:cNvSpPr/>
          <p:nvPr/>
        </p:nvSpPr>
        <p:spPr>
          <a:xfrm>
            <a:off x="777240" y="3858768"/>
            <a:ext cx="5065776"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Habit (habits)</a:t>
            </a:r>
            <a:endParaRPr lang="en-US" sz="1700" dirty="0"/>
          </a:p>
        </p:txBody>
      </p:sp>
      <p:sp>
        <p:nvSpPr>
          <p:cNvPr id="19" name="Text 16"/>
          <p:cNvSpPr/>
          <p:nvPr/>
        </p:nvSpPr>
        <p:spPr>
          <a:xfrm>
            <a:off x="777240" y="4361688"/>
            <a:ext cx="5020056" cy="1444752"/>
          </a:xfrm>
          <a:prstGeom prst="rect">
            <a:avLst/>
          </a:prstGeom>
          <a:noFill/>
          <a:ln/>
        </p:spPr>
        <p:txBody>
          <a:bodyPr wrap="square" lIns="0" tIns="0" rIns="0" bIns="0" rtlCol="0" anchor="t"/>
          <a:lstStyle/>
          <a:p>
            <a:pPr marL="177800" indent="-177800">
              <a:spcAft>
                <a:spcPts val="400"/>
              </a:spcAft>
              <a:buSzPct val="100000"/>
              <a:buChar char="•"/>
            </a:pPr>
            <a:r>
              <a:rPr lang="en-US" sz="1450" dirty="0">
                <a:solidFill>
                  <a:srgbClr val="F2F1F6"/>
                </a:solidFill>
                <a:latin typeface="Calibri" pitchFamily="34" charset="0"/>
                <a:ea typeface="Calibri" pitchFamily="34" charset="-122"/>
                <a:cs typeface="Calibri" pitchFamily="34" charset="-120"/>
              </a:rPr>
              <a:t>owner, name (1-100), description (0-500)</a:t>
            </a:r>
            <a:endParaRPr lang="en-US" sz="1450" dirty="0"/>
          </a:p>
          <a:p>
            <a:pPr marL="177800" indent="-177800">
              <a:spcAft>
                <a:spcPts val="400"/>
              </a:spcAft>
              <a:buSzPct val="100000"/>
              <a:buChar char="•"/>
            </a:pPr>
            <a:r>
              <a:rPr lang="en-US" sz="1450" dirty="0">
                <a:solidFill>
                  <a:srgbClr val="F2F1F6"/>
                </a:solidFill>
                <a:latin typeface="Calibri" pitchFamily="34" charset="0"/>
                <a:ea typeface="Calibri" pitchFamily="34" charset="-122"/>
                <a:cs typeface="Calibri" pitchFamily="34" charset="-120"/>
              </a:rPr>
              <a:t>A habit is recurring; a one-off task is not a habit</a:t>
            </a:r>
            <a:endParaRPr lang="en-US" sz="1450" dirty="0"/>
          </a:p>
        </p:txBody>
      </p:sp>
      <p:sp>
        <p:nvSpPr>
          <p:cNvPr id="20" name="Shape 17"/>
          <p:cNvSpPr/>
          <p:nvPr/>
        </p:nvSpPr>
        <p:spPr>
          <a:xfrm>
            <a:off x="6208776" y="3749040"/>
            <a:ext cx="5431536" cy="2148840"/>
          </a:xfrm>
          <a:prstGeom prst="roundRect">
            <a:avLst>
              <a:gd name="adj" fmla="val 3404"/>
            </a:avLst>
          </a:prstGeom>
          <a:solidFill>
            <a:srgbClr val="23212B"/>
          </a:solidFill>
          <a:ln w="12700">
            <a:solidFill>
              <a:srgbClr val="3A3748"/>
            </a:solidFill>
            <a:prstDash val="solid"/>
          </a:ln>
        </p:spPr>
      </p:sp>
      <p:sp>
        <p:nvSpPr>
          <p:cNvPr id="21" name="Shape 18"/>
          <p:cNvSpPr/>
          <p:nvPr/>
        </p:nvSpPr>
        <p:spPr>
          <a:xfrm>
            <a:off x="6227064" y="3913632"/>
            <a:ext cx="64008" cy="365760"/>
          </a:xfrm>
          <a:prstGeom prst="rect">
            <a:avLst/>
          </a:prstGeom>
          <a:solidFill>
            <a:srgbClr val="2ECC71"/>
          </a:solidFill>
          <a:ln w="12700">
            <a:solidFill>
              <a:srgbClr val="2ECC71"/>
            </a:solidFill>
            <a:prstDash val="solid"/>
          </a:ln>
        </p:spPr>
      </p:sp>
      <p:sp>
        <p:nvSpPr>
          <p:cNvPr id="22" name="Text 19"/>
          <p:cNvSpPr/>
          <p:nvPr/>
        </p:nvSpPr>
        <p:spPr>
          <a:xfrm>
            <a:off x="6437376" y="3858768"/>
            <a:ext cx="5065776"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HabitEvent (habitevents)</a:t>
            </a:r>
            <a:endParaRPr lang="en-US" sz="1700" dirty="0"/>
          </a:p>
        </p:txBody>
      </p:sp>
      <p:sp>
        <p:nvSpPr>
          <p:cNvPr id="23" name="Text 20"/>
          <p:cNvSpPr/>
          <p:nvPr/>
        </p:nvSpPr>
        <p:spPr>
          <a:xfrm>
            <a:off x="6437376" y="4361688"/>
            <a:ext cx="5020056" cy="1444752"/>
          </a:xfrm>
          <a:prstGeom prst="rect">
            <a:avLst/>
          </a:prstGeom>
          <a:noFill/>
          <a:ln/>
        </p:spPr>
        <p:txBody>
          <a:bodyPr wrap="square" lIns="0" tIns="0" rIns="0" bIns="0" rtlCol="0" anchor="t"/>
          <a:lstStyle/>
          <a:p>
            <a:pPr marL="177800" indent="-177800">
              <a:spcAft>
                <a:spcPts val="400"/>
              </a:spcAft>
              <a:buSzPct val="100000"/>
              <a:buChar char="•"/>
            </a:pPr>
            <a:r>
              <a:rPr lang="en-US" sz="1450" dirty="0">
                <a:solidFill>
                  <a:srgbClr val="F2F1F6"/>
                </a:solidFill>
                <a:latin typeface="Calibri" pitchFamily="34" charset="0"/>
                <a:ea typeface="Calibri" pitchFamily="34" charset="-122"/>
                <a:cs typeface="Calibri" pitchFamily="34" charset="-120"/>
              </a:rPr>
              <a:t>owner, habit, date (YYYY-MM-DD)</a:t>
            </a:r>
            <a:endParaRPr lang="en-US" sz="1450" dirty="0"/>
          </a:p>
          <a:p>
            <a:pPr marL="177800" indent="-177800">
              <a:spcAft>
                <a:spcPts val="400"/>
              </a:spcAft>
              <a:buSzPct val="100000"/>
              <a:buChar char="•"/>
            </a:pPr>
            <a:r>
              <a:rPr lang="en-US" sz="1450" dirty="0">
                <a:solidFill>
                  <a:srgbClr val="F2F1F6"/>
                </a:solidFill>
                <a:latin typeface="Calibri" pitchFamily="34" charset="0"/>
                <a:ea typeface="Calibri" pitchFamily="34" charset="-122"/>
                <a:cs typeface="Calibri" pitchFamily="34" charset="-120"/>
              </a:rPr>
              <a:t>Unique index on (habit, date): one completion per day</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Backend: validation</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BACKEND</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9</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sp>
        <p:nvSpPr>
          <p:cNvPr id="8" name="Shape 5"/>
          <p:cNvSpPr/>
          <p:nvPr/>
        </p:nvSpPr>
        <p:spPr>
          <a:xfrm>
            <a:off x="548640" y="1371600"/>
            <a:ext cx="5394960" cy="4480560"/>
          </a:xfrm>
          <a:prstGeom prst="roundRect">
            <a:avLst>
              <a:gd name="adj" fmla="val 1633"/>
            </a:avLst>
          </a:prstGeom>
          <a:solidFill>
            <a:srgbClr val="23212B"/>
          </a:solidFill>
          <a:ln w="12700">
            <a:solidFill>
              <a:srgbClr val="3A3748"/>
            </a:solidFill>
            <a:prstDash val="solid"/>
          </a:ln>
        </p:spPr>
      </p:sp>
      <p:sp>
        <p:nvSpPr>
          <p:cNvPr id="9" name="Text 6"/>
          <p:cNvSpPr/>
          <p:nvPr/>
        </p:nvSpPr>
        <p:spPr>
          <a:xfrm>
            <a:off x="777240" y="1481328"/>
            <a:ext cx="5029200"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Rules</a:t>
            </a:r>
            <a:endParaRPr lang="en-US" sz="1700" dirty="0"/>
          </a:p>
        </p:txBody>
      </p:sp>
      <p:sp>
        <p:nvSpPr>
          <p:cNvPr id="10" name="Text 7"/>
          <p:cNvSpPr/>
          <p:nvPr/>
        </p:nvSpPr>
        <p:spPr>
          <a:xfrm>
            <a:off x="777240" y="1984248"/>
            <a:ext cx="4983480" cy="3776472"/>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Title trimmed, 1 to 120 characters</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Status exactly todo, doing or done</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Due date must be a real date: 2026-02-30 is refused</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Email must be a valid address</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Name required, up to 100 characters</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Unknown fields are stripped (no forged owner)</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Query parameters (filters, tz, ranges) validated too</a:t>
            </a:r>
            <a:endParaRPr lang="en-US" sz="1550" dirty="0"/>
          </a:p>
        </p:txBody>
      </p:sp>
      <p:sp>
        <p:nvSpPr>
          <p:cNvPr id="11" name="Shape 8"/>
          <p:cNvSpPr/>
          <p:nvPr/>
        </p:nvSpPr>
        <p:spPr>
          <a:xfrm>
            <a:off x="6172200" y="1371600"/>
            <a:ext cx="5486400" cy="2377440"/>
          </a:xfrm>
          <a:prstGeom prst="roundRect">
            <a:avLst>
              <a:gd name="adj" fmla="val 2308"/>
            </a:avLst>
          </a:prstGeom>
          <a:solidFill>
            <a:srgbClr val="0F0E12"/>
          </a:solidFill>
          <a:ln w="12700">
            <a:solidFill>
              <a:srgbClr val="3A3748"/>
            </a:solidFill>
            <a:prstDash val="solid"/>
          </a:ln>
        </p:spPr>
      </p:sp>
      <p:sp>
        <p:nvSpPr>
          <p:cNvPr id="12" name="Text 9"/>
          <p:cNvSpPr/>
          <p:nvPr/>
        </p:nvSpPr>
        <p:spPr>
          <a:xfrm>
            <a:off x="6355080" y="1481328"/>
            <a:ext cx="5120640" cy="2157984"/>
          </a:xfrm>
          <a:prstGeom prst="rect">
            <a:avLst/>
          </a:prstGeom>
          <a:noFill/>
          <a:ln/>
        </p:spPr>
        <p:txBody>
          <a:bodyPr wrap="square" lIns="0" tIns="0" rIns="0" bIns="0" rtlCol="0" anchor="t"/>
          <a:lstStyle/>
          <a:p>
            <a:pPr indent="0" marL="0">
              <a:buNone/>
            </a:pPr>
            <a:r>
              <a:rPr lang="en-US" sz="1300" dirty="0">
                <a:solidFill>
                  <a:srgbClr val="CFCDE0"/>
                </a:solidFill>
                <a:latin typeface="Consolas" pitchFamily="34" charset="0"/>
                <a:ea typeface="Consolas" pitchFamily="34" charset="-122"/>
                <a:cs typeface="Consolas" pitchFamily="34" charset="-120"/>
              </a:rPr>
              <a:t>// 422 Unprocessable</a:t>
            </a:r>
            <a:endParaRPr lang="en-US" sz="1300" dirty="0"/>
          </a:p>
          <a:p>
            <a:pPr indent="0" marL="0">
              <a:buNone/>
            </a:pPr>
            <a:r>
              <a:rPr lang="en-US" sz="1300" dirty="0">
                <a:solidFill>
                  <a:srgbClr val="CFCDE0"/>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rgbClr val="CFCDE0"/>
                </a:solidFill>
                <a:latin typeface="Consolas" pitchFamily="34" charset="0"/>
                <a:ea typeface="Consolas" pitchFamily="34" charset="-122"/>
                <a:cs typeface="Consolas" pitchFamily="34" charset="-120"/>
              </a:rPr>
              <a:t>  "detail": "Validation failed",</a:t>
            </a:r>
            <a:endParaRPr lang="en-US" sz="1300" dirty="0"/>
          </a:p>
          <a:p>
            <a:pPr indent="0" marL="0">
              <a:buNone/>
            </a:pPr>
            <a:r>
              <a:rPr lang="en-US" sz="1300" dirty="0">
                <a:solidFill>
                  <a:srgbClr val="CFCDE0"/>
                </a:solidFill>
                <a:latin typeface="Consolas" pitchFamily="34" charset="0"/>
                <a:ea typeface="Consolas" pitchFamily="34" charset="-122"/>
                <a:cs typeface="Consolas" pitchFamily="34" charset="-120"/>
              </a:rPr>
              <a:t>  "errors": [</a:t>
            </a:r>
            <a:endParaRPr lang="en-US" sz="1300" dirty="0"/>
          </a:p>
          <a:p>
            <a:pPr indent="0" marL="0">
              <a:buNone/>
            </a:pPr>
            <a:r>
              <a:rPr lang="en-US" sz="1300" dirty="0">
                <a:solidFill>
                  <a:srgbClr val="CFCDE0"/>
                </a:solidFill>
                <a:latin typeface="Consolas" pitchFamily="34" charset="0"/>
                <a:ea typeface="Consolas" pitchFamily="34" charset="-122"/>
                <a:cs typeface="Consolas" pitchFamily="34" charset="-120"/>
              </a:rPr>
              <a:t>    { "field": "title",</a:t>
            </a:r>
            <a:endParaRPr lang="en-US" sz="1300" dirty="0"/>
          </a:p>
          <a:p>
            <a:pPr indent="0" marL="0">
              <a:buNone/>
            </a:pPr>
            <a:r>
              <a:rPr lang="en-US" sz="1300" dirty="0">
                <a:solidFill>
                  <a:srgbClr val="CFCDE0"/>
                </a:solidFill>
                <a:latin typeface="Consolas" pitchFamily="34" charset="0"/>
                <a:ea typeface="Consolas" pitchFamily="34" charset="-122"/>
                <a:cs typeface="Consolas" pitchFamily="34" charset="-120"/>
              </a:rPr>
              <a:t>      "message": "title must not be empty" },</a:t>
            </a:r>
            <a:endParaRPr lang="en-US" sz="1300" dirty="0"/>
          </a:p>
          <a:p>
            <a:pPr indent="0" marL="0">
              <a:buNone/>
            </a:pPr>
            <a:r>
              <a:rPr lang="en-US" sz="1300" dirty="0">
                <a:solidFill>
                  <a:srgbClr val="CFCDE0"/>
                </a:solidFill>
                <a:latin typeface="Consolas" pitchFamily="34" charset="0"/>
                <a:ea typeface="Consolas" pitchFamily="34" charset="-122"/>
                <a:cs typeface="Consolas" pitchFamily="34" charset="-120"/>
              </a:rPr>
              <a:t>    { "field": "dueDate",</a:t>
            </a:r>
            <a:endParaRPr lang="en-US" sz="1300" dirty="0"/>
          </a:p>
          <a:p>
            <a:pPr indent="0" marL="0">
              <a:buNone/>
            </a:pPr>
            <a:r>
              <a:rPr lang="en-US" sz="1300" dirty="0">
                <a:solidFill>
                  <a:srgbClr val="CFCDE0"/>
                </a:solidFill>
                <a:latin typeface="Consolas" pitchFamily="34" charset="0"/>
                <a:ea typeface="Consolas" pitchFamily="34" charset="-122"/>
                <a:cs typeface="Consolas" pitchFamily="34" charset="-120"/>
              </a:rPr>
              <a:t>      "message": "dueDate must be a valid date" }</a:t>
            </a:r>
            <a:endParaRPr lang="en-US" sz="1300" dirty="0"/>
          </a:p>
          <a:p>
            <a:pPr indent="0" marL="0">
              <a:buNone/>
            </a:pPr>
            <a:r>
              <a:rPr lang="en-US" sz="1300" dirty="0">
                <a:solidFill>
                  <a:srgbClr val="CFCDE0"/>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CFCDE0"/>
                </a:solidFill>
                <a:latin typeface="Consolas" pitchFamily="34" charset="0"/>
                <a:ea typeface="Consolas" pitchFamily="34" charset="-122"/>
                <a:cs typeface="Consolas" pitchFamily="34" charset="-120"/>
              </a:rPr>
              <a:t>}</a:t>
            </a:r>
            <a:endParaRPr lang="en-US" sz="1300" dirty="0"/>
          </a:p>
        </p:txBody>
      </p:sp>
      <p:sp>
        <p:nvSpPr>
          <p:cNvPr id="13" name="Shape 10"/>
          <p:cNvSpPr/>
          <p:nvPr/>
        </p:nvSpPr>
        <p:spPr>
          <a:xfrm>
            <a:off x="6172200" y="3931920"/>
            <a:ext cx="5486400" cy="1920240"/>
          </a:xfrm>
          <a:prstGeom prst="roundRect">
            <a:avLst>
              <a:gd name="adj" fmla="val 3810"/>
            </a:avLst>
          </a:prstGeom>
          <a:solidFill>
            <a:srgbClr val="23212B"/>
          </a:solidFill>
          <a:ln w="12700">
            <a:solidFill>
              <a:srgbClr val="3A3748"/>
            </a:solidFill>
            <a:prstDash val="solid"/>
          </a:ln>
        </p:spPr>
      </p:sp>
      <p:sp>
        <p:nvSpPr>
          <p:cNvPr id="14" name="Text 11"/>
          <p:cNvSpPr/>
          <p:nvPr/>
        </p:nvSpPr>
        <p:spPr>
          <a:xfrm>
            <a:off x="6400800" y="4041648"/>
            <a:ext cx="5120640"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Other error codes</a:t>
            </a:r>
            <a:endParaRPr lang="en-US" sz="1700" dirty="0"/>
          </a:p>
        </p:txBody>
      </p:sp>
      <p:sp>
        <p:nvSpPr>
          <p:cNvPr id="15" name="Text 12"/>
          <p:cNvSpPr/>
          <p:nvPr/>
        </p:nvSpPr>
        <p:spPr>
          <a:xfrm>
            <a:off x="6400800" y="4544568"/>
            <a:ext cx="5074920" cy="1216152"/>
          </a:xfrm>
          <a:prstGeom prst="rect">
            <a:avLst/>
          </a:prstGeom>
          <a:noFill/>
          <a:ln/>
        </p:spPr>
        <p:txBody>
          <a:bodyPr wrap="square" lIns="0" tIns="0" rIns="0" bIns="0" rtlCol="0" anchor="t"/>
          <a:lstStyle/>
          <a:p>
            <a:pPr marL="177800" indent="-177800">
              <a:spcAft>
                <a:spcPts val="400"/>
              </a:spcAft>
              <a:buSzPct val="100000"/>
              <a:buChar char="•"/>
            </a:pPr>
            <a:r>
              <a:rPr lang="en-US" sz="1450" dirty="0">
                <a:solidFill>
                  <a:srgbClr val="F2F1F6"/>
                </a:solidFill>
                <a:latin typeface="Calibri" pitchFamily="34" charset="0"/>
                <a:ea typeface="Calibri" pitchFamily="34" charset="-122"/>
                <a:cs typeface="Calibri" pitchFamily="34" charset="-120"/>
              </a:rPr>
              <a:t>400 email already registered, malformed JSON</a:t>
            </a:r>
            <a:endParaRPr lang="en-US" sz="1450" dirty="0"/>
          </a:p>
          <a:p>
            <a:pPr marL="177800" indent="-177800">
              <a:spcAft>
                <a:spcPts val="400"/>
              </a:spcAft>
              <a:buSzPct val="100000"/>
              <a:buChar char="•"/>
            </a:pPr>
            <a:r>
              <a:rPr lang="en-US" sz="1450" dirty="0">
                <a:solidFill>
                  <a:srgbClr val="F2F1F6"/>
                </a:solidFill>
                <a:latin typeface="Calibri" pitchFamily="34" charset="0"/>
                <a:ea typeface="Calibri" pitchFamily="34" charset="-122"/>
                <a:cs typeface="Calibri" pitchFamily="34" charset="-120"/>
              </a:rPr>
              <a:t>401 not logged in or bad credentials</a:t>
            </a:r>
            <a:endParaRPr lang="en-US" sz="1450" dirty="0"/>
          </a:p>
          <a:p>
            <a:pPr marL="177800" indent="-177800">
              <a:spcAft>
                <a:spcPts val="400"/>
              </a:spcAft>
              <a:buSzPct val="100000"/>
              <a:buChar char="•"/>
            </a:pPr>
            <a:r>
              <a:rPr lang="en-US" sz="1450" dirty="0">
                <a:solidFill>
                  <a:srgbClr val="F2F1F6"/>
                </a:solidFill>
                <a:latin typeface="Calibri" pitchFamily="34" charset="0"/>
                <a:ea typeface="Calibri" pitchFamily="34" charset="-122"/>
                <a:cs typeface="Calibri" pitchFamily="34" charset="-120"/>
              </a:rPr>
              <a:t>404 not found (or not yours)</a:t>
            </a:r>
            <a:endParaRPr lang="en-US" sz="1450" dirty="0"/>
          </a:p>
          <a:p>
            <a:pPr marL="177800" indent="-177800">
              <a:spcAft>
                <a:spcPts val="400"/>
              </a:spcAft>
              <a:buSzPct val="100000"/>
              <a:buChar char="•"/>
            </a:pPr>
            <a:r>
              <a:rPr lang="en-US" sz="1450" dirty="0">
                <a:solidFill>
                  <a:srgbClr val="F2F1F6"/>
                </a:solidFill>
                <a:latin typeface="Calibri" pitchFamily="34" charset="0"/>
                <a:ea typeface="Calibri" pitchFamily="34" charset="-122"/>
                <a:cs typeface="Calibri" pitchFamily="34" charset="-120"/>
              </a:rPr>
              <a:t>500 unexpected, logged server-side</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Backend: authentication and security</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BACKEND</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10</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sp>
        <p:nvSpPr>
          <p:cNvPr id="8" name="Shape 5"/>
          <p:cNvSpPr/>
          <p:nvPr/>
        </p:nvSpPr>
        <p:spPr>
          <a:xfrm>
            <a:off x="548640" y="1417320"/>
            <a:ext cx="2580894" cy="1554480"/>
          </a:xfrm>
          <a:prstGeom prst="roundRect">
            <a:avLst>
              <a:gd name="adj" fmla="val 4706"/>
            </a:avLst>
          </a:prstGeom>
          <a:solidFill>
            <a:srgbClr val="23212B"/>
          </a:solidFill>
          <a:ln w="19050">
            <a:solidFill>
              <a:srgbClr val="6C5CE7"/>
            </a:solidFill>
            <a:prstDash val="solid"/>
          </a:ln>
        </p:spPr>
      </p:sp>
      <p:sp>
        <p:nvSpPr>
          <p:cNvPr id="9" name="Text 6"/>
          <p:cNvSpPr/>
          <p:nvPr/>
        </p:nvSpPr>
        <p:spPr>
          <a:xfrm>
            <a:off x="621792" y="1508760"/>
            <a:ext cx="2434590" cy="411480"/>
          </a:xfrm>
          <a:prstGeom prst="rect">
            <a:avLst/>
          </a:prstGeom>
          <a:noFill/>
          <a:ln/>
        </p:spPr>
        <p:txBody>
          <a:bodyPr wrap="square" lIns="0" tIns="0" rIns="0" bIns="0" rtlCol="0" anchor="ctr"/>
          <a:lstStyle/>
          <a:p>
            <a:pPr algn="ctr" indent="0" marL="0">
              <a:buNone/>
            </a:pPr>
            <a:r>
              <a:rPr lang="en-US" sz="1500" b="1" dirty="0">
                <a:solidFill>
                  <a:srgbClr val="F2F1F6"/>
                </a:solidFill>
                <a:latin typeface="Calibri" pitchFamily="34" charset="0"/>
                <a:ea typeface="Calibri" pitchFamily="34" charset="-122"/>
                <a:cs typeface="Calibri" pitchFamily="34" charset="-120"/>
              </a:rPr>
              <a:t>Register / login</a:t>
            </a:r>
            <a:endParaRPr lang="en-US" sz="1500" dirty="0"/>
          </a:p>
        </p:txBody>
      </p:sp>
      <p:sp>
        <p:nvSpPr>
          <p:cNvPr id="10" name="Text 7"/>
          <p:cNvSpPr/>
          <p:nvPr/>
        </p:nvSpPr>
        <p:spPr>
          <a:xfrm>
            <a:off x="640080" y="1920240"/>
            <a:ext cx="2398014" cy="960120"/>
          </a:xfrm>
          <a:prstGeom prst="rect">
            <a:avLst/>
          </a:prstGeom>
          <a:noFill/>
          <a:ln/>
        </p:spPr>
        <p:txBody>
          <a:bodyPr wrap="square" lIns="0" tIns="0" rIns="0" bIns="0" rtlCol="0" anchor="t"/>
          <a:lstStyle/>
          <a:p>
            <a:pPr algn="ctr" indent="0" marL="0">
              <a:buNone/>
            </a:pPr>
            <a:r>
              <a:rPr lang="en-US" sz="1200" dirty="0">
                <a:solidFill>
                  <a:srgbClr val="A9A7B8"/>
                </a:solidFill>
                <a:latin typeface="Calibri" pitchFamily="34" charset="0"/>
                <a:ea typeface="Calibri" pitchFamily="34" charset="-122"/>
                <a:cs typeface="Calibri" pitchFamily="34" charset="-120"/>
              </a:rPr>
              <a:t>bcrypt hash (12 rounds) stored, never the password</a:t>
            </a:r>
            <a:endParaRPr lang="en-US" sz="1200" dirty="0"/>
          </a:p>
        </p:txBody>
      </p:sp>
      <p:sp>
        <p:nvSpPr>
          <p:cNvPr id="11" name="Text 8"/>
          <p:cNvSpPr/>
          <p:nvPr/>
        </p:nvSpPr>
        <p:spPr>
          <a:xfrm>
            <a:off x="3129534" y="2011680"/>
            <a:ext cx="256032" cy="365760"/>
          </a:xfrm>
          <a:prstGeom prst="rect">
            <a:avLst/>
          </a:prstGeom>
          <a:noFill/>
          <a:ln/>
        </p:spPr>
        <p:txBody>
          <a:bodyPr wrap="square" lIns="0" tIns="0" rIns="0" bIns="0" rtlCol="0" anchor="ctr"/>
          <a:lstStyle/>
          <a:p>
            <a:pPr algn="ctr" indent="0" marL="0">
              <a:buNone/>
            </a:pPr>
            <a:r>
              <a:rPr lang="en-US" sz="1200" dirty="0">
                <a:solidFill>
                  <a:srgbClr val="6C5CE7"/>
                </a:solidFill>
              </a:rPr>
              <a:t>▶</a:t>
            </a:r>
            <a:endParaRPr lang="en-US" sz="1200" dirty="0"/>
          </a:p>
        </p:txBody>
      </p:sp>
      <p:sp>
        <p:nvSpPr>
          <p:cNvPr id="12" name="Shape 9"/>
          <p:cNvSpPr/>
          <p:nvPr/>
        </p:nvSpPr>
        <p:spPr>
          <a:xfrm>
            <a:off x="3385566" y="1417320"/>
            <a:ext cx="2580894" cy="1554480"/>
          </a:xfrm>
          <a:prstGeom prst="roundRect">
            <a:avLst>
              <a:gd name="adj" fmla="val 4706"/>
            </a:avLst>
          </a:prstGeom>
          <a:solidFill>
            <a:srgbClr val="23212B"/>
          </a:solidFill>
          <a:ln w="19050">
            <a:solidFill>
              <a:srgbClr val="6C5CE7"/>
            </a:solidFill>
            <a:prstDash val="solid"/>
          </a:ln>
        </p:spPr>
      </p:sp>
      <p:sp>
        <p:nvSpPr>
          <p:cNvPr id="13" name="Text 10"/>
          <p:cNvSpPr/>
          <p:nvPr/>
        </p:nvSpPr>
        <p:spPr>
          <a:xfrm>
            <a:off x="3458718" y="1508760"/>
            <a:ext cx="2434590" cy="411480"/>
          </a:xfrm>
          <a:prstGeom prst="rect">
            <a:avLst/>
          </a:prstGeom>
          <a:noFill/>
          <a:ln/>
        </p:spPr>
        <p:txBody>
          <a:bodyPr wrap="square" lIns="0" tIns="0" rIns="0" bIns="0" rtlCol="0" anchor="ctr"/>
          <a:lstStyle/>
          <a:p>
            <a:pPr algn="ctr" indent="0" marL="0">
              <a:buNone/>
            </a:pPr>
            <a:r>
              <a:rPr lang="en-US" sz="1500" b="1" dirty="0">
                <a:solidFill>
                  <a:srgbClr val="F2F1F6"/>
                </a:solidFill>
                <a:latin typeface="Calibri" pitchFamily="34" charset="0"/>
                <a:ea typeface="Calibri" pitchFamily="34" charset="-122"/>
                <a:cs typeface="Calibri" pitchFamily="34" charset="-120"/>
              </a:rPr>
              <a:t>JWT issued</a:t>
            </a:r>
            <a:endParaRPr lang="en-US" sz="1500" dirty="0"/>
          </a:p>
        </p:txBody>
      </p:sp>
      <p:sp>
        <p:nvSpPr>
          <p:cNvPr id="14" name="Text 11"/>
          <p:cNvSpPr/>
          <p:nvPr/>
        </p:nvSpPr>
        <p:spPr>
          <a:xfrm>
            <a:off x="3477006" y="1920240"/>
            <a:ext cx="2398014" cy="960120"/>
          </a:xfrm>
          <a:prstGeom prst="rect">
            <a:avLst/>
          </a:prstGeom>
          <a:noFill/>
          <a:ln/>
        </p:spPr>
        <p:txBody>
          <a:bodyPr wrap="square" lIns="0" tIns="0" rIns="0" bIns="0" rtlCol="0" anchor="t"/>
          <a:lstStyle/>
          <a:p>
            <a:pPr algn="ctr" indent="0" marL="0">
              <a:buNone/>
            </a:pPr>
            <a:r>
              <a:rPr lang="en-US" sz="1200" dirty="0">
                <a:solidFill>
                  <a:srgbClr val="A9A7B8"/>
                </a:solidFill>
                <a:latin typeface="Calibri" pitchFamily="34" charset="0"/>
                <a:ea typeface="Calibri" pitchFamily="34" charset="-122"/>
                <a:cs typeface="Calibri" pitchFamily="34" charset="-120"/>
              </a:rPr>
              <a:t>HS256, subject = user id, 7 days</a:t>
            </a:r>
            <a:endParaRPr lang="en-US" sz="1200" dirty="0"/>
          </a:p>
        </p:txBody>
      </p:sp>
      <p:sp>
        <p:nvSpPr>
          <p:cNvPr id="15" name="Text 12"/>
          <p:cNvSpPr/>
          <p:nvPr/>
        </p:nvSpPr>
        <p:spPr>
          <a:xfrm>
            <a:off x="5966460" y="2011680"/>
            <a:ext cx="256032" cy="365760"/>
          </a:xfrm>
          <a:prstGeom prst="rect">
            <a:avLst/>
          </a:prstGeom>
          <a:noFill/>
          <a:ln/>
        </p:spPr>
        <p:txBody>
          <a:bodyPr wrap="square" lIns="0" tIns="0" rIns="0" bIns="0" rtlCol="0" anchor="ctr"/>
          <a:lstStyle/>
          <a:p>
            <a:pPr algn="ctr" indent="0" marL="0">
              <a:buNone/>
            </a:pPr>
            <a:r>
              <a:rPr lang="en-US" sz="1200" dirty="0">
                <a:solidFill>
                  <a:srgbClr val="6C5CE7"/>
                </a:solidFill>
              </a:rPr>
              <a:t>▶</a:t>
            </a:r>
            <a:endParaRPr lang="en-US" sz="1200" dirty="0"/>
          </a:p>
        </p:txBody>
      </p:sp>
      <p:sp>
        <p:nvSpPr>
          <p:cNvPr id="16" name="Shape 13"/>
          <p:cNvSpPr/>
          <p:nvPr/>
        </p:nvSpPr>
        <p:spPr>
          <a:xfrm>
            <a:off x="6222492" y="1417320"/>
            <a:ext cx="2580894" cy="1554480"/>
          </a:xfrm>
          <a:prstGeom prst="roundRect">
            <a:avLst>
              <a:gd name="adj" fmla="val 4706"/>
            </a:avLst>
          </a:prstGeom>
          <a:solidFill>
            <a:srgbClr val="23212B"/>
          </a:solidFill>
          <a:ln w="19050">
            <a:solidFill>
              <a:srgbClr val="6C5CE7"/>
            </a:solidFill>
            <a:prstDash val="solid"/>
          </a:ln>
        </p:spPr>
      </p:sp>
      <p:sp>
        <p:nvSpPr>
          <p:cNvPr id="17" name="Text 14"/>
          <p:cNvSpPr/>
          <p:nvPr/>
        </p:nvSpPr>
        <p:spPr>
          <a:xfrm>
            <a:off x="6295644" y="1508760"/>
            <a:ext cx="2434590" cy="411480"/>
          </a:xfrm>
          <a:prstGeom prst="rect">
            <a:avLst/>
          </a:prstGeom>
          <a:noFill/>
          <a:ln/>
        </p:spPr>
        <p:txBody>
          <a:bodyPr wrap="square" lIns="0" tIns="0" rIns="0" bIns="0" rtlCol="0" anchor="ctr"/>
          <a:lstStyle/>
          <a:p>
            <a:pPr algn="ctr" indent="0" marL="0">
              <a:buNone/>
            </a:pPr>
            <a:r>
              <a:rPr lang="en-US" sz="1500" b="1" dirty="0">
                <a:solidFill>
                  <a:srgbClr val="F2F1F6"/>
                </a:solidFill>
                <a:latin typeface="Calibri" pitchFamily="34" charset="0"/>
                <a:ea typeface="Calibri" pitchFamily="34" charset="-122"/>
                <a:cs typeface="Calibri" pitchFamily="34" charset="-120"/>
              </a:rPr>
              <a:t>Client stores it</a:t>
            </a:r>
            <a:endParaRPr lang="en-US" sz="1500" dirty="0"/>
          </a:p>
        </p:txBody>
      </p:sp>
      <p:sp>
        <p:nvSpPr>
          <p:cNvPr id="18" name="Text 15"/>
          <p:cNvSpPr/>
          <p:nvPr/>
        </p:nvSpPr>
        <p:spPr>
          <a:xfrm>
            <a:off x="6313932" y="1920240"/>
            <a:ext cx="2398014" cy="960120"/>
          </a:xfrm>
          <a:prstGeom prst="rect">
            <a:avLst/>
          </a:prstGeom>
          <a:noFill/>
          <a:ln/>
        </p:spPr>
        <p:txBody>
          <a:bodyPr wrap="square" lIns="0" tIns="0" rIns="0" bIns="0" rtlCol="0" anchor="t"/>
          <a:lstStyle/>
          <a:p>
            <a:pPr algn="ctr" indent="0" marL="0">
              <a:buNone/>
            </a:pPr>
            <a:r>
              <a:rPr lang="en-US" sz="1200" dirty="0">
                <a:solidFill>
                  <a:srgbClr val="A9A7B8"/>
                </a:solidFill>
                <a:latin typeface="Calibri" pitchFamily="34" charset="0"/>
                <a:ea typeface="Calibri" pitchFamily="34" charset="-122"/>
                <a:cs typeface="Calibri" pitchFamily="34" charset="-120"/>
              </a:rPr>
              <a:t>localStorage on web, AsyncStorage on mobile</a:t>
            </a:r>
            <a:endParaRPr lang="en-US" sz="1200" dirty="0"/>
          </a:p>
        </p:txBody>
      </p:sp>
      <p:sp>
        <p:nvSpPr>
          <p:cNvPr id="19" name="Text 16"/>
          <p:cNvSpPr/>
          <p:nvPr/>
        </p:nvSpPr>
        <p:spPr>
          <a:xfrm>
            <a:off x="8803386" y="2011680"/>
            <a:ext cx="256032" cy="365760"/>
          </a:xfrm>
          <a:prstGeom prst="rect">
            <a:avLst/>
          </a:prstGeom>
          <a:noFill/>
          <a:ln/>
        </p:spPr>
        <p:txBody>
          <a:bodyPr wrap="square" lIns="0" tIns="0" rIns="0" bIns="0" rtlCol="0" anchor="ctr"/>
          <a:lstStyle/>
          <a:p>
            <a:pPr algn="ctr" indent="0" marL="0">
              <a:buNone/>
            </a:pPr>
            <a:r>
              <a:rPr lang="en-US" sz="1200" dirty="0">
                <a:solidFill>
                  <a:srgbClr val="6C5CE7"/>
                </a:solidFill>
              </a:rPr>
              <a:t>▶</a:t>
            </a:r>
            <a:endParaRPr lang="en-US" sz="1200" dirty="0"/>
          </a:p>
        </p:txBody>
      </p:sp>
      <p:sp>
        <p:nvSpPr>
          <p:cNvPr id="20" name="Shape 17"/>
          <p:cNvSpPr/>
          <p:nvPr/>
        </p:nvSpPr>
        <p:spPr>
          <a:xfrm>
            <a:off x="9059418" y="1417320"/>
            <a:ext cx="2580894" cy="1554480"/>
          </a:xfrm>
          <a:prstGeom prst="roundRect">
            <a:avLst>
              <a:gd name="adj" fmla="val 4706"/>
            </a:avLst>
          </a:prstGeom>
          <a:solidFill>
            <a:srgbClr val="23212B"/>
          </a:solidFill>
          <a:ln w="19050">
            <a:solidFill>
              <a:srgbClr val="6C5CE7"/>
            </a:solidFill>
            <a:prstDash val="solid"/>
          </a:ln>
        </p:spPr>
      </p:sp>
      <p:sp>
        <p:nvSpPr>
          <p:cNvPr id="21" name="Text 18"/>
          <p:cNvSpPr/>
          <p:nvPr/>
        </p:nvSpPr>
        <p:spPr>
          <a:xfrm>
            <a:off x="9132570" y="1508760"/>
            <a:ext cx="2434590" cy="411480"/>
          </a:xfrm>
          <a:prstGeom prst="rect">
            <a:avLst/>
          </a:prstGeom>
          <a:noFill/>
          <a:ln/>
        </p:spPr>
        <p:txBody>
          <a:bodyPr wrap="square" lIns="0" tIns="0" rIns="0" bIns="0" rtlCol="0" anchor="ctr"/>
          <a:lstStyle/>
          <a:p>
            <a:pPr algn="ctr" indent="0" marL="0">
              <a:buNone/>
            </a:pPr>
            <a:r>
              <a:rPr lang="en-US" sz="1500" b="1" dirty="0">
                <a:solidFill>
                  <a:srgbClr val="F2F1F6"/>
                </a:solidFill>
                <a:latin typeface="Calibri" pitchFamily="34" charset="0"/>
                <a:ea typeface="Calibri" pitchFamily="34" charset="-122"/>
                <a:cs typeface="Calibri" pitchFamily="34" charset="-120"/>
              </a:rPr>
              <a:t>requireAuth</a:t>
            </a:r>
            <a:endParaRPr lang="en-US" sz="1500" dirty="0"/>
          </a:p>
        </p:txBody>
      </p:sp>
      <p:sp>
        <p:nvSpPr>
          <p:cNvPr id="22" name="Text 19"/>
          <p:cNvSpPr/>
          <p:nvPr/>
        </p:nvSpPr>
        <p:spPr>
          <a:xfrm>
            <a:off x="9150858" y="1920240"/>
            <a:ext cx="2398014" cy="960120"/>
          </a:xfrm>
          <a:prstGeom prst="rect">
            <a:avLst/>
          </a:prstGeom>
          <a:noFill/>
          <a:ln/>
        </p:spPr>
        <p:txBody>
          <a:bodyPr wrap="square" lIns="0" tIns="0" rIns="0" bIns="0" rtlCol="0" anchor="t"/>
          <a:lstStyle/>
          <a:p>
            <a:pPr algn="ctr" indent="0" marL="0">
              <a:buNone/>
            </a:pPr>
            <a:r>
              <a:rPr lang="en-US" sz="1200" dirty="0">
                <a:solidFill>
                  <a:srgbClr val="A9A7B8"/>
                </a:solidFill>
                <a:latin typeface="Calibri" pitchFamily="34" charset="0"/>
                <a:ea typeface="Calibri" pitchFamily="34" charset="-122"/>
                <a:cs typeface="Calibri" pitchFamily="34" charset="-120"/>
              </a:rPr>
              <a:t>Bearer token decoded, user loaded, else 401</a:t>
            </a:r>
            <a:endParaRPr lang="en-US" sz="1200" dirty="0"/>
          </a:p>
        </p:txBody>
      </p:sp>
      <p:sp>
        <p:nvSpPr>
          <p:cNvPr id="23" name="Shape 20"/>
          <p:cNvSpPr/>
          <p:nvPr/>
        </p:nvSpPr>
        <p:spPr>
          <a:xfrm>
            <a:off x="548640" y="3291840"/>
            <a:ext cx="5440680" cy="2651760"/>
          </a:xfrm>
          <a:prstGeom prst="roundRect">
            <a:avLst>
              <a:gd name="adj" fmla="val 2759"/>
            </a:avLst>
          </a:prstGeom>
          <a:solidFill>
            <a:srgbClr val="23212B"/>
          </a:solidFill>
          <a:ln w="12700">
            <a:solidFill>
              <a:srgbClr val="3A3748"/>
            </a:solidFill>
            <a:prstDash val="solid"/>
          </a:ln>
        </p:spPr>
      </p:sp>
      <p:sp>
        <p:nvSpPr>
          <p:cNvPr id="24" name="Shape 21"/>
          <p:cNvSpPr/>
          <p:nvPr/>
        </p:nvSpPr>
        <p:spPr>
          <a:xfrm>
            <a:off x="566928" y="3456432"/>
            <a:ext cx="64008" cy="365760"/>
          </a:xfrm>
          <a:prstGeom prst="rect">
            <a:avLst/>
          </a:prstGeom>
          <a:solidFill>
            <a:srgbClr val="2ECC71"/>
          </a:solidFill>
          <a:ln w="12700">
            <a:solidFill>
              <a:srgbClr val="2ECC71"/>
            </a:solidFill>
            <a:prstDash val="solid"/>
          </a:ln>
        </p:spPr>
      </p:sp>
      <p:sp>
        <p:nvSpPr>
          <p:cNvPr id="25" name="Text 22"/>
          <p:cNvSpPr/>
          <p:nvPr/>
        </p:nvSpPr>
        <p:spPr>
          <a:xfrm>
            <a:off x="777240" y="3401568"/>
            <a:ext cx="5074920"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Ownership</a:t>
            </a:r>
            <a:endParaRPr lang="en-US" sz="1700" dirty="0"/>
          </a:p>
        </p:txBody>
      </p:sp>
      <p:sp>
        <p:nvSpPr>
          <p:cNvPr id="26" name="Text 23"/>
          <p:cNvSpPr/>
          <p:nvPr/>
        </p:nvSpPr>
        <p:spPr>
          <a:xfrm>
            <a:off x="777240" y="3904488"/>
            <a:ext cx="5029200" cy="1947672"/>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Every service query includes the user id</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Someone else's task, habit or event: 404, as if it did not exist</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owner cannot be changed through the API</a:t>
            </a:r>
            <a:endParaRPr lang="en-US" sz="1550" dirty="0"/>
          </a:p>
        </p:txBody>
      </p:sp>
      <p:sp>
        <p:nvSpPr>
          <p:cNvPr id="27" name="Shape 24"/>
          <p:cNvSpPr/>
          <p:nvPr/>
        </p:nvSpPr>
        <p:spPr>
          <a:xfrm>
            <a:off x="6217920" y="3291840"/>
            <a:ext cx="5440680" cy="2651760"/>
          </a:xfrm>
          <a:prstGeom prst="roundRect">
            <a:avLst>
              <a:gd name="adj" fmla="val 2759"/>
            </a:avLst>
          </a:prstGeom>
          <a:solidFill>
            <a:srgbClr val="23212B"/>
          </a:solidFill>
          <a:ln w="12700">
            <a:solidFill>
              <a:srgbClr val="3A3748"/>
            </a:solidFill>
            <a:prstDash val="solid"/>
          </a:ln>
        </p:spPr>
      </p:sp>
      <p:sp>
        <p:nvSpPr>
          <p:cNvPr id="28" name="Shape 25"/>
          <p:cNvSpPr/>
          <p:nvPr/>
        </p:nvSpPr>
        <p:spPr>
          <a:xfrm>
            <a:off x="6236208" y="3456432"/>
            <a:ext cx="64008" cy="365760"/>
          </a:xfrm>
          <a:prstGeom prst="rect">
            <a:avLst/>
          </a:prstGeom>
          <a:solidFill>
            <a:srgbClr val="E5484D"/>
          </a:solidFill>
          <a:ln w="12700">
            <a:solidFill>
              <a:srgbClr val="E5484D"/>
            </a:solidFill>
            <a:prstDash val="solid"/>
          </a:ln>
        </p:spPr>
      </p:sp>
      <p:sp>
        <p:nvSpPr>
          <p:cNvPr id="29" name="Text 26"/>
          <p:cNvSpPr/>
          <p:nvPr/>
        </p:nvSpPr>
        <p:spPr>
          <a:xfrm>
            <a:off x="6446520" y="3401568"/>
            <a:ext cx="5074920"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Token checks (tested)</a:t>
            </a:r>
            <a:endParaRPr lang="en-US" sz="1700" dirty="0"/>
          </a:p>
        </p:txBody>
      </p:sp>
      <p:sp>
        <p:nvSpPr>
          <p:cNvPr id="30" name="Text 27"/>
          <p:cNvSpPr/>
          <p:nvPr/>
        </p:nvSpPr>
        <p:spPr>
          <a:xfrm>
            <a:off x="6446520" y="3904488"/>
            <a:ext cx="5029200" cy="1947672"/>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Tampered, expired, wrong-secret and alg: none tokens are rejected</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Id-based tokens, with legacy email tokens still accepted</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Set a strong SECRET_KEY outside development</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Backend: services (business logic)</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BACKEND</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11</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108960"/>
                <a:gridCol w="7982712"/>
              </a:tblGrid>
              <a:tr h="3840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Service</a:t>
                      </a:r>
                      <a:endParaRPr lang="en-US" sz="1400" dirty="0">
                        <a:latin typeface="Calibri" charset="0"/>
                        <a:ea typeface="Calibri" charset="0"/>
                        <a:cs typeface="Calibri" charset="0"/>
                      </a:endParaRPr>
                    </a:p>
                  </a:txBody>
                  <a:tcPr marL="91440" marR="91440" marT="36576" marB="36576">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6C5CE7"/>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it does</a:t>
                      </a:r>
                      <a:endParaRPr lang="en-US" sz="1400" dirty="0">
                        <a:latin typeface="Calibri" charset="0"/>
                        <a:ea typeface="Calibri" charset="0"/>
                        <a:cs typeface="Calibri" charset="0"/>
                      </a:endParaRPr>
                    </a:p>
                  </a:txBody>
                  <a:tcPr marL="91440" marR="91440" marT="36576" marB="36576">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6C5CE7"/>
                    </a:solidFill>
                  </a:tcPr>
                </a:tc>
              </a:tr>
              <a:tr h="868680">
                <a:tc>
                  <a:txBody>
                    <a:bodyPr/>
                    <a:lstStyle/>
                    <a:p>
                      <a:pPr indent="0" marL="0">
                        <a:buNone/>
                      </a:pPr>
                      <a:r>
                        <a:rPr lang="en-US" sz="1400" dirty="0">
                          <a:solidFill>
                            <a:srgbClr val="F2F1F6"/>
                          </a:solidFill>
                          <a:latin typeface="Calibri" pitchFamily="34" charset="0"/>
                          <a:ea typeface="Calibri" pitchFamily="34" charset="-122"/>
                          <a:cs typeface="Calibri" pitchFamily="34" charset="-120"/>
                        </a:rPr>
                        <a:t>taskService</a:t>
                      </a:r>
                      <a:endParaRPr lang="en-US" sz="14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c>
                  <a:txBody>
                    <a:bodyPr/>
                    <a:lstStyle/>
                    <a:p>
                      <a:pPr indent="0" marL="0">
                        <a:buNone/>
                      </a:pPr>
                      <a:r>
                        <a:rPr lang="en-US" sz="1400" dirty="0">
                          <a:solidFill>
                            <a:srgbClr val="F2F1F6"/>
                          </a:solidFill>
                          <a:latin typeface="Calibri" pitchFamily="34" charset="0"/>
                          <a:ea typeface="Calibri" pitchFamily="34" charset="-122"/>
                          <a:cs typeface="Calibri" pitchFamily="34" charset="-120"/>
                        </a:rPr>
                        <a:t>List with filters (status, priority, due range, no date), count by status, create, read, update, delete. Stamps and clears completedAt when the status changes to or from done</a:t>
                      </a:r>
                      <a:endParaRPr lang="en-US" sz="14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r>
              <a:tr h="868680">
                <a:tc>
                  <a:txBody>
                    <a:bodyPr/>
                    <a:lstStyle/>
                    <a:p>
                      <a:pPr indent="0" marL="0">
                        <a:buNone/>
                      </a:pPr>
                      <a:r>
                        <a:rPr lang="en-US" sz="1400" dirty="0">
                          <a:solidFill>
                            <a:srgbClr val="F2F1F6"/>
                          </a:solidFill>
                          <a:latin typeface="Calibri" pitchFamily="34" charset="0"/>
                          <a:ea typeface="Calibri" pitchFamily="34" charset="-122"/>
                          <a:cs typeface="Calibri" pitchFamily="34" charset="-120"/>
                        </a:rPr>
                        <a:t>habitService</a:t>
                      </a:r>
                      <a:endParaRPr lang="en-US" sz="14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c>
                  <a:txBody>
                    <a:bodyPr/>
                    <a:lstStyle/>
                    <a:p>
                      <a:pPr indent="0" marL="0">
                        <a:buNone/>
                      </a:pPr>
                      <a:r>
                        <a:rPr lang="en-US" sz="1400" dirty="0">
                          <a:solidFill>
                            <a:srgbClr val="F2F1F6"/>
                          </a:solidFill>
                          <a:latin typeface="Calibri" pitchFamily="34" charset="0"/>
                          <a:ea typeface="Calibri" pitchFamily="34" charset="-122"/>
                          <a:cs typeface="Calibri" pitchFamily="34" charset="-120"/>
                        </a:rPr>
                        <a:t>CRUD for habits and dated events; optionally returns the days each habit was done in a range; deleting a habit deletes its events; adding an existing day returns the existing event</a:t>
                      </a:r>
                      <a:endParaRPr lang="en-US" sz="14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r>
              <a:tr h="868680">
                <a:tc>
                  <a:txBody>
                    <a:bodyPr/>
                    <a:lstStyle/>
                    <a:p>
                      <a:pPr indent="0" marL="0">
                        <a:buNone/>
                      </a:pPr>
                      <a:r>
                        <a:rPr lang="en-US" sz="1400" dirty="0">
                          <a:solidFill>
                            <a:srgbClr val="F2F1F6"/>
                          </a:solidFill>
                          <a:latin typeface="Calibri" pitchFamily="34" charset="0"/>
                          <a:ea typeface="Calibri" pitchFamily="34" charset="-122"/>
                          <a:cs typeface="Calibri" pitchFamily="34" charset="-120"/>
                        </a:rPr>
                        <a:t>statsService + statsCalculations</a:t>
                      </a:r>
                      <a:endParaRPr lang="en-US" sz="14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c>
                  <a:txBody>
                    <a:bodyPr/>
                    <a:lstStyle/>
                    <a:p>
                      <a:pPr indent="0" marL="0">
                        <a:buNone/>
                      </a:pPr>
                      <a:r>
                        <a:rPr lang="en-US" sz="1400" dirty="0">
                          <a:solidFill>
                            <a:srgbClr val="F2F1F6"/>
                          </a:solidFill>
                          <a:latin typeface="Calibri" pitchFamily="34" charset="0"/>
                          <a:ea typeface="Calibri" pitchFamily="34" charset="-122"/>
                          <a:cs typeface="Calibri" pitchFamily="34" charset="-120"/>
                        </a:rPr>
                        <a:t>Loads completed tasks and habit events, then builds the heatmap and the completion rates with pure functions</a:t>
                      </a:r>
                      <a:endParaRPr lang="en-US" sz="14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r>
              <a:tr h="868680">
                <a:tc>
                  <a:txBody>
                    <a:bodyPr/>
                    <a:lstStyle/>
                    <a:p>
                      <a:pPr indent="0" marL="0">
                        <a:buNone/>
                      </a:pPr>
                      <a:r>
                        <a:rPr lang="en-US" sz="1400" dirty="0">
                          <a:solidFill>
                            <a:srgbClr val="F2F1F6"/>
                          </a:solidFill>
                          <a:latin typeface="Calibri" pitchFamily="34" charset="0"/>
                          <a:ea typeface="Calibri" pitchFamily="34" charset="-122"/>
                          <a:cs typeface="Calibri" pitchFamily="34" charset="-120"/>
                        </a:rPr>
                        <a:t>calendarService + calendarEvents</a:t>
                      </a:r>
                      <a:endParaRPr lang="en-US" sz="14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c>
                  <a:txBody>
                    <a:bodyPr/>
                    <a:lstStyle/>
                    <a:p>
                      <a:pPr indent="0" marL="0">
                        <a:buNone/>
                      </a:pPr>
                      <a:r>
                        <a:rPr lang="en-US" sz="1400" dirty="0">
                          <a:solidFill>
                            <a:srgbClr val="F2F1F6"/>
                          </a:solidFill>
                          <a:latin typeface="Calibri" pitchFamily="34" charset="0"/>
                          <a:ea typeface="Calibri" pitchFamily="34" charset="-122"/>
                          <a:cs typeface="Calibri" pitchFamily="34" charset="-120"/>
                        </a:rPr>
                        <a:t>Loads tasks and habit events for a period and turns them into coloured calendar events, carrying overdue tasks onto today</a:t>
                      </a:r>
                      <a:endParaRPr lang="en-US" sz="14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Backend: the API</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BACKEND</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12</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6035040"/>
                <a:gridCol w="5056632"/>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Endpoint</a:t>
                      </a:r>
                      <a:endParaRPr lang="en-US" sz="1250" dirty="0">
                        <a:latin typeface="Calibri" charset="0"/>
                        <a:ea typeface="Calibri" charset="0"/>
                        <a:cs typeface="Calibri" charset="0"/>
                      </a:endParaRPr>
                    </a:p>
                  </a:txBody>
                  <a:tcPr marL="91440" marR="91440" marT="36576" marB="36576">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6C5CE7"/>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Purpose</a:t>
                      </a:r>
                      <a:endParaRPr lang="en-US" sz="1250" dirty="0">
                        <a:latin typeface="Calibri" charset="0"/>
                        <a:ea typeface="Calibri" charset="0"/>
                        <a:cs typeface="Calibri" charset="0"/>
                      </a:endParaRPr>
                    </a:p>
                  </a:txBody>
                  <a:tcPr marL="91440" marR="91440" marT="36576" marB="36576">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6C5CE7"/>
                    </a:solidFill>
                  </a:tcPr>
                </a:tc>
              </a:tr>
              <a:tr h="411480">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POST /api/auth/register  |  POST /api/auth/login</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Create an account; log in. Both return { access_token, user }</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r>
              <a:tr h="411480">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GET /api/auth/me  |  PATCH /api/auth/me</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Current user; edit name and email</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r>
              <a:tr h="411480">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GET /api/tasks  (?status &amp;priority &amp;dueFrom &amp;dueTo &amp;noDueDate)</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Your tasks, filtered</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r>
              <a:tr h="411480">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GET /api/tasks/count</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 total, todo, doing, done }</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r>
              <a:tr h="411480">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POST /api/tasks  |  GET, PATCH, DELETE /api/tasks/:id</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Create; detail, partial edit, delete</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r>
              <a:tr h="411480">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GET, POST /api/habits  |  GET, PATCH, DELETE /api/habits/:id</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Habits (deleting removes their events)</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r>
              <a:tr h="411480">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GET, POST /api/habits/:id/events  |  DELETE .../events/:date</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Mark or unmark a day</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r>
              <a:tr h="411480">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GET /api/calendar?from&amp;to&amp;tz</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Calendar events for a period (max 62 days)</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r>
              <a:tr h="411480">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GET /api/stats/heatmap?from&amp;to&amp;tz</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Daily activity (max 366 days)</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r>
              <a:tr h="411480">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GET /api/stats/completion?period&amp;count&amp;tz</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Completion rate per week or month</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Statistics: the heatmap (B3)</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BACKEND</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13</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sp>
        <p:nvSpPr>
          <p:cNvPr id="8" name="Shape 5"/>
          <p:cNvSpPr/>
          <p:nvPr/>
        </p:nvSpPr>
        <p:spPr>
          <a:xfrm>
            <a:off x="548640" y="1371600"/>
            <a:ext cx="5394960" cy="2468880"/>
          </a:xfrm>
          <a:prstGeom prst="roundRect">
            <a:avLst>
              <a:gd name="adj" fmla="val 2963"/>
            </a:avLst>
          </a:prstGeom>
          <a:solidFill>
            <a:srgbClr val="23212B"/>
          </a:solidFill>
          <a:ln w="12700">
            <a:solidFill>
              <a:srgbClr val="3A3748"/>
            </a:solidFill>
            <a:prstDash val="solid"/>
          </a:ln>
        </p:spPr>
      </p:sp>
      <p:sp>
        <p:nvSpPr>
          <p:cNvPr id="9" name="Shape 6"/>
          <p:cNvSpPr/>
          <p:nvPr/>
        </p:nvSpPr>
        <p:spPr>
          <a:xfrm>
            <a:off x="566928" y="1536192"/>
            <a:ext cx="64008" cy="365760"/>
          </a:xfrm>
          <a:prstGeom prst="rect">
            <a:avLst/>
          </a:prstGeom>
          <a:solidFill>
            <a:srgbClr val="6C5CE7"/>
          </a:solidFill>
          <a:ln w="12700">
            <a:solidFill>
              <a:srgbClr val="6C5CE7"/>
            </a:solidFill>
            <a:prstDash val="solid"/>
          </a:ln>
        </p:spPr>
      </p:sp>
      <p:sp>
        <p:nvSpPr>
          <p:cNvPr id="10" name="Text 7"/>
          <p:cNvSpPr/>
          <p:nvPr/>
        </p:nvSpPr>
        <p:spPr>
          <a:xfrm>
            <a:off x="777240" y="1481328"/>
            <a:ext cx="5029200"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One entry per day</a:t>
            </a:r>
            <a:endParaRPr lang="en-US" sz="1700" dirty="0"/>
          </a:p>
        </p:txBody>
      </p:sp>
      <p:sp>
        <p:nvSpPr>
          <p:cNvPr id="11" name="Text 8"/>
          <p:cNvSpPr/>
          <p:nvPr/>
        </p:nvSpPr>
        <p:spPr>
          <a:xfrm>
            <a:off x="777240" y="1984248"/>
            <a:ext cx="4983480" cy="1764792"/>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tasks: tasks completed that day</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habits: habit completions that day</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total = tasks + habits</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level 0 to 4 = ceil(total / max x 4), 0 if total is 0</a:t>
            </a:r>
            <a:endParaRPr lang="en-US" sz="1550" dirty="0"/>
          </a:p>
        </p:txBody>
      </p:sp>
      <p:sp>
        <p:nvSpPr>
          <p:cNvPr id="12" name="Shape 9"/>
          <p:cNvSpPr/>
          <p:nvPr/>
        </p:nvSpPr>
        <p:spPr>
          <a:xfrm>
            <a:off x="548640" y="4023360"/>
            <a:ext cx="5394960" cy="1828800"/>
          </a:xfrm>
          <a:prstGeom prst="roundRect">
            <a:avLst>
              <a:gd name="adj" fmla="val 4000"/>
            </a:avLst>
          </a:prstGeom>
          <a:solidFill>
            <a:srgbClr val="23212B"/>
          </a:solidFill>
          <a:ln w="12700">
            <a:solidFill>
              <a:srgbClr val="3A3748"/>
            </a:solidFill>
            <a:prstDash val="solid"/>
          </a:ln>
        </p:spPr>
      </p:sp>
      <p:sp>
        <p:nvSpPr>
          <p:cNvPr id="13" name="Shape 10"/>
          <p:cNvSpPr/>
          <p:nvPr/>
        </p:nvSpPr>
        <p:spPr>
          <a:xfrm>
            <a:off x="566928" y="4187952"/>
            <a:ext cx="64008" cy="365760"/>
          </a:xfrm>
          <a:prstGeom prst="rect">
            <a:avLst/>
          </a:prstGeom>
          <a:solidFill>
            <a:srgbClr val="3498DB"/>
          </a:solidFill>
          <a:ln w="12700">
            <a:solidFill>
              <a:srgbClr val="3498DB"/>
            </a:solidFill>
            <a:prstDash val="solid"/>
          </a:ln>
        </p:spPr>
      </p:sp>
      <p:sp>
        <p:nvSpPr>
          <p:cNvPr id="14" name="Text 11"/>
          <p:cNvSpPr/>
          <p:nvPr/>
        </p:nvSpPr>
        <p:spPr>
          <a:xfrm>
            <a:off x="777240" y="4133088"/>
            <a:ext cx="5029200"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Time zones</a:t>
            </a:r>
            <a:endParaRPr lang="en-US" sz="1700" dirty="0"/>
          </a:p>
        </p:txBody>
      </p:sp>
      <p:sp>
        <p:nvSpPr>
          <p:cNvPr id="15" name="Text 12"/>
          <p:cNvSpPr/>
          <p:nvPr/>
        </p:nvSpPr>
        <p:spPr>
          <a:xfrm>
            <a:off x="777240" y="4636008"/>
            <a:ext cx="4983480" cy="1124712"/>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Days are calendar days in the user's zone (tz)</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23:30 UTC on 1 March = 2 March in Paris, 1 March in New York</a:t>
            </a:r>
            <a:endParaRPr lang="en-US" sz="1550" dirty="0"/>
          </a:p>
        </p:txBody>
      </p:sp>
      <p:sp>
        <p:nvSpPr>
          <p:cNvPr id="16" name="Shape 13"/>
          <p:cNvSpPr/>
          <p:nvPr/>
        </p:nvSpPr>
        <p:spPr>
          <a:xfrm>
            <a:off x="6544983" y="1289304"/>
            <a:ext cx="4786554" cy="4645152"/>
          </a:xfrm>
          <a:prstGeom prst="rect">
            <a:avLst/>
          </a:prstGeom>
          <a:solidFill>
            <a:srgbClr val="2C2A37"/>
          </a:solidFill>
          <a:ln w="12700">
            <a:solidFill>
              <a:srgbClr val="3A3748"/>
            </a:solidFill>
            <a:prstDash val="solid"/>
          </a:ln>
        </p:spPr>
      </p:sp>
      <p:pic>
        <p:nvPicPr>
          <p:cNvPr id="17" name="Image 0" descr="C:\Users\User\OneDrive\Desktop\HelloJess\docs\statistics.png">    </p:cNvPr>
          <p:cNvPicPr>
            <a:picLocks noChangeAspect="1"/>
          </p:cNvPicPr>
          <p:nvPr/>
        </p:nvPicPr>
        <p:blipFill>
          <a:blip r:embed="rId1"/>
          <a:stretch>
            <a:fillRect/>
          </a:stretch>
        </p:blipFill>
        <p:spPr>
          <a:xfrm>
            <a:off x="6581559" y="1325880"/>
            <a:ext cx="4713402" cy="4572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Statistics: completion rate (B4)</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BACKEND</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14</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sp>
        <p:nvSpPr>
          <p:cNvPr id="8" name="Shape 5"/>
          <p:cNvSpPr/>
          <p:nvPr/>
        </p:nvSpPr>
        <p:spPr>
          <a:xfrm>
            <a:off x="548640" y="1463040"/>
            <a:ext cx="2580894" cy="1828800"/>
          </a:xfrm>
          <a:prstGeom prst="roundRect">
            <a:avLst>
              <a:gd name="adj" fmla="val 4000"/>
            </a:avLst>
          </a:prstGeom>
          <a:solidFill>
            <a:srgbClr val="23212B"/>
          </a:solidFill>
          <a:ln w="19050">
            <a:solidFill>
              <a:srgbClr val="6C5CE7"/>
            </a:solidFill>
            <a:prstDash val="solid"/>
          </a:ln>
        </p:spPr>
      </p:sp>
      <p:sp>
        <p:nvSpPr>
          <p:cNvPr id="9" name="Text 6"/>
          <p:cNvSpPr/>
          <p:nvPr/>
        </p:nvSpPr>
        <p:spPr>
          <a:xfrm>
            <a:off x="621792" y="1554480"/>
            <a:ext cx="2434590" cy="411480"/>
          </a:xfrm>
          <a:prstGeom prst="rect">
            <a:avLst/>
          </a:prstGeom>
          <a:noFill/>
          <a:ln/>
        </p:spPr>
        <p:txBody>
          <a:bodyPr wrap="square" lIns="0" tIns="0" rIns="0" bIns="0" rtlCol="0" anchor="ctr"/>
          <a:lstStyle/>
          <a:p>
            <a:pPr algn="ctr" indent="0" marL="0">
              <a:buNone/>
            </a:pPr>
            <a:r>
              <a:rPr lang="en-US" sz="1500" b="1" dirty="0">
                <a:solidFill>
                  <a:srgbClr val="F2F1F6"/>
                </a:solidFill>
                <a:latin typeface="Calibri" pitchFamily="34" charset="0"/>
                <a:ea typeface="Calibri" pitchFamily="34" charset="-122"/>
                <a:cs typeface="Calibri" pitchFamily="34" charset="-120"/>
              </a:rPr>
              <a:t>completed</a:t>
            </a:r>
            <a:endParaRPr lang="en-US" sz="1500" dirty="0"/>
          </a:p>
        </p:txBody>
      </p:sp>
      <p:sp>
        <p:nvSpPr>
          <p:cNvPr id="10" name="Text 7"/>
          <p:cNvSpPr/>
          <p:nvPr/>
        </p:nvSpPr>
        <p:spPr>
          <a:xfrm>
            <a:off x="640080" y="1965960"/>
            <a:ext cx="2398014" cy="1234440"/>
          </a:xfrm>
          <a:prstGeom prst="rect">
            <a:avLst/>
          </a:prstGeom>
          <a:noFill/>
          <a:ln/>
        </p:spPr>
        <p:txBody>
          <a:bodyPr wrap="square" lIns="0" tIns="0" rIns="0" bIns="0" rtlCol="0" anchor="t"/>
          <a:lstStyle/>
          <a:p>
            <a:pPr algn="ctr" indent="0" marL="0">
              <a:buNone/>
            </a:pPr>
            <a:r>
              <a:rPr lang="en-US" sz="1300" dirty="0">
                <a:solidFill>
                  <a:srgbClr val="A9A7B8"/>
                </a:solidFill>
                <a:latin typeface="Calibri" pitchFamily="34" charset="0"/>
                <a:ea typeface="Calibri" pitchFamily="34" charset="-122"/>
                <a:cs typeface="Calibri" pitchFamily="34" charset="-120"/>
              </a:rPr>
              <a:t>tasks whose completion day falls in the period</a:t>
            </a:r>
            <a:endParaRPr lang="en-US" sz="1300" dirty="0"/>
          </a:p>
        </p:txBody>
      </p:sp>
      <p:sp>
        <p:nvSpPr>
          <p:cNvPr id="11" name="Text 8"/>
          <p:cNvSpPr/>
          <p:nvPr/>
        </p:nvSpPr>
        <p:spPr>
          <a:xfrm>
            <a:off x="3129534" y="2194560"/>
            <a:ext cx="256032" cy="365760"/>
          </a:xfrm>
          <a:prstGeom prst="rect">
            <a:avLst/>
          </a:prstGeom>
          <a:noFill/>
          <a:ln/>
        </p:spPr>
        <p:txBody>
          <a:bodyPr wrap="square" lIns="0" tIns="0" rIns="0" bIns="0" rtlCol="0" anchor="ctr"/>
          <a:lstStyle/>
          <a:p>
            <a:pPr algn="ctr" indent="0" marL="0">
              <a:buNone/>
            </a:pPr>
            <a:r>
              <a:rPr lang="en-US" sz="1200" dirty="0">
                <a:solidFill>
                  <a:srgbClr val="6C5CE7"/>
                </a:solidFill>
              </a:rPr>
              <a:t>▶</a:t>
            </a:r>
            <a:endParaRPr lang="en-US" sz="1200" dirty="0"/>
          </a:p>
        </p:txBody>
      </p:sp>
      <p:sp>
        <p:nvSpPr>
          <p:cNvPr id="12" name="Shape 9"/>
          <p:cNvSpPr/>
          <p:nvPr/>
        </p:nvSpPr>
        <p:spPr>
          <a:xfrm>
            <a:off x="3385566" y="1463040"/>
            <a:ext cx="2580894" cy="1828800"/>
          </a:xfrm>
          <a:prstGeom prst="roundRect">
            <a:avLst>
              <a:gd name="adj" fmla="val 4000"/>
            </a:avLst>
          </a:prstGeom>
          <a:solidFill>
            <a:srgbClr val="23212B"/>
          </a:solidFill>
          <a:ln w="19050">
            <a:solidFill>
              <a:srgbClr val="6C5CE7"/>
            </a:solidFill>
            <a:prstDash val="solid"/>
          </a:ln>
        </p:spPr>
      </p:sp>
      <p:sp>
        <p:nvSpPr>
          <p:cNvPr id="13" name="Text 10"/>
          <p:cNvSpPr/>
          <p:nvPr/>
        </p:nvSpPr>
        <p:spPr>
          <a:xfrm>
            <a:off x="3458718" y="1554480"/>
            <a:ext cx="2434590" cy="411480"/>
          </a:xfrm>
          <a:prstGeom prst="rect">
            <a:avLst/>
          </a:prstGeom>
          <a:noFill/>
          <a:ln/>
        </p:spPr>
        <p:txBody>
          <a:bodyPr wrap="square" lIns="0" tIns="0" rIns="0" bIns="0" rtlCol="0" anchor="ctr"/>
          <a:lstStyle/>
          <a:p>
            <a:pPr algn="ctr" indent="0" marL="0">
              <a:buNone/>
            </a:pPr>
            <a:r>
              <a:rPr lang="en-US" sz="1500" b="1" dirty="0">
                <a:solidFill>
                  <a:srgbClr val="F2F1F6"/>
                </a:solidFill>
                <a:latin typeface="Calibri" pitchFamily="34" charset="0"/>
                <a:ea typeface="Calibri" pitchFamily="34" charset="-122"/>
                <a:cs typeface="Calibri" pitchFamily="34" charset="-120"/>
              </a:rPr>
              <a:t>workload</a:t>
            </a:r>
            <a:endParaRPr lang="en-US" sz="1500" dirty="0"/>
          </a:p>
        </p:txBody>
      </p:sp>
      <p:sp>
        <p:nvSpPr>
          <p:cNvPr id="14" name="Text 11"/>
          <p:cNvSpPr/>
          <p:nvPr/>
        </p:nvSpPr>
        <p:spPr>
          <a:xfrm>
            <a:off x="3477006" y="1965960"/>
            <a:ext cx="2398014" cy="1234440"/>
          </a:xfrm>
          <a:prstGeom prst="rect">
            <a:avLst/>
          </a:prstGeom>
          <a:noFill/>
          <a:ln/>
        </p:spPr>
        <p:txBody>
          <a:bodyPr wrap="square" lIns="0" tIns="0" rIns="0" bIns="0" rtlCol="0" anchor="t"/>
          <a:lstStyle/>
          <a:p>
            <a:pPr algn="ctr" indent="0" marL="0">
              <a:buNone/>
            </a:pPr>
            <a:r>
              <a:rPr lang="en-US" sz="1300" dirty="0">
                <a:solidFill>
                  <a:srgbClr val="A9A7B8"/>
                </a:solidFill>
                <a:latin typeface="Calibri" pitchFamily="34" charset="0"/>
                <a:ea typeface="Calibri" pitchFamily="34" charset="-122"/>
                <a:cs typeface="Calibri" pitchFamily="34" charset="-120"/>
              </a:rPr>
              <a:t>created on or before the last day, and not completed before the first day</a:t>
            </a:r>
            <a:endParaRPr lang="en-US" sz="1300" dirty="0"/>
          </a:p>
        </p:txBody>
      </p:sp>
      <p:sp>
        <p:nvSpPr>
          <p:cNvPr id="15" name="Text 12"/>
          <p:cNvSpPr/>
          <p:nvPr/>
        </p:nvSpPr>
        <p:spPr>
          <a:xfrm>
            <a:off x="5966460" y="2194560"/>
            <a:ext cx="256032" cy="365760"/>
          </a:xfrm>
          <a:prstGeom prst="rect">
            <a:avLst/>
          </a:prstGeom>
          <a:noFill/>
          <a:ln/>
        </p:spPr>
        <p:txBody>
          <a:bodyPr wrap="square" lIns="0" tIns="0" rIns="0" bIns="0" rtlCol="0" anchor="ctr"/>
          <a:lstStyle/>
          <a:p>
            <a:pPr algn="ctr" indent="0" marL="0">
              <a:buNone/>
            </a:pPr>
            <a:r>
              <a:rPr lang="en-US" sz="1200" dirty="0">
                <a:solidFill>
                  <a:srgbClr val="6C5CE7"/>
                </a:solidFill>
              </a:rPr>
              <a:t>▶</a:t>
            </a:r>
            <a:endParaRPr lang="en-US" sz="1200" dirty="0"/>
          </a:p>
        </p:txBody>
      </p:sp>
      <p:sp>
        <p:nvSpPr>
          <p:cNvPr id="16" name="Shape 13"/>
          <p:cNvSpPr/>
          <p:nvPr/>
        </p:nvSpPr>
        <p:spPr>
          <a:xfrm>
            <a:off x="6222492" y="1463040"/>
            <a:ext cx="2580894" cy="1828800"/>
          </a:xfrm>
          <a:prstGeom prst="roundRect">
            <a:avLst>
              <a:gd name="adj" fmla="val 4000"/>
            </a:avLst>
          </a:prstGeom>
          <a:solidFill>
            <a:srgbClr val="23212B"/>
          </a:solidFill>
          <a:ln w="19050">
            <a:solidFill>
              <a:srgbClr val="6C5CE7"/>
            </a:solidFill>
            <a:prstDash val="solid"/>
          </a:ln>
        </p:spPr>
      </p:sp>
      <p:sp>
        <p:nvSpPr>
          <p:cNvPr id="17" name="Text 14"/>
          <p:cNvSpPr/>
          <p:nvPr/>
        </p:nvSpPr>
        <p:spPr>
          <a:xfrm>
            <a:off x="6295644" y="1554480"/>
            <a:ext cx="2434590" cy="411480"/>
          </a:xfrm>
          <a:prstGeom prst="rect">
            <a:avLst/>
          </a:prstGeom>
          <a:noFill/>
          <a:ln/>
        </p:spPr>
        <p:txBody>
          <a:bodyPr wrap="square" lIns="0" tIns="0" rIns="0" bIns="0" rtlCol="0" anchor="ctr"/>
          <a:lstStyle/>
          <a:p>
            <a:pPr algn="ctr" indent="0" marL="0">
              <a:buNone/>
            </a:pPr>
            <a:r>
              <a:rPr lang="en-US" sz="1500" b="1" dirty="0">
                <a:solidFill>
                  <a:srgbClr val="F2F1F6"/>
                </a:solidFill>
                <a:latin typeface="Calibri" pitchFamily="34" charset="0"/>
                <a:ea typeface="Calibri" pitchFamily="34" charset="-122"/>
                <a:cs typeface="Calibri" pitchFamily="34" charset="-120"/>
              </a:rPr>
              <a:t>rate</a:t>
            </a:r>
            <a:endParaRPr lang="en-US" sz="1500" dirty="0"/>
          </a:p>
        </p:txBody>
      </p:sp>
      <p:sp>
        <p:nvSpPr>
          <p:cNvPr id="18" name="Text 15"/>
          <p:cNvSpPr/>
          <p:nvPr/>
        </p:nvSpPr>
        <p:spPr>
          <a:xfrm>
            <a:off x="6313932" y="1965960"/>
            <a:ext cx="2398014" cy="1234440"/>
          </a:xfrm>
          <a:prstGeom prst="rect">
            <a:avLst/>
          </a:prstGeom>
          <a:noFill/>
          <a:ln/>
        </p:spPr>
        <p:txBody>
          <a:bodyPr wrap="square" lIns="0" tIns="0" rIns="0" bIns="0" rtlCol="0" anchor="t"/>
          <a:lstStyle/>
          <a:p>
            <a:pPr algn="ctr" indent="0" marL="0">
              <a:buNone/>
            </a:pPr>
            <a:r>
              <a:rPr lang="en-US" sz="1300" dirty="0">
                <a:solidFill>
                  <a:srgbClr val="A9A7B8"/>
                </a:solidFill>
                <a:latin typeface="Calibri" pitchFamily="34" charset="0"/>
                <a:ea typeface="Calibri" pitchFamily="34" charset="-122"/>
                <a:cs typeface="Calibri" pitchFamily="34" charset="-120"/>
              </a:rPr>
              <a:t>completed / workload, between 0 and 1, or null when workload is 0</a:t>
            </a:r>
            <a:endParaRPr lang="en-US" sz="1300" dirty="0"/>
          </a:p>
        </p:txBody>
      </p:sp>
      <p:sp>
        <p:nvSpPr>
          <p:cNvPr id="19" name="Text 16"/>
          <p:cNvSpPr/>
          <p:nvPr/>
        </p:nvSpPr>
        <p:spPr>
          <a:xfrm>
            <a:off x="8803386" y="2194560"/>
            <a:ext cx="256032" cy="365760"/>
          </a:xfrm>
          <a:prstGeom prst="rect">
            <a:avLst/>
          </a:prstGeom>
          <a:noFill/>
          <a:ln/>
        </p:spPr>
        <p:txBody>
          <a:bodyPr wrap="square" lIns="0" tIns="0" rIns="0" bIns="0" rtlCol="0" anchor="ctr"/>
          <a:lstStyle/>
          <a:p>
            <a:pPr algn="ctr" indent="0" marL="0">
              <a:buNone/>
            </a:pPr>
            <a:r>
              <a:rPr lang="en-US" sz="1200" dirty="0">
                <a:solidFill>
                  <a:srgbClr val="6C5CE7"/>
                </a:solidFill>
              </a:rPr>
              <a:t>▶</a:t>
            </a:r>
            <a:endParaRPr lang="en-US" sz="1200" dirty="0"/>
          </a:p>
        </p:txBody>
      </p:sp>
      <p:sp>
        <p:nvSpPr>
          <p:cNvPr id="20" name="Shape 17"/>
          <p:cNvSpPr/>
          <p:nvPr/>
        </p:nvSpPr>
        <p:spPr>
          <a:xfrm>
            <a:off x="9059418" y="1463040"/>
            <a:ext cx="2580894" cy="1828800"/>
          </a:xfrm>
          <a:prstGeom prst="roundRect">
            <a:avLst>
              <a:gd name="adj" fmla="val 4000"/>
            </a:avLst>
          </a:prstGeom>
          <a:solidFill>
            <a:srgbClr val="23212B"/>
          </a:solidFill>
          <a:ln w="19050">
            <a:solidFill>
              <a:srgbClr val="6C5CE7"/>
            </a:solidFill>
            <a:prstDash val="solid"/>
          </a:ln>
        </p:spPr>
      </p:sp>
      <p:sp>
        <p:nvSpPr>
          <p:cNvPr id="21" name="Text 18"/>
          <p:cNvSpPr/>
          <p:nvPr/>
        </p:nvSpPr>
        <p:spPr>
          <a:xfrm>
            <a:off x="9132570" y="1554480"/>
            <a:ext cx="2434590" cy="411480"/>
          </a:xfrm>
          <a:prstGeom prst="rect">
            <a:avLst/>
          </a:prstGeom>
          <a:noFill/>
          <a:ln/>
        </p:spPr>
        <p:txBody>
          <a:bodyPr wrap="square" lIns="0" tIns="0" rIns="0" bIns="0" rtlCol="0" anchor="ctr"/>
          <a:lstStyle/>
          <a:p>
            <a:pPr algn="ctr" indent="0" marL="0">
              <a:buNone/>
            </a:pPr>
            <a:r>
              <a:rPr lang="en-US" sz="1500" b="1" dirty="0">
                <a:solidFill>
                  <a:srgbClr val="F2F1F6"/>
                </a:solidFill>
                <a:latin typeface="Calibri" pitchFamily="34" charset="0"/>
                <a:ea typeface="Calibri" pitchFamily="34" charset="-122"/>
                <a:cs typeface="Calibri" pitchFamily="34" charset="-120"/>
              </a:rPr>
              <a:t>change</a:t>
            </a:r>
            <a:endParaRPr lang="en-US" sz="1500" dirty="0"/>
          </a:p>
        </p:txBody>
      </p:sp>
      <p:sp>
        <p:nvSpPr>
          <p:cNvPr id="22" name="Text 19"/>
          <p:cNvSpPr/>
          <p:nvPr/>
        </p:nvSpPr>
        <p:spPr>
          <a:xfrm>
            <a:off x="9150858" y="1965960"/>
            <a:ext cx="2398014" cy="1234440"/>
          </a:xfrm>
          <a:prstGeom prst="rect">
            <a:avLst/>
          </a:prstGeom>
          <a:noFill/>
          <a:ln/>
        </p:spPr>
        <p:txBody>
          <a:bodyPr wrap="square" lIns="0" tIns="0" rIns="0" bIns="0" rtlCol="0" anchor="t"/>
          <a:lstStyle/>
          <a:p>
            <a:pPr algn="ctr" indent="0" marL="0">
              <a:buNone/>
            </a:pPr>
            <a:r>
              <a:rPr lang="en-US" sz="1300" dirty="0">
                <a:solidFill>
                  <a:srgbClr val="A9A7B8"/>
                </a:solidFill>
                <a:latin typeface="Calibri" pitchFamily="34" charset="0"/>
                <a:ea typeface="Calibri" pitchFamily="34" charset="-122"/>
                <a:cs typeface="Calibri" pitchFamily="34" charset="-120"/>
              </a:rPr>
              <a:t>rate minus the previous period's rate (null if either is null)</a:t>
            </a:r>
            <a:endParaRPr lang="en-US" sz="1300" dirty="0"/>
          </a:p>
        </p:txBody>
      </p:sp>
      <p:sp>
        <p:nvSpPr>
          <p:cNvPr id="23" name="Shape 20"/>
          <p:cNvSpPr/>
          <p:nvPr/>
        </p:nvSpPr>
        <p:spPr>
          <a:xfrm>
            <a:off x="548640" y="3611880"/>
            <a:ext cx="5440680" cy="2240280"/>
          </a:xfrm>
          <a:prstGeom prst="roundRect">
            <a:avLst>
              <a:gd name="adj" fmla="val 3265"/>
            </a:avLst>
          </a:prstGeom>
          <a:solidFill>
            <a:srgbClr val="23212B"/>
          </a:solidFill>
          <a:ln w="12700">
            <a:solidFill>
              <a:srgbClr val="3A3748"/>
            </a:solidFill>
            <a:prstDash val="solid"/>
          </a:ln>
        </p:spPr>
      </p:sp>
      <p:sp>
        <p:nvSpPr>
          <p:cNvPr id="24" name="Shape 21"/>
          <p:cNvSpPr/>
          <p:nvPr/>
        </p:nvSpPr>
        <p:spPr>
          <a:xfrm>
            <a:off x="566928" y="3776472"/>
            <a:ext cx="64008" cy="365760"/>
          </a:xfrm>
          <a:prstGeom prst="rect">
            <a:avLst/>
          </a:prstGeom>
          <a:solidFill>
            <a:srgbClr val="2ECC71"/>
          </a:solidFill>
          <a:ln w="12700">
            <a:solidFill>
              <a:srgbClr val="2ECC71"/>
            </a:solidFill>
            <a:prstDash val="solid"/>
          </a:ln>
        </p:spPr>
      </p:sp>
      <p:sp>
        <p:nvSpPr>
          <p:cNvPr id="25" name="Text 22"/>
          <p:cNvSpPr/>
          <p:nvPr/>
        </p:nvSpPr>
        <p:spPr>
          <a:xfrm>
            <a:off x="777240" y="3721608"/>
            <a:ext cx="5074920"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Example</a:t>
            </a:r>
            <a:endParaRPr lang="en-US" sz="1700" dirty="0"/>
          </a:p>
        </p:txBody>
      </p:sp>
      <p:sp>
        <p:nvSpPr>
          <p:cNvPr id="26" name="Text 23"/>
          <p:cNvSpPr/>
          <p:nvPr/>
        </p:nvSpPr>
        <p:spPr>
          <a:xfrm>
            <a:off x="777240" y="4224528"/>
            <a:ext cx="5029200" cy="1536192"/>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A task created before the week and finished during it counts in completed and workload</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A task created mid-week and still open counts only in workload</a:t>
            </a:r>
            <a:endParaRPr lang="en-US" sz="1550" dirty="0"/>
          </a:p>
        </p:txBody>
      </p:sp>
      <p:sp>
        <p:nvSpPr>
          <p:cNvPr id="27" name="Shape 24"/>
          <p:cNvSpPr/>
          <p:nvPr/>
        </p:nvSpPr>
        <p:spPr>
          <a:xfrm>
            <a:off x="6217920" y="3611880"/>
            <a:ext cx="5440680" cy="2240280"/>
          </a:xfrm>
          <a:prstGeom prst="roundRect">
            <a:avLst>
              <a:gd name="adj" fmla="val 3265"/>
            </a:avLst>
          </a:prstGeom>
          <a:solidFill>
            <a:srgbClr val="23212B"/>
          </a:solidFill>
          <a:ln w="12700">
            <a:solidFill>
              <a:srgbClr val="3A3748"/>
            </a:solidFill>
            <a:prstDash val="solid"/>
          </a:ln>
        </p:spPr>
      </p:sp>
      <p:sp>
        <p:nvSpPr>
          <p:cNvPr id="28" name="Shape 25"/>
          <p:cNvSpPr/>
          <p:nvPr/>
        </p:nvSpPr>
        <p:spPr>
          <a:xfrm>
            <a:off x="6236208" y="3776472"/>
            <a:ext cx="64008" cy="365760"/>
          </a:xfrm>
          <a:prstGeom prst="rect">
            <a:avLst/>
          </a:prstGeom>
          <a:solidFill>
            <a:srgbClr val="F5A623"/>
          </a:solidFill>
          <a:ln w="12700">
            <a:solidFill>
              <a:srgbClr val="F5A623"/>
            </a:solidFill>
            <a:prstDash val="solid"/>
          </a:ln>
        </p:spPr>
      </p:sp>
      <p:sp>
        <p:nvSpPr>
          <p:cNvPr id="29" name="Text 26"/>
          <p:cNvSpPr/>
          <p:nvPr/>
        </p:nvSpPr>
        <p:spPr>
          <a:xfrm>
            <a:off x="6446520" y="3721608"/>
            <a:ext cx="5074920"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Periods</a:t>
            </a:r>
            <a:endParaRPr lang="en-US" sz="1700" dirty="0"/>
          </a:p>
        </p:txBody>
      </p:sp>
      <p:sp>
        <p:nvSpPr>
          <p:cNvPr id="30" name="Text 27"/>
          <p:cNvSpPr/>
          <p:nvPr/>
        </p:nvSpPr>
        <p:spPr>
          <a:xfrm>
            <a:off x="6446520" y="4224528"/>
            <a:ext cx="5029200" cy="1536192"/>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Weeks run Monday to Sunday; months are calendar months</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Known limit: reopening a task clears its completion date</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The calendar</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BACKEND</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15</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sp>
        <p:nvSpPr>
          <p:cNvPr id="8" name="Shape 5"/>
          <p:cNvSpPr/>
          <p:nvPr/>
        </p:nvSpPr>
        <p:spPr>
          <a:xfrm>
            <a:off x="548640" y="1417320"/>
            <a:ext cx="5669280" cy="731520"/>
          </a:xfrm>
          <a:prstGeom prst="roundRect">
            <a:avLst>
              <a:gd name="adj" fmla="val 10000"/>
            </a:avLst>
          </a:prstGeom>
          <a:solidFill>
            <a:srgbClr val="23212B"/>
          </a:solidFill>
          <a:ln w="12700">
            <a:solidFill>
              <a:srgbClr val="3A3748"/>
            </a:solidFill>
            <a:prstDash val="solid"/>
          </a:ln>
        </p:spPr>
      </p:sp>
      <p:sp>
        <p:nvSpPr>
          <p:cNvPr id="9" name="Shape 6"/>
          <p:cNvSpPr/>
          <p:nvPr/>
        </p:nvSpPr>
        <p:spPr>
          <a:xfrm>
            <a:off x="731520" y="1618488"/>
            <a:ext cx="329184" cy="329184"/>
          </a:xfrm>
          <a:prstGeom prst="ellipse">
            <a:avLst/>
          </a:prstGeom>
          <a:solidFill>
            <a:srgbClr val="6C5CE7"/>
          </a:solidFill>
          <a:ln w="12700">
            <a:solidFill>
              <a:srgbClr val="6C5CE7"/>
            </a:solidFill>
            <a:prstDash val="solid"/>
          </a:ln>
        </p:spPr>
      </p:sp>
      <p:sp>
        <p:nvSpPr>
          <p:cNvPr id="10" name="Text 7"/>
          <p:cNvSpPr/>
          <p:nvPr/>
        </p:nvSpPr>
        <p:spPr>
          <a:xfrm>
            <a:off x="1234440" y="1463040"/>
            <a:ext cx="1280160" cy="640080"/>
          </a:xfrm>
          <a:prstGeom prst="rect">
            <a:avLst/>
          </a:prstGeom>
          <a:noFill/>
          <a:ln/>
        </p:spPr>
        <p:txBody>
          <a:bodyPr wrap="square" lIns="0" tIns="0" rIns="0" bIns="0" rtlCol="0" anchor="ctr"/>
          <a:lstStyle/>
          <a:p>
            <a:pPr indent="0" marL="0">
              <a:buNone/>
            </a:pPr>
            <a:r>
              <a:rPr lang="en-US" sz="1600" b="1" dirty="0">
                <a:solidFill>
                  <a:srgbClr val="F2F1F6"/>
                </a:solidFill>
                <a:latin typeface="Calibri" pitchFamily="34" charset="0"/>
                <a:ea typeface="Calibri" pitchFamily="34" charset="-122"/>
                <a:cs typeface="Calibri" pitchFamily="34" charset="-120"/>
              </a:rPr>
              <a:t>To do</a:t>
            </a:r>
            <a:endParaRPr lang="en-US" sz="1600" dirty="0"/>
          </a:p>
        </p:txBody>
      </p:sp>
      <p:sp>
        <p:nvSpPr>
          <p:cNvPr id="11" name="Text 8"/>
          <p:cNvSpPr/>
          <p:nvPr/>
        </p:nvSpPr>
        <p:spPr>
          <a:xfrm>
            <a:off x="2468880" y="1463040"/>
            <a:ext cx="3657600" cy="640080"/>
          </a:xfrm>
          <a:prstGeom prst="rect">
            <a:avLst/>
          </a:prstGeom>
          <a:noFill/>
          <a:ln/>
        </p:spPr>
        <p:txBody>
          <a:bodyPr wrap="square" lIns="0" tIns="0" rIns="0" bIns="0" rtlCol="0" anchor="ctr"/>
          <a:lstStyle/>
          <a:p>
            <a:pPr indent="0" marL="0">
              <a:buNone/>
            </a:pPr>
            <a:r>
              <a:rPr lang="en-US" sz="1200" dirty="0">
                <a:solidFill>
                  <a:srgbClr val="A9A7B8"/>
                </a:solidFill>
                <a:latin typeface="Calibri" pitchFamily="34" charset="0"/>
                <a:ea typeface="Calibri" pitchFamily="34" charset="-122"/>
                <a:cs typeface="Calibri" pitchFamily="34" charset="-120"/>
              </a:rPr>
              <a:t>Open task on its due date (or creation day)</a:t>
            </a:r>
            <a:endParaRPr lang="en-US" sz="1200" dirty="0"/>
          </a:p>
        </p:txBody>
      </p:sp>
      <p:sp>
        <p:nvSpPr>
          <p:cNvPr id="12" name="Shape 9"/>
          <p:cNvSpPr/>
          <p:nvPr/>
        </p:nvSpPr>
        <p:spPr>
          <a:xfrm>
            <a:off x="548640" y="2286000"/>
            <a:ext cx="5669280" cy="731520"/>
          </a:xfrm>
          <a:prstGeom prst="roundRect">
            <a:avLst>
              <a:gd name="adj" fmla="val 10000"/>
            </a:avLst>
          </a:prstGeom>
          <a:solidFill>
            <a:srgbClr val="23212B"/>
          </a:solidFill>
          <a:ln w="12700">
            <a:solidFill>
              <a:srgbClr val="3A3748"/>
            </a:solidFill>
            <a:prstDash val="solid"/>
          </a:ln>
        </p:spPr>
      </p:sp>
      <p:sp>
        <p:nvSpPr>
          <p:cNvPr id="13" name="Shape 10"/>
          <p:cNvSpPr/>
          <p:nvPr/>
        </p:nvSpPr>
        <p:spPr>
          <a:xfrm>
            <a:off x="731520" y="2487168"/>
            <a:ext cx="329184" cy="329184"/>
          </a:xfrm>
          <a:prstGeom prst="ellipse">
            <a:avLst/>
          </a:prstGeom>
          <a:solidFill>
            <a:srgbClr val="F5A623"/>
          </a:solidFill>
          <a:ln w="12700">
            <a:solidFill>
              <a:srgbClr val="F5A623"/>
            </a:solidFill>
            <a:prstDash val="solid"/>
          </a:ln>
        </p:spPr>
      </p:sp>
      <p:sp>
        <p:nvSpPr>
          <p:cNvPr id="14" name="Text 11"/>
          <p:cNvSpPr/>
          <p:nvPr/>
        </p:nvSpPr>
        <p:spPr>
          <a:xfrm>
            <a:off x="1234440" y="2331720"/>
            <a:ext cx="1280160" cy="640080"/>
          </a:xfrm>
          <a:prstGeom prst="rect">
            <a:avLst/>
          </a:prstGeom>
          <a:noFill/>
          <a:ln/>
        </p:spPr>
        <p:txBody>
          <a:bodyPr wrap="square" lIns="0" tIns="0" rIns="0" bIns="0" rtlCol="0" anchor="ctr"/>
          <a:lstStyle/>
          <a:p>
            <a:pPr indent="0" marL="0">
              <a:buNone/>
            </a:pPr>
            <a:r>
              <a:rPr lang="en-US" sz="1600" b="1" dirty="0">
                <a:solidFill>
                  <a:srgbClr val="F2F1F6"/>
                </a:solidFill>
                <a:latin typeface="Calibri" pitchFamily="34" charset="0"/>
                <a:ea typeface="Calibri" pitchFamily="34" charset="-122"/>
                <a:cs typeface="Calibri" pitchFamily="34" charset="-120"/>
              </a:rPr>
              <a:t>Doing</a:t>
            </a:r>
            <a:endParaRPr lang="en-US" sz="1600" dirty="0"/>
          </a:p>
        </p:txBody>
      </p:sp>
      <p:sp>
        <p:nvSpPr>
          <p:cNvPr id="15" name="Text 12"/>
          <p:cNvSpPr/>
          <p:nvPr/>
        </p:nvSpPr>
        <p:spPr>
          <a:xfrm>
            <a:off x="2468880" y="2331720"/>
            <a:ext cx="3657600" cy="640080"/>
          </a:xfrm>
          <a:prstGeom prst="rect">
            <a:avLst/>
          </a:prstGeom>
          <a:noFill/>
          <a:ln/>
        </p:spPr>
        <p:txBody>
          <a:bodyPr wrap="square" lIns="0" tIns="0" rIns="0" bIns="0" rtlCol="0" anchor="ctr"/>
          <a:lstStyle/>
          <a:p>
            <a:pPr indent="0" marL="0">
              <a:buNone/>
            </a:pPr>
            <a:r>
              <a:rPr lang="en-US" sz="1200" dirty="0">
                <a:solidFill>
                  <a:srgbClr val="A9A7B8"/>
                </a:solidFill>
                <a:latin typeface="Calibri" pitchFamily="34" charset="0"/>
                <a:ea typeface="Calibri" pitchFamily="34" charset="-122"/>
                <a:cs typeface="Calibri" pitchFamily="34" charset="-120"/>
              </a:rPr>
              <a:t>Open task on its due date (or creation day)</a:t>
            </a:r>
            <a:endParaRPr lang="en-US" sz="1200" dirty="0"/>
          </a:p>
        </p:txBody>
      </p:sp>
      <p:sp>
        <p:nvSpPr>
          <p:cNvPr id="16" name="Shape 13"/>
          <p:cNvSpPr/>
          <p:nvPr/>
        </p:nvSpPr>
        <p:spPr>
          <a:xfrm>
            <a:off x="548640" y="3154680"/>
            <a:ext cx="5669280" cy="731520"/>
          </a:xfrm>
          <a:prstGeom prst="roundRect">
            <a:avLst>
              <a:gd name="adj" fmla="val 10000"/>
            </a:avLst>
          </a:prstGeom>
          <a:solidFill>
            <a:srgbClr val="23212B"/>
          </a:solidFill>
          <a:ln w="12700">
            <a:solidFill>
              <a:srgbClr val="3A3748"/>
            </a:solidFill>
            <a:prstDash val="solid"/>
          </a:ln>
        </p:spPr>
      </p:sp>
      <p:sp>
        <p:nvSpPr>
          <p:cNvPr id="17" name="Shape 14"/>
          <p:cNvSpPr/>
          <p:nvPr/>
        </p:nvSpPr>
        <p:spPr>
          <a:xfrm>
            <a:off x="731520" y="3355848"/>
            <a:ext cx="329184" cy="329184"/>
          </a:xfrm>
          <a:prstGeom prst="ellipse">
            <a:avLst/>
          </a:prstGeom>
          <a:solidFill>
            <a:srgbClr val="2ECC71"/>
          </a:solidFill>
          <a:ln w="12700">
            <a:solidFill>
              <a:srgbClr val="2ECC71"/>
            </a:solidFill>
            <a:prstDash val="solid"/>
          </a:ln>
        </p:spPr>
      </p:sp>
      <p:sp>
        <p:nvSpPr>
          <p:cNvPr id="18" name="Text 15"/>
          <p:cNvSpPr/>
          <p:nvPr/>
        </p:nvSpPr>
        <p:spPr>
          <a:xfrm>
            <a:off x="1234440" y="3200400"/>
            <a:ext cx="1280160" cy="640080"/>
          </a:xfrm>
          <a:prstGeom prst="rect">
            <a:avLst/>
          </a:prstGeom>
          <a:noFill/>
          <a:ln/>
        </p:spPr>
        <p:txBody>
          <a:bodyPr wrap="square" lIns="0" tIns="0" rIns="0" bIns="0" rtlCol="0" anchor="ctr"/>
          <a:lstStyle/>
          <a:p>
            <a:pPr indent="0" marL="0">
              <a:buNone/>
            </a:pPr>
            <a:r>
              <a:rPr lang="en-US" sz="1600" b="1" dirty="0">
                <a:solidFill>
                  <a:srgbClr val="F2F1F6"/>
                </a:solidFill>
                <a:latin typeface="Calibri" pitchFamily="34" charset="0"/>
                <a:ea typeface="Calibri" pitchFamily="34" charset="-122"/>
                <a:cs typeface="Calibri" pitchFamily="34" charset="-120"/>
              </a:rPr>
              <a:t>Done</a:t>
            </a:r>
            <a:endParaRPr lang="en-US" sz="1600" dirty="0"/>
          </a:p>
        </p:txBody>
      </p:sp>
      <p:sp>
        <p:nvSpPr>
          <p:cNvPr id="19" name="Text 16"/>
          <p:cNvSpPr/>
          <p:nvPr/>
        </p:nvSpPr>
        <p:spPr>
          <a:xfrm>
            <a:off x="2468880" y="3200400"/>
            <a:ext cx="3657600" cy="640080"/>
          </a:xfrm>
          <a:prstGeom prst="rect">
            <a:avLst/>
          </a:prstGeom>
          <a:noFill/>
          <a:ln/>
        </p:spPr>
        <p:txBody>
          <a:bodyPr wrap="square" lIns="0" tIns="0" rIns="0" bIns="0" rtlCol="0" anchor="ctr"/>
          <a:lstStyle/>
          <a:p>
            <a:pPr indent="0" marL="0">
              <a:buNone/>
            </a:pPr>
            <a:r>
              <a:rPr lang="en-US" sz="1200" dirty="0">
                <a:solidFill>
                  <a:srgbClr val="A9A7B8"/>
                </a:solidFill>
                <a:latin typeface="Calibri" pitchFamily="34" charset="0"/>
                <a:ea typeface="Calibri" pitchFamily="34" charset="-122"/>
                <a:cs typeface="Calibri" pitchFamily="34" charset="-120"/>
              </a:rPr>
              <a:t>On the day the task was completed</a:t>
            </a:r>
            <a:endParaRPr lang="en-US" sz="1200" dirty="0"/>
          </a:p>
        </p:txBody>
      </p:sp>
      <p:sp>
        <p:nvSpPr>
          <p:cNvPr id="20" name="Shape 17"/>
          <p:cNvSpPr/>
          <p:nvPr/>
        </p:nvSpPr>
        <p:spPr>
          <a:xfrm>
            <a:off x="548640" y="4023360"/>
            <a:ext cx="5669280" cy="731520"/>
          </a:xfrm>
          <a:prstGeom prst="roundRect">
            <a:avLst>
              <a:gd name="adj" fmla="val 10000"/>
            </a:avLst>
          </a:prstGeom>
          <a:solidFill>
            <a:srgbClr val="23212B"/>
          </a:solidFill>
          <a:ln w="12700">
            <a:solidFill>
              <a:srgbClr val="3A3748"/>
            </a:solidFill>
            <a:prstDash val="solid"/>
          </a:ln>
        </p:spPr>
      </p:sp>
      <p:sp>
        <p:nvSpPr>
          <p:cNvPr id="21" name="Shape 18"/>
          <p:cNvSpPr/>
          <p:nvPr/>
        </p:nvSpPr>
        <p:spPr>
          <a:xfrm>
            <a:off x="731520" y="4224528"/>
            <a:ext cx="329184" cy="329184"/>
          </a:xfrm>
          <a:prstGeom prst="ellipse">
            <a:avLst/>
          </a:prstGeom>
          <a:solidFill>
            <a:srgbClr val="3498DB"/>
          </a:solidFill>
          <a:ln w="12700">
            <a:solidFill>
              <a:srgbClr val="3498DB"/>
            </a:solidFill>
            <a:prstDash val="solid"/>
          </a:ln>
        </p:spPr>
      </p:sp>
      <p:sp>
        <p:nvSpPr>
          <p:cNvPr id="22" name="Text 19"/>
          <p:cNvSpPr/>
          <p:nvPr/>
        </p:nvSpPr>
        <p:spPr>
          <a:xfrm>
            <a:off x="1234440" y="4069080"/>
            <a:ext cx="1280160" cy="640080"/>
          </a:xfrm>
          <a:prstGeom prst="rect">
            <a:avLst/>
          </a:prstGeom>
          <a:noFill/>
          <a:ln/>
        </p:spPr>
        <p:txBody>
          <a:bodyPr wrap="square" lIns="0" tIns="0" rIns="0" bIns="0" rtlCol="0" anchor="ctr"/>
          <a:lstStyle/>
          <a:p>
            <a:pPr indent="0" marL="0">
              <a:buNone/>
            </a:pPr>
            <a:r>
              <a:rPr lang="en-US" sz="1600" b="1" dirty="0">
                <a:solidFill>
                  <a:srgbClr val="F2F1F6"/>
                </a:solidFill>
                <a:latin typeface="Calibri" pitchFamily="34" charset="0"/>
                <a:ea typeface="Calibri" pitchFamily="34" charset="-122"/>
                <a:cs typeface="Calibri" pitchFamily="34" charset="-120"/>
              </a:rPr>
              <a:t>Habit</a:t>
            </a:r>
            <a:endParaRPr lang="en-US" sz="1600" dirty="0"/>
          </a:p>
        </p:txBody>
      </p:sp>
      <p:sp>
        <p:nvSpPr>
          <p:cNvPr id="23" name="Text 20"/>
          <p:cNvSpPr/>
          <p:nvPr/>
        </p:nvSpPr>
        <p:spPr>
          <a:xfrm>
            <a:off x="2468880" y="4069080"/>
            <a:ext cx="3657600" cy="640080"/>
          </a:xfrm>
          <a:prstGeom prst="rect">
            <a:avLst/>
          </a:prstGeom>
          <a:noFill/>
          <a:ln/>
        </p:spPr>
        <p:txBody>
          <a:bodyPr wrap="square" lIns="0" tIns="0" rIns="0" bIns="0" rtlCol="0" anchor="ctr"/>
          <a:lstStyle/>
          <a:p>
            <a:pPr indent="0" marL="0">
              <a:buNone/>
            </a:pPr>
            <a:r>
              <a:rPr lang="en-US" sz="1200" dirty="0">
                <a:solidFill>
                  <a:srgbClr val="A9A7B8"/>
                </a:solidFill>
                <a:latin typeface="Calibri" pitchFamily="34" charset="0"/>
                <a:ea typeface="Calibri" pitchFamily="34" charset="-122"/>
                <a:cs typeface="Calibri" pitchFamily="34" charset="-120"/>
              </a:rPr>
              <a:t>A habit completion on its day</a:t>
            </a:r>
            <a:endParaRPr lang="en-US" sz="1200" dirty="0"/>
          </a:p>
        </p:txBody>
      </p:sp>
      <p:sp>
        <p:nvSpPr>
          <p:cNvPr id="24" name="Shape 21"/>
          <p:cNvSpPr/>
          <p:nvPr/>
        </p:nvSpPr>
        <p:spPr>
          <a:xfrm>
            <a:off x="548640" y="4892040"/>
            <a:ext cx="5669280" cy="731520"/>
          </a:xfrm>
          <a:prstGeom prst="roundRect">
            <a:avLst>
              <a:gd name="adj" fmla="val 10000"/>
            </a:avLst>
          </a:prstGeom>
          <a:solidFill>
            <a:srgbClr val="23212B"/>
          </a:solidFill>
          <a:ln w="12700">
            <a:solidFill>
              <a:srgbClr val="3A3748"/>
            </a:solidFill>
            <a:prstDash val="solid"/>
          </a:ln>
        </p:spPr>
      </p:sp>
      <p:sp>
        <p:nvSpPr>
          <p:cNvPr id="25" name="Shape 22"/>
          <p:cNvSpPr/>
          <p:nvPr/>
        </p:nvSpPr>
        <p:spPr>
          <a:xfrm>
            <a:off x="731520" y="5093208"/>
            <a:ext cx="329184" cy="329184"/>
          </a:xfrm>
          <a:prstGeom prst="ellipse">
            <a:avLst/>
          </a:prstGeom>
          <a:solidFill>
            <a:srgbClr val="E5484D"/>
          </a:solidFill>
          <a:ln w="12700">
            <a:solidFill>
              <a:srgbClr val="E5484D"/>
            </a:solidFill>
            <a:prstDash val="solid"/>
          </a:ln>
        </p:spPr>
      </p:sp>
      <p:sp>
        <p:nvSpPr>
          <p:cNvPr id="26" name="Text 23"/>
          <p:cNvSpPr/>
          <p:nvPr/>
        </p:nvSpPr>
        <p:spPr>
          <a:xfrm>
            <a:off x="1234440" y="4937760"/>
            <a:ext cx="1280160" cy="640080"/>
          </a:xfrm>
          <a:prstGeom prst="rect">
            <a:avLst/>
          </a:prstGeom>
          <a:noFill/>
          <a:ln/>
        </p:spPr>
        <p:txBody>
          <a:bodyPr wrap="square" lIns="0" tIns="0" rIns="0" bIns="0" rtlCol="0" anchor="ctr"/>
          <a:lstStyle/>
          <a:p>
            <a:pPr indent="0" marL="0">
              <a:buNone/>
            </a:pPr>
            <a:r>
              <a:rPr lang="en-US" sz="1600" b="1" dirty="0">
                <a:solidFill>
                  <a:srgbClr val="F2F1F6"/>
                </a:solidFill>
                <a:latin typeface="Calibri" pitchFamily="34" charset="0"/>
                <a:ea typeface="Calibri" pitchFamily="34" charset="-122"/>
                <a:cs typeface="Calibri" pitchFamily="34" charset="-120"/>
              </a:rPr>
              <a:t>Overdue</a:t>
            </a:r>
            <a:endParaRPr lang="en-US" sz="1600" dirty="0"/>
          </a:p>
        </p:txBody>
      </p:sp>
      <p:sp>
        <p:nvSpPr>
          <p:cNvPr id="27" name="Text 24"/>
          <p:cNvSpPr/>
          <p:nvPr/>
        </p:nvSpPr>
        <p:spPr>
          <a:xfrm>
            <a:off x="2468880" y="4937760"/>
            <a:ext cx="3657600" cy="640080"/>
          </a:xfrm>
          <a:prstGeom prst="rect">
            <a:avLst/>
          </a:prstGeom>
          <a:noFill/>
          <a:ln/>
        </p:spPr>
        <p:txBody>
          <a:bodyPr wrap="square" lIns="0" tIns="0" rIns="0" bIns="0" rtlCol="0" anchor="ctr"/>
          <a:lstStyle/>
          <a:p>
            <a:pPr indent="0" marL="0">
              <a:buNone/>
            </a:pPr>
            <a:r>
              <a:rPr lang="en-US" sz="1200" dirty="0">
                <a:solidFill>
                  <a:srgbClr val="A9A7B8"/>
                </a:solidFill>
                <a:latin typeface="Calibri" pitchFamily="34" charset="0"/>
                <a:ea typeface="Calibri" pitchFamily="34" charset="-122"/>
                <a:cs typeface="Calibri" pitchFamily="34" charset="-120"/>
              </a:rPr>
              <a:t>Status colour with a red outline; carried onto today if due before the visible grid</a:t>
            </a:r>
            <a:endParaRPr lang="en-US" sz="1200" dirty="0"/>
          </a:p>
        </p:txBody>
      </p:sp>
      <p:sp>
        <p:nvSpPr>
          <p:cNvPr id="28" name="Shape 25"/>
          <p:cNvSpPr/>
          <p:nvPr/>
        </p:nvSpPr>
        <p:spPr>
          <a:xfrm>
            <a:off x="6687530" y="1289304"/>
            <a:ext cx="4775781" cy="4645152"/>
          </a:xfrm>
          <a:prstGeom prst="rect">
            <a:avLst/>
          </a:prstGeom>
          <a:solidFill>
            <a:srgbClr val="2C2A37"/>
          </a:solidFill>
          <a:ln w="12700">
            <a:solidFill>
              <a:srgbClr val="3A3748"/>
            </a:solidFill>
            <a:prstDash val="solid"/>
          </a:ln>
        </p:spPr>
      </p:sp>
      <p:pic>
        <p:nvPicPr>
          <p:cNvPr id="29" name="Image 0" descr="C:/Users/User/AppData/Local/Temp/claude/C--Users-User-OneDrive-Desktop-HelloJess/4f5de54d-7640-4ce8-b96f-c26ed1b4fe92/scratchpad/crop/calendar.png">    </p:cNvPr>
          <p:cNvPicPr>
            <a:picLocks noChangeAspect="1"/>
          </p:cNvPicPr>
          <p:nvPr/>
        </p:nvPicPr>
        <p:blipFill>
          <a:blip r:embed="rId1"/>
          <a:stretch>
            <a:fillRect/>
          </a:stretch>
        </p:blipFill>
        <p:spPr>
          <a:xfrm>
            <a:off x="6724106" y="1325880"/>
            <a:ext cx="4702629" cy="4572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Dates and time zones</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BACKEND</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16</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sp>
        <p:nvSpPr>
          <p:cNvPr id="8" name="Shape 5"/>
          <p:cNvSpPr/>
          <p:nvPr/>
        </p:nvSpPr>
        <p:spPr>
          <a:xfrm>
            <a:off x="548640" y="1371600"/>
            <a:ext cx="5440680" cy="2286000"/>
          </a:xfrm>
          <a:prstGeom prst="roundRect">
            <a:avLst>
              <a:gd name="adj" fmla="val 3200"/>
            </a:avLst>
          </a:prstGeom>
          <a:solidFill>
            <a:srgbClr val="23212B"/>
          </a:solidFill>
          <a:ln w="12700">
            <a:solidFill>
              <a:srgbClr val="3A3748"/>
            </a:solidFill>
            <a:prstDash val="solid"/>
          </a:ln>
        </p:spPr>
      </p:sp>
      <p:sp>
        <p:nvSpPr>
          <p:cNvPr id="9" name="Shape 6"/>
          <p:cNvSpPr/>
          <p:nvPr/>
        </p:nvSpPr>
        <p:spPr>
          <a:xfrm>
            <a:off x="566928" y="1536192"/>
            <a:ext cx="64008" cy="365760"/>
          </a:xfrm>
          <a:prstGeom prst="rect">
            <a:avLst/>
          </a:prstGeom>
          <a:solidFill>
            <a:srgbClr val="6C5CE7"/>
          </a:solidFill>
          <a:ln w="12700">
            <a:solidFill>
              <a:srgbClr val="6C5CE7"/>
            </a:solidFill>
            <a:prstDash val="solid"/>
          </a:ln>
        </p:spPr>
      </p:sp>
      <p:sp>
        <p:nvSpPr>
          <p:cNvPr id="10" name="Text 7"/>
          <p:cNvSpPr/>
          <p:nvPr/>
        </p:nvSpPr>
        <p:spPr>
          <a:xfrm>
            <a:off x="777240" y="1481328"/>
            <a:ext cx="5074920"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Civil dates (YYYY-MM-DD)</a:t>
            </a:r>
            <a:endParaRPr lang="en-US" sz="1700" dirty="0"/>
          </a:p>
        </p:txBody>
      </p:sp>
      <p:sp>
        <p:nvSpPr>
          <p:cNvPr id="11" name="Text 8"/>
          <p:cNvSpPr/>
          <p:nvPr/>
        </p:nvSpPr>
        <p:spPr>
          <a:xfrm>
            <a:off x="777240" y="1984248"/>
            <a:ext cx="5029200" cy="1581912"/>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Due dates and habit dates have no time and no zone</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Validity check includes leap years</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addDays, daysBetween, eachDay, start and end of week and month</a:t>
            </a:r>
            <a:endParaRPr lang="en-US" sz="1550" dirty="0"/>
          </a:p>
        </p:txBody>
      </p:sp>
      <p:sp>
        <p:nvSpPr>
          <p:cNvPr id="12" name="Shape 9"/>
          <p:cNvSpPr/>
          <p:nvPr/>
        </p:nvSpPr>
        <p:spPr>
          <a:xfrm>
            <a:off x="6217920" y="1371600"/>
            <a:ext cx="5440680" cy="2286000"/>
          </a:xfrm>
          <a:prstGeom prst="roundRect">
            <a:avLst>
              <a:gd name="adj" fmla="val 3200"/>
            </a:avLst>
          </a:prstGeom>
          <a:solidFill>
            <a:srgbClr val="23212B"/>
          </a:solidFill>
          <a:ln w="12700">
            <a:solidFill>
              <a:srgbClr val="3A3748"/>
            </a:solidFill>
            <a:prstDash val="solid"/>
          </a:ln>
        </p:spPr>
      </p:sp>
      <p:sp>
        <p:nvSpPr>
          <p:cNvPr id="13" name="Shape 10"/>
          <p:cNvSpPr/>
          <p:nvPr/>
        </p:nvSpPr>
        <p:spPr>
          <a:xfrm>
            <a:off x="6236208" y="1536192"/>
            <a:ext cx="64008" cy="365760"/>
          </a:xfrm>
          <a:prstGeom prst="rect">
            <a:avLst/>
          </a:prstGeom>
          <a:solidFill>
            <a:srgbClr val="3498DB"/>
          </a:solidFill>
          <a:ln w="12700">
            <a:solidFill>
              <a:srgbClr val="3498DB"/>
            </a:solidFill>
            <a:prstDash val="solid"/>
          </a:ln>
        </p:spPr>
      </p:sp>
      <p:sp>
        <p:nvSpPr>
          <p:cNvPr id="14" name="Text 11"/>
          <p:cNvSpPr/>
          <p:nvPr/>
        </p:nvSpPr>
        <p:spPr>
          <a:xfrm>
            <a:off x="6446520" y="1481328"/>
            <a:ext cx="5074920"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toCivilDate(instant, timeZone)</a:t>
            </a:r>
            <a:endParaRPr lang="en-US" sz="1700" dirty="0"/>
          </a:p>
        </p:txBody>
      </p:sp>
      <p:sp>
        <p:nvSpPr>
          <p:cNvPr id="15" name="Text 12"/>
          <p:cNvSpPr/>
          <p:nvPr/>
        </p:nvSpPr>
        <p:spPr>
          <a:xfrm>
            <a:off x="6446520" y="1984248"/>
            <a:ext cx="5029200" cy="1581912"/>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Converts a moment to the calendar day in a zone with Intl</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Each instant converted, never "+24 hours"</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Daylight-saving days of 23 or 25 hours are handled</a:t>
            </a:r>
            <a:endParaRPr lang="en-US" sz="1550" dirty="0"/>
          </a:p>
        </p:txBody>
      </p:sp>
      <p:sp>
        <p:nvSpPr>
          <p:cNvPr id="16" name="Shape 13"/>
          <p:cNvSpPr/>
          <p:nvPr/>
        </p:nvSpPr>
        <p:spPr>
          <a:xfrm>
            <a:off x="548640" y="3931920"/>
            <a:ext cx="11091672" cy="1737360"/>
          </a:xfrm>
          <a:prstGeom prst="roundRect">
            <a:avLst>
              <a:gd name="adj" fmla="val 3158"/>
            </a:avLst>
          </a:prstGeom>
          <a:solidFill>
            <a:srgbClr val="0F0E12"/>
          </a:solidFill>
          <a:ln w="12700">
            <a:solidFill>
              <a:srgbClr val="3A3748"/>
            </a:solidFill>
            <a:prstDash val="solid"/>
          </a:ln>
        </p:spPr>
      </p:sp>
      <p:sp>
        <p:nvSpPr>
          <p:cNvPr id="17" name="Text 14"/>
          <p:cNvSpPr/>
          <p:nvPr/>
        </p:nvSpPr>
        <p:spPr>
          <a:xfrm>
            <a:off x="731520" y="4041648"/>
            <a:ext cx="10725912" cy="1517904"/>
          </a:xfrm>
          <a:prstGeom prst="rect">
            <a:avLst/>
          </a:prstGeom>
          <a:noFill/>
          <a:ln/>
        </p:spPr>
        <p:txBody>
          <a:bodyPr wrap="square" lIns="0" tIns="0" rIns="0" bIns="0" rtlCol="0" anchor="t"/>
          <a:lstStyle/>
          <a:p>
            <a:pPr indent="0" marL="0">
              <a:buNone/>
            </a:pPr>
            <a:r>
              <a:rPr lang="en-US" sz="1300" dirty="0">
                <a:solidFill>
                  <a:srgbClr val="CFCDE0"/>
                </a:solidFill>
                <a:latin typeface="Consolas" pitchFamily="34" charset="0"/>
                <a:ea typeface="Consolas" pitchFamily="34" charset="-122"/>
                <a:cs typeface="Consolas" pitchFamily="34" charset="-120"/>
              </a:rPr>
              <a:t>toCivilDate(new Date("2026-03-01T23:30:00Z"), "Europe/Paris")     // "2026-03-02"</a:t>
            </a:r>
            <a:endParaRPr lang="en-US" sz="1300" dirty="0"/>
          </a:p>
          <a:p>
            <a:pPr indent="0" marL="0">
              <a:buNone/>
            </a:pPr>
            <a:r>
              <a:rPr lang="en-US" sz="1300" dirty="0">
                <a:solidFill>
                  <a:srgbClr val="CFCDE0"/>
                </a:solidFill>
                <a:latin typeface="Consolas" pitchFamily="34" charset="0"/>
                <a:ea typeface="Consolas" pitchFamily="34" charset="-122"/>
                <a:cs typeface="Consolas" pitchFamily="34" charset="-120"/>
              </a:rPr>
              <a:t>toCivilDate(new Date("2026-03-01T23:30:00Z"), "America/New_York") // "2026-03-01"</a:t>
            </a:r>
            <a:endParaRPr lang="en-US" sz="1300" dirty="0"/>
          </a:p>
          <a:p>
            <a:pPr indent="0" marL="0">
              <a:buNone/>
            </a:pPr>
            <a:r>
              <a:rPr lang="en-US" sz="1300" dirty="0">
                <a:solidFill>
                  <a:srgbClr val="CFCDE0"/>
                </a:solidFill>
                <a:latin typeface="Consolas" pitchFamily="34" charset="0"/>
                <a:ea typeface="Consolas" pitchFamily="34" charset="-122"/>
                <a:cs typeface="Consolas" pitchFamily="34" charset="-120"/>
              </a:rPr>
              <a:t>isValidCivilDate("2026-02-30")                                     // false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Tests</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BACKEND</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17</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766560" cy="914400"/>
        </p:xfrm>
        <a:graphic>
          <a:graphicData uri="http://schemas.openxmlformats.org/drawingml/2006/table">
            <a:tbl>
              <a:tblPr/>
              <a:tblGrid>
                <a:gridCol w="2377440"/>
                <a:gridCol w="43891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Test file</a:t>
                      </a:r>
                      <a:endParaRPr lang="en-US" sz="1300" dirty="0">
                        <a:latin typeface="Calibri" charset="0"/>
                        <a:ea typeface="Calibri" charset="0"/>
                        <a:cs typeface="Calibri" charset="0"/>
                      </a:endParaRPr>
                    </a:p>
                  </a:txBody>
                  <a:tcPr marL="91440" marR="91440" marT="36576" marB="36576">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6C5CE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Covers</a:t>
                      </a:r>
                      <a:endParaRPr lang="en-US" sz="1300" dirty="0">
                        <a:latin typeface="Calibri" charset="0"/>
                        <a:ea typeface="Calibri" charset="0"/>
                        <a:cs typeface="Calibri" charset="0"/>
                      </a:endParaRPr>
                    </a:p>
                  </a:txBody>
                  <a:tcPr marL="91440" marR="91440" marT="36576" marB="36576">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6C5CE7"/>
                    </a:solidFill>
                  </a:tcPr>
                </a:tc>
              </a:tr>
              <a:tr h="548640">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dates.test.js</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Leap years, weeks, months, zones, daylight saving</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r>
              <a:tr h="548640">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schemas.test.js</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Validation of tasks, habits, profile, queries</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r>
              <a:tr h="548640">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security.test.js</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Hashing, id and legacy tokens, tampered or expired</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r>
              <a:tr h="548640">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stats.test.js</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Heatmap levels, completion rates, change</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r>
              <a:tr h="548640">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calendar.test.js</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c>
                  <a:txBody>
                    <a:bodyPr/>
                    <a:lstStyle/>
                    <a:p>
                      <a:pPr indent="0" marL="0">
                        <a:buNone/>
                      </a:pPr>
                      <a:r>
                        <a:rPr lang="en-US" sz="1300" dirty="0">
                          <a:solidFill>
                            <a:srgbClr val="F2F1F6"/>
                          </a:solidFill>
                          <a:latin typeface="Calibri" pitchFamily="34" charset="0"/>
                          <a:ea typeface="Calibri" pitchFamily="34" charset="-122"/>
                          <a:cs typeface="Calibri" pitchFamily="34" charset="-120"/>
                        </a:rPr>
                        <a:t>Event types, overdue carry-over, undated tasks</a:t>
                      </a:r>
                      <a:endParaRPr lang="en-US" sz="130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r>
            </a:tbl>
          </a:graphicData>
        </a:graphic>
      </p:graphicFrame>
      <p:sp>
        <p:nvSpPr>
          <p:cNvPr id="9" name="Text 5"/>
          <p:cNvSpPr/>
          <p:nvPr/>
        </p:nvSpPr>
        <p:spPr>
          <a:xfrm>
            <a:off x="7863840" y="1371600"/>
            <a:ext cx="3749040" cy="1463040"/>
          </a:xfrm>
          <a:prstGeom prst="rect">
            <a:avLst/>
          </a:prstGeom>
          <a:noFill/>
          <a:ln/>
        </p:spPr>
        <p:txBody>
          <a:bodyPr wrap="square" lIns="0" tIns="0" rIns="0" bIns="0" rtlCol="0" anchor="ctr"/>
          <a:lstStyle/>
          <a:p>
            <a:pPr algn="ctr" indent="0" marL="0">
              <a:buNone/>
            </a:pPr>
            <a:r>
              <a:rPr lang="en-US" sz="9600" b="1" dirty="0">
                <a:solidFill>
                  <a:srgbClr val="6C5CE7"/>
                </a:solidFill>
                <a:latin typeface="Calibri" pitchFamily="34" charset="0"/>
                <a:ea typeface="Calibri" pitchFamily="34" charset="-122"/>
                <a:cs typeface="Calibri" pitchFamily="34" charset="-120"/>
              </a:rPr>
              <a:t>60</a:t>
            </a:r>
            <a:endParaRPr lang="en-US" sz="9600" dirty="0"/>
          </a:p>
        </p:txBody>
      </p:sp>
      <p:sp>
        <p:nvSpPr>
          <p:cNvPr id="10" name="Text 6"/>
          <p:cNvSpPr/>
          <p:nvPr/>
        </p:nvSpPr>
        <p:spPr>
          <a:xfrm>
            <a:off x="7863840" y="2834640"/>
            <a:ext cx="3749040" cy="457200"/>
          </a:xfrm>
          <a:prstGeom prst="rect">
            <a:avLst/>
          </a:prstGeom>
          <a:noFill/>
          <a:ln/>
        </p:spPr>
        <p:txBody>
          <a:bodyPr wrap="square" lIns="0" tIns="0" rIns="0" bIns="0" rtlCol="0" anchor="ctr"/>
          <a:lstStyle/>
          <a:p>
            <a:pPr algn="ctr" indent="0" marL="0">
              <a:buNone/>
            </a:pPr>
            <a:r>
              <a:rPr lang="en-US" sz="1800" dirty="0">
                <a:solidFill>
                  <a:srgbClr val="A9A7B8"/>
                </a:solidFill>
                <a:latin typeface="Calibri" pitchFamily="34" charset="0"/>
                <a:ea typeface="Calibri" pitchFamily="34" charset="-122"/>
                <a:cs typeface="Calibri" pitchFamily="34" charset="-120"/>
              </a:rPr>
              <a:t>unit tests passing</a:t>
            </a:r>
            <a:endParaRPr lang="en-US" sz="1800" dirty="0"/>
          </a:p>
        </p:txBody>
      </p:sp>
      <p:sp>
        <p:nvSpPr>
          <p:cNvPr id="11" name="Shape 7"/>
          <p:cNvSpPr/>
          <p:nvPr/>
        </p:nvSpPr>
        <p:spPr>
          <a:xfrm>
            <a:off x="7863840" y="3657600"/>
            <a:ext cx="3749040" cy="1280160"/>
          </a:xfrm>
          <a:prstGeom prst="roundRect">
            <a:avLst>
              <a:gd name="adj" fmla="val 4286"/>
            </a:avLst>
          </a:prstGeom>
          <a:solidFill>
            <a:srgbClr val="0F0E12"/>
          </a:solidFill>
          <a:ln w="12700">
            <a:solidFill>
              <a:srgbClr val="3A3748"/>
            </a:solidFill>
            <a:prstDash val="solid"/>
          </a:ln>
        </p:spPr>
      </p:sp>
      <p:sp>
        <p:nvSpPr>
          <p:cNvPr id="12" name="Text 8"/>
          <p:cNvSpPr/>
          <p:nvPr/>
        </p:nvSpPr>
        <p:spPr>
          <a:xfrm>
            <a:off x="8046720" y="3767328"/>
            <a:ext cx="3383280" cy="1060704"/>
          </a:xfrm>
          <a:prstGeom prst="rect">
            <a:avLst/>
          </a:prstGeom>
          <a:noFill/>
          <a:ln/>
        </p:spPr>
        <p:txBody>
          <a:bodyPr wrap="square" lIns="0" tIns="0" rIns="0" bIns="0" rtlCol="0" anchor="t"/>
          <a:lstStyle/>
          <a:p>
            <a:pPr indent="0" marL="0">
              <a:buNone/>
            </a:pPr>
            <a:r>
              <a:rPr lang="en-US" sz="1600" dirty="0">
                <a:solidFill>
                  <a:srgbClr val="CFCDE0"/>
                </a:solidFill>
                <a:latin typeface="Consolas" pitchFamily="34" charset="0"/>
                <a:ea typeface="Consolas" pitchFamily="34" charset="-122"/>
                <a:cs typeface="Consolas" pitchFamily="34" charset="-120"/>
              </a:rPr>
              <a:t>cd backend</a:t>
            </a:r>
            <a:endParaRPr lang="en-US" sz="1600" dirty="0"/>
          </a:p>
          <a:p>
            <a:pPr indent="0" marL="0">
              <a:buNone/>
            </a:pPr>
            <a:r>
              <a:rPr lang="en-US" sz="1600" dirty="0">
                <a:solidFill>
                  <a:srgbClr val="CFCDE0"/>
                </a:solidFill>
                <a:latin typeface="Consolas" pitchFamily="34" charset="0"/>
                <a:ea typeface="Consolas" pitchFamily="34" charset="-122"/>
                <a:cs typeface="Consolas" pitchFamily="34" charset="-120"/>
              </a:rPr>
              <a:t>npm test</a:t>
            </a:r>
            <a:endParaRPr lang="en-US" sz="1600" dirty="0"/>
          </a:p>
        </p:txBody>
      </p:sp>
      <p:sp>
        <p:nvSpPr>
          <p:cNvPr id="13" name="Shape 9"/>
          <p:cNvSpPr/>
          <p:nvPr/>
        </p:nvSpPr>
        <p:spPr>
          <a:xfrm>
            <a:off x="548640" y="4846320"/>
            <a:ext cx="6766560" cy="1097280"/>
          </a:xfrm>
          <a:prstGeom prst="roundRect">
            <a:avLst>
              <a:gd name="adj" fmla="val 6667"/>
            </a:avLst>
          </a:prstGeom>
          <a:solidFill>
            <a:srgbClr val="23212B"/>
          </a:solidFill>
          <a:ln w="12700">
            <a:solidFill>
              <a:srgbClr val="3A3748"/>
            </a:solidFill>
            <a:prstDash val="solid"/>
          </a:ln>
        </p:spPr>
      </p:sp>
      <p:sp>
        <p:nvSpPr>
          <p:cNvPr id="14" name="Text 10"/>
          <p:cNvSpPr/>
          <p:nvPr/>
        </p:nvSpPr>
        <p:spPr>
          <a:xfrm>
            <a:off x="777240" y="4956048"/>
            <a:ext cx="6355080" cy="896112"/>
          </a:xfrm>
          <a:prstGeom prst="rect">
            <a:avLst/>
          </a:prstGeom>
          <a:noFill/>
          <a:ln/>
        </p:spPr>
        <p:txBody>
          <a:bodyPr wrap="square" lIns="0" tIns="0" rIns="0" bIns="0" rtlCol="0" anchor="t"/>
          <a:lstStyle/>
          <a:p>
            <a:pPr indent="0" marL="0">
              <a:spcAft>
                <a:spcPts val="400"/>
              </a:spcAft>
              <a:buNone/>
            </a:pPr>
            <a:r>
              <a:rPr lang="en-US" sz="1450" dirty="0">
                <a:solidFill>
                  <a:srgbClr val="F2F1F6"/>
                </a:solidFill>
                <a:latin typeface="Calibri" pitchFamily="34" charset="0"/>
                <a:ea typeface="Calibri" pitchFamily="34" charset="-122"/>
                <a:cs typeface="Calibri" pitchFamily="34" charset="-120"/>
              </a:rPr>
              <a:t>End-to-end API scenarios, browser runs of web and mobile, type checks and production build all pass</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Web app: structure</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WEB</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18</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108960"/>
                <a:gridCol w="7982712"/>
              </a:tblGrid>
              <a:tr h="38404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File (web/src)</a:t>
                      </a:r>
                      <a:endParaRPr lang="en-US" sz="1350" dirty="0">
                        <a:latin typeface="Calibri" charset="0"/>
                        <a:ea typeface="Calibri" charset="0"/>
                        <a:cs typeface="Calibri" charset="0"/>
                      </a:endParaRPr>
                    </a:p>
                  </a:txBody>
                  <a:tcPr marL="91440" marR="91440" marT="36576" marB="36576">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6C5CE7"/>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Role</a:t>
                      </a:r>
                      <a:endParaRPr lang="en-US" sz="1350" dirty="0">
                        <a:latin typeface="Calibri" charset="0"/>
                        <a:ea typeface="Calibri" charset="0"/>
                        <a:cs typeface="Calibri" charset="0"/>
                      </a:endParaRPr>
                    </a:p>
                  </a:txBody>
                  <a:tcPr marL="91440" marR="91440" marT="36576" marB="36576">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6C5CE7"/>
                    </a:solidFill>
                  </a:tcPr>
                </a:tc>
              </a:tr>
              <a:tr h="640080">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App.tsx, main.tsx</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Router: /login, /register, /, /tasks/:id, /calendar, /habits, /stats, /profile; RequireAuth redirects to /login</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r>
              <a:tr h="640080">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api.ts</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axios client (VITE_API_URL + /api, 10 s timeout, token header), errorMessages(), API types</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r>
              <a:tr h="640080">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context/AuthContext.tsx</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Current user; login, register, updateProfile, logout; token in localStorage</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r>
              <a:tr h="640080">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components/</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AppHeader (nav + user chip), TaskItem, CalendarView, Heatmap, CompletionChart, ErrorList</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r>
              <a:tr h="640080">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pages/</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Login, Register, Tasks, TaskDetail, Calendar, Habits, Stats, Profile</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r>
              <a:tr h="640080">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utils/dates.ts</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Local date helpers (today, formatting)</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Web: the tasks page</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WEB</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19</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sp>
        <p:nvSpPr>
          <p:cNvPr id="8" name="Shape 5"/>
          <p:cNvSpPr/>
          <p:nvPr/>
        </p:nvSpPr>
        <p:spPr>
          <a:xfrm>
            <a:off x="548640" y="1371600"/>
            <a:ext cx="4937760" cy="4526280"/>
          </a:xfrm>
          <a:prstGeom prst="roundRect">
            <a:avLst>
              <a:gd name="adj" fmla="val 1616"/>
            </a:avLst>
          </a:prstGeom>
          <a:solidFill>
            <a:srgbClr val="23212B"/>
          </a:solidFill>
          <a:ln w="12700">
            <a:solidFill>
              <a:srgbClr val="3A3748"/>
            </a:solidFill>
            <a:prstDash val="solid"/>
          </a:ln>
        </p:spPr>
      </p:sp>
      <p:sp>
        <p:nvSpPr>
          <p:cNvPr id="9" name="Shape 6"/>
          <p:cNvSpPr/>
          <p:nvPr/>
        </p:nvSpPr>
        <p:spPr>
          <a:xfrm>
            <a:off x="566928" y="1536192"/>
            <a:ext cx="64008" cy="365760"/>
          </a:xfrm>
          <a:prstGeom prst="rect">
            <a:avLst/>
          </a:prstGeom>
          <a:solidFill>
            <a:srgbClr val="6C5CE7"/>
          </a:solidFill>
          <a:ln w="12700">
            <a:solidFill>
              <a:srgbClr val="6C5CE7"/>
            </a:solidFill>
            <a:prstDash val="solid"/>
          </a:ln>
        </p:spPr>
      </p:sp>
      <p:sp>
        <p:nvSpPr>
          <p:cNvPr id="10" name="Text 7"/>
          <p:cNvSpPr/>
          <p:nvPr/>
        </p:nvSpPr>
        <p:spPr>
          <a:xfrm>
            <a:off x="777240" y="1481328"/>
            <a:ext cx="4572000"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What you can do</a:t>
            </a:r>
            <a:endParaRPr lang="en-US" sz="1700" dirty="0"/>
          </a:p>
        </p:txBody>
      </p:sp>
      <p:sp>
        <p:nvSpPr>
          <p:cNvPr id="11" name="Text 8"/>
          <p:cNvSpPr/>
          <p:nvPr/>
        </p:nvSpPr>
        <p:spPr>
          <a:xfrm>
            <a:off x="777240" y="1984248"/>
            <a:ext cx="4526280" cy="3822192"/>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Add a task: title, status, description, due date, priority</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Messages appear under the form when something is invalid</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Filter by status, priority, due date (overdue, today, next 7 days, no date)</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Counter per status: to do, doing, done</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Tick a task or change its status in place</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Overdue tasks are flagged in red</a:t>
            </a:r>
            <a:endParaRPr lang="en-US" sz="1550" dirty="0"/>
          </a:p>
        </p:txBody>
      </p:sp>
      <p:sp>
        <p:nvSpPr>
          <p:cNvPr id="12" name="Shape 9"/>
          <p:cNvSpPr/>
          <p:nvPr/>
        </p:nvSpPr>
        <p:spPr>
          <a:xfrm>
            <a:off x="6722364" y="1289304"/>
            <a:ext cx="3974592" cy="4645152"/>
          </a:xfrm>
          <a:prstGeom prst="rect">
            <a:avLst/>
          </a:prstGeom>
          <a:solidFill>
            <a:srgbClr val="2C2A37"/>
          </a:solidFill>
          <a:ln w="12700">
            <a:solidFill>
              <a:srgbClr val="3A3748"/>
            </a:solidFill>
            <a:prstDash val="solid"/>
          </a:ln>
        </p:spPr>
      </p:sp>
      <p:pic>
        <p:nvPicPr>
          <p:cNvPr id="13" name="Image 0" descr="C:/Users/User/AppData/Local/Temp/claude/C--Users-User-OneDrive-Desktop-HelloJess/4f5de54d-7640-4ce8-b96f-c26ed1b4fe92/scratchpad/crop/tasks.png">    </p:cNvPr>
          <p:cNvPicPr>
            <a:picLocks noChangeAspect="1"/>
          </p:cNvPicPr>
          <p:nvPr/>
        </p:nvPicPr>
        <p:blipFill>
          <a:blip r:embed="rId1"/>
          <a:stretch>
            <a:fillRect/>
          </a:stretch>
        </p:blipFill>
        <p:spPr>
          <a:xfrm>
            <a:off x="6758940" y="1325880"/>
            <a:ext cx="3901440" cy="4572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Web: task detail and validation</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WEB</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20</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sp>
        <p:nvSpPr>
          <p:cNvPr id="8" name="Shape 5"/>
          <p:cNvSpPr/>
          <p:nvPr/>
        </p:nvSpPr>
        <p:spPr>
          <a:xfrm>
            <a:off x="1148947" y="1289304"/>
            <a:ext cx="3920026" cy="4370832"/>
          </a:xfrm>
          <a:prstGeom prst="rect">
            <a:avLst/>
          </a:prstGeom>
          <a:solidFill>
            <a:srgbClr val="2C2A37"/>
          </a:solidFill>
          <a:ln w="12700">
            <a:solidFill>
              <a:srgbClr val="3A3748"/>
            </a:solidFill>
            <a:prstDash val="solid"/>
          </a:ln>
        </p:spPr>
      </p:sp>
      <p:pic>
        <p:nvPicPr>
          <p:cNvPr id="9" name="Image 0" descr="C:\Users\User\OneDrive\Desktop\HelloJess\docs\task-detail.png">    </p:cNvPr>
          <p:cNvPicPr>
            <a:picLocks noChangeAspect="1"/>
          </p:cNvPicPr>
          <p:nvPr/>
        </p:nvPicPr>
        <p:blipFill>
          <a:blip r:embed="rId1"/>
          <a:stretch>
            <a:fillRect/>
          </a:stretch>
        </p:blipFill>
        <p:spPr>
          <a:xfrm>
            <a:off x="1185523" y="1325880"/>
            <a:ext cx="3846874" cy="4297680"/>
          </a:xfrm>
          <a:prstGeom prst="rect">
            <a:avLst/>
          </a:prstGeom>
        </p:spPr>
      </p:pic>
      <p:sp>
        <p:nvSpPr>
          <p:cNvPr id="10" name="Text 6"/>
          <p:cNvSpPr/>
          <p:nvPr/>
        </p:nvSpPr>
        <p:spPr>
          <a:xfrm>
            <a:off x="548640" y="5696712"/>
            <a:ext cx="5120640" cy="274320"/>
          </a:xfrm>
          <a:prstGeom prst="rect">
            <a:avLst/>
          </a:prstGeom>
          <a:noFill/>
          <a:ln/>
        </p:spPr>
        <p:txBody>
          <a:bodyPr wrap="square" lIns="0" tIns="0" rIns="0" bIns="0" rtlCol="0" anchor="ctr"/>
          <a:lstStyle/>
          <a:p>
            <a:pPr algn="ctr" indent="0" marL="0">
              <a:buNone/>
            </a:pPr>
            <a:r>
              <a:rPr lang="en-US" sz="1100" i="1" dirty="0">
                <a:solidFill>
                  <a:srgbClr val="A9A7B8"/>
                </a:solidFill>
                <a:latin typeface="Calibri" pitchFamily="34" charset="0"/>
                <a:ea typeface="Calibri" pitchFamily="34" charset="-122"/>
                <a:cs typeface="Calibri" pitchFamily="34" charset="-120"/>
              </a:rPr>
              <a:t>Task detail and edit</a:t>
            </a:r>
            <a:endParaRPr lang="en-US" sz="1100" dirty="0"/>
          </a:p>
        </p:txBody>
      </p:sp>
      <p:sp>
        <p:nvSpPr>
          <p:cNvPr id="11" name="Shape 7"/>
          <p:cNvSpPr/>
          <p:nvPr/>
        </p:nvSpPr>
        <p:spPr>
          <a:xfrm>
            <a:off x="6637807" y="1289304"/>
            <a:ext cx="4509467" cy="4370832"/>
          </a:xfrm>
          <a:prstGeom prst="rect">
            <a:avLst/>
          </a:prstGeom>
          <a:solidFill>
            <a:srgbClr val="2C2A37"/>
          </a:solidFill>
          <a:ln w="12700">
            <a:solidFill>
              <a:srgbClr val="3A3748"/>
            </a:solidFill>
            <a:prstDash val="solid"/>
          </a:ln>
        </p:spPr>
      </p:sp>
      <p:pic>
        <p:nvPicPr>
          <p:cNvPr id="12" name="Image 1" descr="C:\Users\User\OneDrive\Desktop\HelloJess\docs\validation.png">    </p:cNvPr>
          <p:cNvPicPr>
            <a:picLocks noChangeAspect="1"/>
          </p:cNvPicPr>
          <p:nvPr/>
        </p:nvPicPr>
        <p:blipFill>
          <a:blip r:embed="rId2"/>
          <a:stretch>
            <a:fillRect/>
          </a:stretch>
        </p:blipFill>
        <p:spPr>
          <a:xfrm>
            <a:off x="6674383" y="1325880"/>
            <a:ext cx="4436315" cy="4297680"/>
          </a:xfrm>
          <a:prstGeom prst="rect">
            <a:avLst/>
          </a:prstGeom>
        </p:spPr>
      </p:pic>
      <p:sp>
        <p:nvSpPr>
          <p:cNvPr id="13" name="Text 8"/>
          <p:cNvSpPr/>
          <p:nvPr/>
        </p:nvSpPr>
        <p:spPr>
          <a:xfrm>
            <a:off x="6172200" y="5696712"/>
            <a:ext cx="5440680" cy="274320"/>
          </a:xfrm>
          <a:prstGeom prst="rect">
            <a:avLst/>
          </a:prstGeom>
          <a:noFill/>
          <a:ln/>
        </p:spPr>
        <p:txBody>
          <a:bodyPr wrap="square" lIns="0" tIns="0" rIns="0" bIns="0" rtlCol="0" anchor="ctr"/>
          <a:lstStyle/>
          <a:p>
            <a:pPr algn="ctr" indent="0" marL="0">
              <a:buNone/>
            </a:pPr>
            <a:r>
              <a:rPr lang="en-US" sz="1100" i="1" dirty="0">
                <a:solidFill>
                  <a:srgbClr val="A9A7B8"/>
                </a:solidFill>
                <a:latin typeface="Calibri" pitchFamily="34" charset="0"/>
                <a:ea typeface="Calibri" pitchFamily="34" charset="-122"/>
                <a:cs typeface="Calibri" pitchFamily="34" charset="-120"/>
              </a:rPr>
              <a:t>Validation messages (empty title)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Web: the calendar</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WEB</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21</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sp>
        <p:nvSpPr>
          <p:cNvPr id="8" name="Shape 5"/>
          <p:cNvSpPr/>
          <p:nvPr/>
        </p:nvSpPr>
        <p:spPr>
          <a:xfrm>
            <a:off x="1405563" y="1243584"/>
            <a:ext cx="4869833" cy="4736592"/>
          </a:xfrm>
          <a:prstGeom prst="rect">
            <a:avLst/>
          </a:prstGeom>
          <a:solidFill>
            <a:srgbClr val="2C2A37"/>
          </a:solidFill>
          <a:ln w="12700">
            <a:solidFill>
              <a:srgbClr val="3A3748"/>
            </a:solidFill>
            <a:prstDash val="solid"/>
          </a:ln>
        </p:spPr>
      </p:sp>
      <p:pic>
        <p:nvPicPr>
          <p:cNvPr id="9" name="Image 0" descr="C:/Users/User/AppData/Local/Temp/claude/C--Users-User-OneDrive-Desktop-HelloJess/4f5de54d-7640-4ce8-b96f-c26ed1b4fe92/scratchpad/crop/calendar.png">    </p:cNvPr>
          <p:cNvPicPr>
            <a:picLocks noChangeAspect="1"/>
          </p:cNvPicPr>
          <p:nvPr/>
        </p:nvPicPr>
        <p:blipFill>
          <a:blip r:embed="rId1"/>
          <a:stretch>
            <a:fillRect/>
          </a:stretch>
        </p:blipFill>
        <p:spPr>
          <a:xfrm>
            <a:off x="1442139" y="1280160"/>
            <a:ext cx="4796681" cy="4663440"/>
          </a:xfrm>
          <a:prstGeom prst="rect">
            <a:avLst/>
          </a:prstGeom>
        </p:spPr>
      </p:pic>
      <p:sp>
        <p:nvSpPr>
          <p:cNvPr id="10" name="Shape 6"/>
          <p:cNvSpPr/>
          <p:nvPr/>
        </p:nvSpPr>
        <p:spPr>
          <a:xfrm>
            <a:off x="7406640" y="1371600"/>
            <a:ext cx="4251960" cy="4480560"/>
          </a:xfrm>
          <a:prstGeom prst="roundRect">
            <a:avLst>
              <a:gd name="adj" fmla="val 1720"/>
            </a:avLst>
          </a:prstGeom>
          <a:solidFill>
            <a:srgbClr val="23212B"/>
          </a:solidFill>
          <a:ln w="12700">
            <a:solidFill>
              <a:srgbClr val="3A3748"/>
            </a:solidFill>
            <a:prstDash val="solid"/>
          </a:ln>
        </p:spPr>
      </p:sp>
      <p:sp>
        <p:nvSpPr>
          <p:cNvPr id="11" name="Shape 7"/>
          <p:cNvSpPr/>
          <p:nvPr/>
        </p:nvSpPr>
        <p:spPr>
          <a:xfrm>
            <a:off x="7424928" y="1536192"/>
            <a:ext cx="64008" cy="365760"/>
          </a:xfrm>
          <a:prstGeom prst="rect">
            <a:avLst/>
          </a:prstGeom>
          <a:solidFill>
            <a:srgbClr val="F5A623"/>
          </a:solidFill>
          <a:ln w="12700">
            <a:solidFill>
              <a:srgbClr val="F5A623"/>
            </a:solidFill>
            <a:prstDash val="solid"/>
          </a:ln>
        </p:spPr>
      </p:sp>
      <p:sp>
        <p:nvSpPr>
          <p:cNvPr id="12" name="Text 8"/>
          <p:cNvSpPr/>
          <p:nvPr/>
        </p:nvSpPr>
        <p:spPr>
          <a:xfrm>
            <a:off x="7635240" y="1481328"/>
            <a:ext cx="3886200"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Reading it</a:t>
            </a:r>
            <a:endParaRPr lang="en-US" sz="1700" dirty="0"/>
          </a:p>
        </p:txBody>
      </p:sp>
      <p:sp>
        <p:nvSpPr>
          <p:cNvPr id="13" name="Text 9"/>
          <p:cNvSpPr/>
          <p:nvPr/>
        </p:nvSpPr>
        <p:spPr>
          <a:xfrm>
            <a:off x="7635240" y="1984248"/>
            <a:ext cx="3840480" cy="3776472"/>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Colour = status of the task</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Red outline = overdue</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Click a day to list its events</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Overdue tasks from earlier months are carried onto today</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Tasks without a due date show on the day they were added</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Web: habits and statistics</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WEB</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22</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sp>
        <p:nvSpPr>
          <p:cNvPr id="8" name="Shape 5"/>
          <p:cNvSpPr/>
          <p:nvPr/>
        </p:nvSpPr>
        <p:spPr>
          <a:xfrm>
            <a:off x="590230" y="1289304"/>
            <a:ext cx="3848739" cy="4645152"/>
          </a:xfrm>
          <a:prstGeom prst="rect">
            <a:avLst/>
          </a:prstGeom>
          <a:solidFill>
            <a:srgbClr val="2C2A37"/>
          </a:solidFill>
          <a:ln w="12700">
            <a:solidFill>
              <a:srgbClr val="3A3748"/>
            </a:solidFill>
            <a:prstDash val="solid"/>
          </a:ln>
        </p:spPr>
      </p:sp>
      <p:pic>
        <p:nvPicPr>
          <p:cNvPr id="9" name="Image 0" descr="C:\Users\User\OneDrive\Desktop\HelloJess\docs\habits.png">    </p:cNvPr>
          <p:cNvPicPr>
            <a:picLocks noChangeAspect="1"/>
          </p:cNvPicPr>
          <p:nvPr/>
        </p:nvPicPr>
        <p:blipFill>
          <a:blip r:embed="rId1"/>
          <a:stretch>
            <a:fillRect/>
          </a:stretch>
        </p:blipFill>
        <p:spPr>
          <a:xfrm>
            <a:off x="626806" y="1325880"/>
            <a:ext cx="3775587" cy="4572000"/>
          </a:xfrm>
          <a:prstGeom prst="rect">
            <a:avLst/>
          </a:prstGeom>
        </p:spPr>
      </p:pic>
      <p:sp>
        <p:nvSpPr>
          <p:cNvPr id="10" name="Text 6"/>
          <p:cNvSpPr/>
          <p:nvPr/>
        </p:nvSpPr>
        <p:spPr>
          <a:xfrm>
            <a:off x="548640" y="5971032"/>
            <a:ext cx="3931920" cy="274320"/>
          </a:xfrm>
          <a:prstGeom prst="rect">
            <a:avLst/>
          </a:prstGeom>
          <a:noFill/>
          <a:ln/>
        </p:spPr>
        <p:txBody>
          <a:bodyPr wrap="square" lIns="0" tIns="0" rIns="0" bIns="0" rtlCol="0" anchor="ctr"/>
          <a:lstStyle/>
          <a:p>
            <a:pPr algn="ctr" indent="0" marL="0">
              <a:buNone/>
            </a:pPr>
            <a:r>
              <a:rPr lang="en-US" sz="1100" i="1" dirty="0">
                <a:solidFill>
                  <a:srgbClr val="A9A7B8"/>
                </a:solidFill>
                <a:latin typeface="Calibri" pitchFamily="34" charset="0"/>
                <a:ea typeface="Calibri" pitchFamily="34" charset="-122"/>
                <a:cs typeface="Calibri" pitchFamily="34" charset="-120"/>
              </a:rPr>
              <a:t>Habits: last 7 days per habit</a:t>
            </a:r>
            <a:endParaRPr lang="en-US" sz="1100" dirty="0"/>
          </a:p>
        </p:txBody>
      </p:sp>
      <p:sp>
        <p:nvSpPr>
          <p:cNvPr id="11" name="Shape 7"/>
          <p:cNvSpPr/>
          <p:nvPr/>
        </p:nvSpPr>
        <p:spPr>
          <a:xfrm>
            <a:off x="5813463" y="1289304"/>
            <a:ext cx="4786554" cy="4645152"/>
          </a:xfrm>
          <a:prstGeom prst="rect">
            <a:avLst/>
          </a:prstGeom>
          <a:solidFill>
            <a:srgbClr val="2C2A37"/>
          </a:solidFill>
          <a:ln w="12700">
            <a:solidFill>
              <a:srgbClr val="3A3748"/>
            </a:solidFill>
            <a:prstDash val="solid"/>
          </a:ln>
        </p:spPr>
      </p:sp>
      <p:pic>
        <p:nvPicPr>
          <p:cNvPr id="12" name="Image 1" descr="C:\Users\User\OneDrive\Desktop\HelloJess\docs\statistics.png">    </p:cNvPr>
          <p:cNvPicPr>
            <a:picLocks noChangeAspect="1"/>
          </p:cNvPicPr>
          <p:nvPr/>
        </p:nvPicPr>
        <p:blipFill>
          <a:blip r:embed="rId2"/>
          <a:stretch>
            <a:fillRect/>
          </a:stretch>
        </p:blipFill>
        <p:spPr>
          <a:xfrm>
            <a:off x="5850039" y="1325880"/>
            <a:ext cx="4713402" cy="4572000"/>
          </a:xfrm>
          <a:prstGeom prst="rect">
            <a:avLst/>
          </a:prstGeom>
        </p:spPr>
      </p:pic>
      <p:sp>
        <p:nvSpPr>
          <p:cNvPr id="13" name="Text 8"/>
          <p:cNvSpPr/>
          <p:nvPr/>
        </p:nvSpPr>
        <p:spPr>
          <a:xfrm>
            <a:off x="4754880" y="5971032"/>
            <a:ext cx="6903720" cy="274320"/>
          </a:xfrm>
          <a:prstGeom prst="rect">
            <a:avLst/>
          </a:prstGeom>
          <a:noFill/>
          <a:ln/>
        </p:spPr>
        <p:txBody>
          <a:bodyPr wrap="square" lIns="0" tIns="0" rIns="0" bIns="0" rtlCol="0" anchor="ctr"/>
          <a:lstStyle/>
          <a:p>
            <a:pPr algn="ctr" indent="0" marL="0">
              <a:buNone/>
            </a:pPr>
            <a:r>
              <a:rPr lang="en-US" sz="1100" i="1" dirty="0">
                <a:solidFill>
                  <a:srgbClr val="A9A7B8"/>
                </a:solidFill>
                <a:latin typeface="Calibri" pitchFamily="34" charset="0"/>
                <a:ea typeface="Calibri" pitchFamily="34" charset="-122"/>
                <a:cs typeface="Calibri" pitchFamily="34" charset="-120"/>
              </a:rPr>
              <a:t>Statistics: heatmap and completion rate</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Mobile app: structure</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MOBILE</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23</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2377440"/>
                <a:gridCol w="457200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File (mobile)</a:t>
                      </a:r>
                      <a:endParaRPr lang="en-US" sz="1250" dirty="0">
                        <a:latin typeface="Calibri" charset="0"/>
                        <a:ea typeface="Calibri" charset="0"/>
                        <a:cs typeface="Calibri" charset="0"/>
                      </a:endParaRPr>
                    </a:p>
                  </a:txBody>
                  <a:tcPr marL="91440" marR="91440" marT="36576" marB="36576">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6C5CE7"/>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Role</a:t>
                      </a:r>
                      <a:endParaRPr lang="en-US" sz="1250" dirty="0">
                        <a:latin typeface="Calibri" charset="0"/>
                        <a:ea typeface="Calibri" charset="0"/>
                        <a:cs typeface="Calibri" charset="0"/>
                      </a:endParaRPr>
                    </a:p>
                  </a:txBody>
                  <a:tcPr marL="91440" marR="91440" marT="36576" marB="36576">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6C5CE7"/>
                    </a:solidFill>
                  </a:tcPr>
                </a:tc>
              </a:tr>
              <a:tr h="640080">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App.tsx</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AuthProvider + navigator; spinner while the saved session is checked</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r>
              <a:tr h="640080">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src/api.ts</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axios (EXPO_PUBLIC_API_URL + /api, 10 s timeout), types, clear error messages</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r>
              <a:tr h="640080">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context/AuthContext.tsx</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Same role as web; token in AsyncStorage</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r>
              <a:tr h="640080">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screens/</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Tasks, TaskDetail, Calendar, Habits, Stats, Profile, Login, Register</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r>
              <a:tr h="640080">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components/</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TopNav, Chip, ErrorList, Heatmap, CompletionChart</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r>
              <a:tr h="640080">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utils/</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c>
                  <a:txBody>
                    <a:bodyPr/>
                    <a:lstStyle/>
                    <a:p>
                      <a:pPr indent="0" marL="0">
                        <a:buNone/>
                      </a:pPr>
                      <a:r>
                        <a:rPr lang="en-US" sz="1250" dirty="0">
                          <a:solidFill>
                            <a:srgbClr val="F2F1F6"/>
                          </a:solidFill>
                          <a:latin typeface="Calibri" pitchFamily="34" charset="0"/>
                          <a:ea typeface="Calibri" pitchFamily="34" charset="-122"/>
                          <a:cs typeface="Calibri" pitchFamily="34" charset="-120"/>
                        </a:rPr>
                        <a:t>calendar grid, date names, confirmations</a:t>
                      </a:r>
                      <a:endParaRPr lang="en-US" sz="12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r>
            </a:tbl>
          </a:graphicData>
        </a:graphic>
      </p:graphicFrame>
      <p:sp>
        <p:nvSpPr>
          <p:cNvPr id="9" name="Shape 5"/>
          <p:cNvSpPr/>
          <p:nvPr/>
        </p:nvSpPr>
        <p:spPr>
          <a:xfrm>
            <a:off x="7772400" y="1371600"/>
            <a:ext cx="3886200" cy="2103120"/>
          </a:xfrm>
          <a:prstGeom prst="roundRect">
            <a:avLst>
              <a:gd name="adj" fmla="val 3478"/>
            </a:avLst>
          </a:prstGeom>
          <a:solidFill>
            <a:srgbClr val="23212B"/>
          </a:solidFill>
          <a:ln w="12700">
            <a:solidFill>
              <a:srgbClr val="3A3748"/>
            </a:solidFill>
            <a:prstDash val="solid"/>
          </a:ln>
        </p:spPr>
      </p:sp>
      <p:sp>
        <p:nvSpPr>
          <p:cNvPr id="10" name="Shape 6"/>
          <p:cNvSpPr/>
          <p:nvPr/>
        </p:nvSpPr>
        <p:spPr>
          <a:xfrm>
            <a:off x="7790688" y="1536192"/>
            <a:ext cx="64008" cy="365760"/>
          </a:xfrm>
          <a:prstGeom prst="rect">
            <a:avLst/>
          </a:prstGeom>
          <a:solidFill>
            <a:srgbClr val="E5484D"/>
          </a:solidFill>
          <a:ln w="12700">
            <a:solidFill>
              <a:srgbClr val="E5484D"/>
            </a:solidFill>
            <a:prstDash val="solid"/>
          </a:ln>
        </p:spPr>
      </p:sp>
      <p:sp>
        <p:nvSpPr>
          <p:cNvPr id="11" name="Text 7"/>
          <p:cNvSpPr/>
          <p:nvPr/>
        </p:nvSpPr>
        <p:spPr>
          <a:xfrm>
            <a:off x="8001000" y="1481328"/>
            <a:ext cx="3520440"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Logged out</a:t>
            </a:r>
            <a:endParaRPr lang="en-US" sz="1700" dirty="0"/>
          </a:p>
        </p:txBody>
      </p:sp>
      <p:sp>
        <p:nvSpPr>
          <p:cNvPr id="12" name="Text 8"/>
          <p:cNvSpPr/>
          <p:nvPr/>
        </p:nvSpPr>
        <p:spPr>
          <a:xfrm>
            <a:off x="8001000" y="1984248"/>
            <a:ext cx="3474720" cy="1399032"/>
          </a:xfrm>
          <a:prstGeom prst="rect">
            <a:avLst/>
          </a:prstGeom>
          <a:noFill/>
          <a:ln/>
        </p:spPr>
        <p:txBody>
          <a:bodyPr wrap="square" lIns="0" tIns="0" rIns="0" bIns="0" rtlCol="0" anchor="t"/>
          <a:lstStyle/>
          <a:p>
            <a:pPr marL="177800" indent="-177800">
              <a:spcAft>
                <a:spcPts val="400"/>
              </a:spcAft>
              <a:buSzPct val="100000"/>
              <a:buChar char="•"/>
            </a:pPr>
            <a:r>
              <a:rPr lang="en-US" sz="1650" dirty="0">
                <a:solidFill>
                  <a:srgbClr val="F2F1F6"/>
                </a:solidFill>
                <a:latin typeface="Calibri" pitchFamily="34" charset="0"/>
                <a:ea typeface="Calibri" pitchFamily="34" charset="-122"/>
                <a:cs typeface="Calibri" pitchFamily="34" charset="-120"/>
              </a:rPr>
              <a:t>Login</a:t>
            </a:r>
            <a:endParaRPr lang="en-US" sz="1650" dirty="0"/>
          </a:p>
          <a:p>
            <a:pPr marL="177800" indent="-177800">
              <a:spcAft>
                <a:spcPts val="400"/>
              </a:spcAft>
              <a:buSzPct val="100000"/>
              <a:buChar char="•"/>
            </a:pPr>
            <a:r>
              <a:rPr lang="en-US" sz="1650" dirty="0">
                <a:solidFill>
                  <a:srgbClr val="F2F1F6"/>
                </a:solidFill>
                <a:latin typeface="Calibri" pitchFamily="34" charset="0"/>
                <a:ea typeface="Calibri" pitchFamily="34" charset="-122"/>
                <a:cs typeface="Calibri" pitchFamily="34" charset="-120"/>
              </a:rPr>
              <a:t>Register</a:t>
            </a:r>
            <a:endParaRPr lang="en-US" sz="1650" dirty="0"/>
          </a:p>
        </p:txBody>
      </p:sp>
      <p:sp>
        <p:nvSpPr>
          <p:cNvPr id="13" name="Shape 9"/>
          <p:cNvSpPr/>
          <p:nvPr/>
        </p:nvSpPr>
        <p:spPr>
          <a:xfrm>
            <a:off x="7772400" y="3657600"/>
            <a:ext cx="3886200" cy="2194560"/>
          </a:xfrm>
          <a:prstGeom prst="roundRect">
            <a:avLst>
              <a:gd name="adj" fmla="val 3333"/>
            </a:avLst>
          </a:prstGeom>
          <a:solidFill>
            <a:srgbClr val="23212B"/>
          </a:solidFill>
          <a:ln w="12700">
            <a:solidFill>
              <a:srgbClr val="3A3748"/>
            </a:solidFill>
            <a:prstDash val="solid"/>
          </a:ln>
        </p:spPr>
      </p:sp>
      <p:sp>
        <p:nvSpPr>
          <p:cNvPr id="14" name="Shape 10"/>
          <p:cNvSpPr/>
          <p:nvPr/>
        </p:nvSpPr>
        <p:spPr>
          <a:xfrm>
            <a:off x="7790688" y="3822192"/>
            <a:ext cx="64008" cy="365760"/>
          </a:xfrm>
          <a:prstGeom prst="rect">
            <a:avLst/>
          </a:prstGeom>
          <a:solidFill>
            <a:srgbClr val="2ECC71"/>
          </a:solidFill>
          <a:ln w="12700">
            <a:solidFill>
              <a:srgbClr val="2ECC71"/>
            </a:solidFill>
            <a:prstDash val="solid"/>
          </a:ln>
        </p:spPr>
      </p:sp>
      <p:sp>
        <p:nvSpPr>
          <p:cNvPr id="15" name="Text 11"/>
          <p:cNvSpPr/>
          <p:nvPr/>
        </p:nvSpPr>
        <p:spPr>
          <a:xfrm>
            <a:off x="8001000" y="3767328"/>
            <a:ext cx="3520440"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Logged in</a:t>
            </a:r>
            <a:endParaRPr lang="en-US" sz="1700" dirty="0"/>
          </a:p>
        </p:txBody>
      </p:sp>
      <p:sp>
        <p:nvSpPr>
          <p:cNvPr id="16" name="Text 12"/>
          <p:cNvSpPr/>
          <p:nvPr/>
        </p:nvSpPr>
        <p:spPr>
          <a:xfrm>
            <a:off x="8001000" y="4270248"/>
            <a:ext cx="3474720" cy="1490472"/>
          </a:xfrm>
          <a:prstGeom prst="rect">
            <a:avLst/>
          </a:prstGeom>
          <a:noFill/>
          <a:ln/>
        </p:spPr>
        <p:txBody>
          <a:bodyPr wrap="square" lIns="0" tIns="0" rIns="0" bIns="0" rtlCol="0" anchor="t"/>
          <a:lstStyle/>
          <a:p>
            <a:pPr marL="177800" indent="-177800">
              <a:spcAft>
                <a:spcPts val="400"/>
              </a:spcAft>
              <a:buSzPct val="100000"/>
              <a:buChar char="•"/>
            </a:pPr>
            <a:r>
              <a:rPr lang="en-US" sz="1650" dirty="0">
                <a:solidFill>
                  <a:srgbClr val="F2F1F6"/>
                </a:solidFill>
                <a:latin typeface="Calibri" pitchFamily="34" charset="0"/>
                <a:ea typeface="Calibri" pitchFamily="34" charset="-122"/>
                <a:cs typeface="Calibri" pitchFamily="34" charset="-120"/>
              </a:rPr>
              <a:t>Tasks, TaskDetail</a:t>
            </a:r>
            <a:endParaRPr lang="en-US" sz="1650" dirty="0"/>
          </a:p>
          <a:p>
            <a:pPr marL="177800" indent="-177800">
              <a:spcAft>
                <a:spcPts val="400"/>
              </a:spcAft>
              <a:buSzPct val="100000"/>
              <a:buChar char="•"/>
            </a:pPr>
            <a:r>
              <a:rPr lang="en-US" sz="1650" dirty="0">
                <a:solidFill>
                  <a:srgbClr val="F2F1F6"/>
                </a:solidFill>
                <a:latin typeface="Calibri" pitchFamily="34" charset="0"/>
                <a:ea typeface="Calibri" pitchFamily="34" charset="-122"/>
                <a:cs typeface="Calibri" pitchFamily="34" charset="-120"/>
              </a:rPr>
              <a:t>Calendar, Habits, Stats</a:t>
            </a:r>
            <a:endParaRPr lang="en-US" sz="1650" dirty="0"/>
          </a:p>
          <a:p>
            <a:pPr marL="177800" indent="-177800">
              <a:spcAft>
                <a:spcPts val="400"/>
              </a:spcAft>
              <a:buSzPct val="100000"/>
              <a:buChar char="•"/>
            </a:pPr>
            <a:r>
              <a:rPr lang="en-US" sz="1650" dirty="0">
                <a:solidFill>
                  <a:srgbClr val="F2F1F6"/>
                </a:solidFill>
                <a:latin typeface="Calibri" pitchFamily="34" charset="0"/>
                <a:ea typeface="Calibri" pitchFamily="34" charset="-122"/>
                <a:cs typeface="Calibri" pitchFamily="34" charset="-120"/>
              </a:rPr>
              <a:t>Profile</a:t>
            </a:r>
            <a:endParaRPr lang="en-US"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Mobile: the screens</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MOBILE</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24</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sp>
        <p:nvSpPr>
          <p:cNvPr id="8" name="Shape 5"/>
          <p:cNvSpPr/>
          <p:nvPr/>
        </p:nvSpPr>
        <p:spPr>
          <a:xfrm>
            <a:off x="530675" y="1289304"/>
            <a:ext cx="2107961" cy="4507992"/>
          </a:xfrm>
          <a:prstGeom prst="rect">
            <a:avLst/>
          </a:prstGeom>
          <a:solidFill>
            <a:srgbClr val="2C2A37"/>
          </a:solidFill>
          <a:ln w="12700">
            <a:solidFill>
              <a:srgbClr val="3A3748"/>
            </a:solidFill>
            <a:prstDash val="solid"/>
          </a:ln>
        </p:spPr>
      </p:sp>
      <p:pic>
        <p:nvPicPr>
          <p:cNvPr id="9" name="Image 0" descr="C:/Users/User/AppData/Local/Temp/claude/C--Users-User-OneDrive-Desktop-HelloJess/4f5de54d-7640-4ce8-b96f-c26ed1b4fe92/scratchpad/crop/mobile-tasks.png">    </p:cNvPr>
          <p:cNvPicPr>
            <a:picLocks noChangeAspect="1"/>
          </p:cNvPicPr>
          <p:nvPr/>
        </p:nvPicPr>
        <p:blipFill>
          <a:blip r:embed="rId1"/>
          <a:stretch>
            <a:fillRect/>
          </a:stretch>
        </p:blipFill>
        <p:spPr>
          <a:xfrm>
            <a:off x="567251" y="1325880"/>
            <a:ext cx="2034809" cy="4434840"/>
          </a:xfrm>
          <a:prstGeom prst="rect">
            <a:avLst/>
          </a:prstGeom>
        </p:spPr>
      </p:pic>
      <p:sp>
        <p:nvSpPr>
          <p:cNvPr id="10" name="Text 6"/>
          <p:cNvSpPr/>
          <p:nvPr/>
        </p:nvSpPr>
        <p:spPr>
          <a:xfrm>
            <a:off x="548640" y="5833872"/>
            <a:ext cx="2072030" cy="274320"/>
          </a:xfrm>
          <a:prstGeom prst="rect">
            <a:avLst/>
          </a:prstGeom>
          <a:noFill/>
          <a:ln/>
        </p:spPr>
        <p:txBody>
          <a:bodyPr wrap="square" lIns="0" tIns="0" rIns="0" bIns="0" rtlCol="0" anchor="ctr"/>
          <a:lstStyle/>
          <a:p>
            <a:pPr algn="ctr" indent="0" marL="0">
              <a:buNone/>
            </a:pPr>
            <a:r>
              <a:rPr lang="en-US" sz="1100" i="1" dirty="0">
                <a:solidFill>
                  <a:srgbClr val="A9A7B8"/>
                </a:solidFill>
                <a:latin typeface="Calibri" pitchFamily="34" charset="0"/>
                <a:ea typeface="Calibri" pitchFamily="34" charset="-122"/>
                <a:cs typeface="Calibri" pitchFamily="34" charset="-120"/>
              </a:rPr>
              <a:t>Tasks</a:t>
            </a:r>
            <a:endParaRPr lang="en-US" sz="1100" dirty="0"/>
          </a:p>
        </p:txBody>
      </p:sp>
      <p:sp>
        <p:nvSpPr>
          <p:cNvPr id="11" name="Shape 7"/>
          <p:cNvSpPr/>
          <p:nvPr/>
        </p:nvSpPr>
        <p:spPr>
          <a:xfrm>
            <a:off x="2785585" y="1289304"/>
            <a:ext cx="2107961" cy="4507992"/>
          </a:xfrm>
          <a:prstGeom prst="rect">
            <a:avLst/>
          </a:prstGeom>
          <a:solidFill>
            <a:srgbClr val="2C2A37"/>
          </a:solidFill>
          <a:ln w="12700">
            <a:solidFill>
              <a:srgbClr val="3A3748"/>
            </a:solidFill>
            <a:prstDash val="solid"/>
          </a:ln>
        </p:spPr>
      </p:sp>
      <p:pic>
        <p:nvPicPr>
          <p:cNvPr id="12" name="Image 1" descr="C:/Users/User/AppData/Local/Temp/claude/C--Users-User-OneDrive-Desktop-HelloJess/4f5de54d-7640-4ce8-b96f-c26ed1b4fe92/scratchpad/crop/mobile-calendar.png">    </p:cNvPr>
          <p:cNvPicPr>
            <a:picLocks noChangeAspect="1"/>
          </p:cNvPicPr>
          <p:nvPr/>
        </p:nvPicPr>
        <p:blipFill>
          <a:blip r:embed="rId2"/>
          <a:stretch>
            <a:fillRect/>
          </a:stretch>
        </p:blipFill>
        <p:spPr>
          <a:xfrm>
            <a:off x="2822161" y="1325880"/>
            <a:ext cx="2034809" cy="4434840"/>
          </a:xfrm>
          <a:prstGeom prst="rect">
            <a:avLst/>
          </a:prstGeom>
        </p:spPr>
      </p:pic>
      <p:sp>
        <p:nvSpPr>
          <p:cNvPr id="13" name="Text 8"/>
          <p:cNvSpPr/>
          <p:nvPr/>
        </p:nvSpPr>
        <p:spPr>
          <a:xfrm>
            <a:off x="2803550" y="5833872"/>
            <a:ext cx="2072030" cy="274320"/>
          </a:xfrm>
          <a:prstGeom prst="rect">
            <a:avLst/>
          </a:prstGeom>
          <a:noFill/>
          <a:ln/>
        </p:spPr>
        <p:txBody>
          <a:bodyPr wrap="square" lIns="0" tIns="0" rIns="0" bIns="0" rtlCol="0" anchor="ctr"/>
          <a:lstStyle/>
          <a:p>
            <a:pPr algn="ctr" indent="0" marL="0">
              <a:buNone/>
            </a:pPr>
            <a:r>
              <a:rPr lang="en-US" sz="1100" i="1" dirty="0">
                <a:solidFill>
                  <a:srgbClr val="A9A7B8"/>
                </a:solidFill>
                <a:latin typeface="Calibri" pitchFamily="34" charset="0"/>
                <a:ea typeface="Calibri" pitchFamily="34" charset="-122"/>
                <a:cs typeface="Calibri" pitchFamily="34" charset="-120"/>
              </a:rPr>
              <a:t>Calendar</a:t>
            </a:r>
            <a:endParaRPr lang="en-US" sz="1100" dirty="0"/>
          </a:p>
        </p:txBody>
      </p:sp>
      <p:sp>
        <p:nvSpPr>
          <p:cNvPr id="14" name="Shape 9"/>
          <p:cNvSpPr/>
          <p:nvPr/>
        </p:nvSpPr>
        <p:spPr>
          <a:xfrm>
            <a:off x="5023458" y="1289304"/>
            <a:ext cx="2142037" cy="4507992"/>
          </a:xfrm>
          <a:prstGeom prst="rect">
            <a:avLst/>
          </a:prstGeom>
          <a:solidFill>
            <a:srgbClr val="2C2A37"/>
          </a:solidFill>
          <a:ln w="12700">
            <a:solidFill>
              <a:srgbClr val="3A3748"/>
            </a:solidFill>
            <a:prstDash val="solid"/>
          </a:ln>
        </p:spPr>
      </p:sp>
      <p:pic>
        <p:nvPicPr>
          <p:cNvPr id="15" name="Image 2" descr="C:\Users\User\OneDrive\Desktop\HelloJess\docs\mobile-habits.png">    </p:cNvPr>
          <p:cNvPicPr>
            <a:picLocks noChangeAspect="1"/>
          </p:cNvPicPr>
          <p:nvPr/>
        </p:nvPicPr>
        <p:blipFill>
          <a:blip r:embed="rId3"/>
          <a:stretch>
            <a:fillRect/>
          </a:stretch>
        </p:blipFill>
        <p:spPr>
          <a:xfrm>
            <a:off x="5060034" y="1325880"/>
            <a:ext cx="2068885" cy="4434840"/>
          </a:xfrm>
          <a:prstGeom prst="rect">
            <a:avLst/>
          </a:prstGeom>
        </p:spPr>
      </p:pic>
      <p:sp>
        <p:nvSpPr>
          <p:cNvPr id="16" name="Text 10"/>
          <p:cNvSpPr/>
          <p:nvPr/>
        </p:nvSpPr>
        <p:spPr>
          <a:xfrm>
            <a:off x="5058461" y="5833872"/>
            <a:ext cx="2072030" cy="274320"/>
          </a:xfrm>
          <a:prstGeom prst="rect">
            <a:avLst/>
          </a:prstGeom>
          <a:noFill/>
          <a:ln/>
        </p:spPr>
        <p:txBody>
          <a:bodyPr wrap="square" lIns="0" tIns="0" rIns="0" bIns="0" rtlCol="0" anchor="ctr"/>
          <a:lstStyle/>
          <a:p>
            <a:pPr algn="ctr" indent="0" marL="0">
              <a:buNone/>
            </a:pPr>
            <a:r>
              <a:rPr lang="en-US" sz="1100" i="1" dirty="0">
                <a:solidFill>
                  <a:srgbClr val="A9A7B8"/>
                </a:solidFill>
                <a:latin typeface="Calibri" pitchFamily="34" charset="0"/>
                <a:ea typeface="Calibri" pitchFamily="34" charset="-122"/>
                <a:cs typeface="Calibri" pitchFamily="34" charset="-120"/>
              </a:rPr>
              <a:t>Habits</a:t>
            </a:r>
            <a:endParaRPr lang="en-US" sz="1100" dirty="0"/>
          </a:p>
        </p:txBody>
      </p:sp>
      <p:sp>
        <p:nvSpPr>
          <p:cNvPr id="17" name="Shape 11"/>
          <p:cNvSpPr/>
          <p:nvPr/>
        </p:nvSpPr>
        <p:spPr>
          <a:xfrm>
            <a:off x="7369742" y="1289304"/>
            <a:ext cx="1959289" cy="4507992"/>
          </a:xfrm>
          <a:prstGeom prst="rect">
            <a:avLst/>
          </a:prstGeom>
          <a:solidFill>
            <a:srgbClr val="2C2A37"/>
          </a:solidFill>
          <a:ln w="12700">
            <a:solidFill>
              <a:srgbClr val="3A3748"/>
            </a:solidFill>
            <a:prstDash val="solid"/>
          </a:ln>
        </p:spPr>
      </p:sp>
      <p:pic>
        <p:nvPicPr>
          <p:cNvPr id="18" name="Image 3" descr="C:\Users\User\OneDrive\Desktop\HelloJess\docs\mobile-statistics.png">    </p:cNvPr>
          <p:cNvPicPr>
            <a:picLocks noChangeAspect="1"/>
          </p:cNvPicPr>
          <p:nvPr/>
        </p:nvPicPr>
        <p:blipFill>
          <a:blip r:embed="rId4"/>
          <a:stretch>
            <a:fillRect/>
          </a:stretch>
        </p:blipFill>
        <p:spPr>
          <a:xfrm>
            <a:off x="7406318" y="1325880"/>
            <a:ext cx="1886137" cy="4434840"/>
          </a:xfrm>
          <a:prstGeom prst="rect">
            <a:avLst/>
          </a:prstGeom>
        </p:spPr>
      </p:pic>
      <p:sp>
        <p:nvSpPr>
          <p:cNvPr id="19" name="Text 12"/>
          <p:cNvSpPr/>
          <p:nvPr/>
        </p:nvSpPr>
        <p:spPr>
          <a:xfrm>
            <a:off x="7313371" y="5833872"/>
            <a:ext cx="2072030" cy="274320"/>
          </a:xfrm>
          <a:prstGeom prst="rect">
            <a:avLst/>
          </a:prstGeom>
          <a:noFill/>
          <a:ln/>
        </p:spPr>
        <p:txBody>
          <a:bodyPr wrap="square" lIns="0" tIns="0" rIns="0" bIns="0" rtlCol="0" anchor="ctr"/>
          <a:lstStyle/>
          <a:p>
            <a:pPr algn="ctr" indent="0" marL="0">
              <a:buNone/>
            </a:pPr>
            <a:r>
              <a:rPr lang="en-US" sz="1100" i="1" dirty="0">
                <a:solidFill>
                  <a:srgbClr val="A9A7B8"/>
                </a:solidFill>
                <a:latin typeface="Calibri" pitchFamily="34" charset="0"/>
                <a:ea typeface="Calibri" pitchFamily="34" charset="-122"/>
                <a:cs typeface="Calibri" pitchFamily="34" charset="-120"/>
              </a:rPr>
              <a:t>Statistics</a:t>
            </a:r>
            <a:endParaRPr lang="en-US" sz="1100" dirty="0"/>
          </a:p>
        </p:txBody>
      </p:sp>
      <p:sp>
        <p:nvSpPr>
          <p:cNvPr id="20" name="Shape 13"/>
          <p:cNvSpPr/>
          <p:nvPr/>
        </p:nvSpPr>
        <p:spPr>
          <a:xfrm>
            <a:off x="9531706" y="1854413"/>
            <a:ext cx="2145182" cy="3377775"/>
          </a:xfrm>
          <a:prstGeom prst="rect">
            <a:avLst/>
          </a:prstGeom>
          <a:solidFill>
            <a:srgbClr val="2C2A37"/>
          </a:solidFill>
          <a:ln w="12700">
            <a:solidFill>
              <a:srgbClr val="3A3748"/>
            </a:solidFill>
            <a:prstDash val="solid"/>
          </a:ln>
        </p:spPr>
      </p:sp>
      <p:pic>
        <p:nvPicPr>
          <p:cNvPr id="21" name="Image 4" descr="C:\Users\User\OneDrive\Desktop\HelloJess\docs\mobile-profile.png">    </p:cNvPr>
          <p:cNvPicPr>
            <a:picLocks noChangeAspect="1"/>
          </p:cNvPicPr>
          <p:nvPr/>
        </p:nvPicPr>
        <p:blipFill>
          <a:blip r:embed="rId5"/>
          <a:stretch>
            <a:fillRect/>
          </a:stretch>
        </p:blipFill>
        <p:spPr>
          <a:xfrm>
            <a:off x="9568282" y="1890989"/>
            <a:ext cx="2072030" cy="3304623"/>
          </a:xfrm>
          <a:prstGeom prst="rect">
            <a:avLst/>
          </a:prstGeom>
        </p:spPr>
      </p:pic>
      <p:sp>
        <p:nvSpPr>
          <p:cNvPr id="22" name="Text 14"/>
          <p:cNvSpPr/>
          <p:nvPr/>
        </p:nvSpPr>
        <p:spPr>
          <a:xfrm>
            <a:off x="9568282" y="5268763"/>
            <a:ext cx="2072030" cy="274320"/>
          </a:xfrm>
          <a:prstGeom prst="rect">
            <a:avLst/>
          </a:prstGeom>
          <a:noFill/>
          <a:ln/>
        </p:spPr>
        <p:txBody>
          <a:bodyPr wrap="square" lIns="0" tIns="0" rIns="0" bIns="0" rtlCol="0" anchor="ctr"/>
          <a:lstStyle/>
          <a:p>
            <a:pPr algn="ctr" indent="0" marL="0">
              <a:buNone/>
            </a:pPr>
            <a:r>
              <a:rPr lang="en-US" sz="1100" i="1" dirty="0">
                <a:solidFill>
                  <a:srgbClr val="A9A7B8"/>
                </a:solidFill>
                <a:latin typeface="Calibri" pitchFamily="34" charset="0"/>
                <a:ea typeface="Calibri" pitchFamily="34" charset="-122"/>
                <a:cs typeface="Calibri" pitchFamily="34" charset="-120"/>
              </a:rPr>
              <a:t>Profile</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Mobile: what is different</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MOBILE</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25</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sp>
        <p:nvSpPr>
          <p:cNvPr id="8" name="Shape 5"/>
          <p:cNvSpPr/>
          <p:nvPr/>
        </p:nvSpPr>
        <p:spPr>
          <a:xfrm>
            <a:off x="548640" y="1371600"/>
            <a:ext cx="5431536" cy="2103120"/>
          </a:xfrm>
          <a:prstGeom prst="roundRect">
            <a:avLst>
              <a:gd name="adj" fmla="val 3478"/>
            </a:avLst>
          </a:prstGeom>
          <a:solidFill>
            <a:srgbClr val="23212B"/>
          </a:solidFill>
          <a:ln w="12700">
            <a:solidFill>
              <a:srgbClr val="3A3748"/>
            </a:solidFill>
            <a:prstDash val="solid"/>
          </a:ln>
        </p:spPr>
      </p:sp>
      <p:sp>
        <p:nvSpPr>
          <p:cNvPr id="9" name="Shape 6"/>
          <p:cNvSpPr/>
          <p:nvPr/>
        </p:nvSpPr>
        <p:spPr>
          <a:xfrm>
            <a:off x="566928" y="1536192"/>
            <a:ext cx="64008" cy="365760"/>
          </a:xfrm>
          <a:prstGeom prst="rect">
            <a:avLst/>
          </a:prstGeom>
          <a:solidFill>
            <a:srgbClr val="F5A623"/>
          </a:solidFill>
          <a:ln w="12700">
            <a:solidFill>
              <a:srgbClr val="F5A623"/>
            </a:solidFill>
            <a:prstDash val="solid"/>
          </a:ln>
        </p:spPr>
      </p:sp>
      <p:sp>
        <p:nvSpPr>
          <p:cNvPr id="10" name="Text 7"/>
          <p:cNvSpPr/>
          <p:nvPr/>
        </p:nvSpPr>
        <p:spPr>
          <a:xfrm>
            <a:off x="777240" y="1481328"/>
            <a:ext cx="5065776"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Reaching the API</a:t>
            </a:r>
            <a:endParaRPr lang="en-US" sz="1700" dirty="0"/>
          </a:p>
        </p:txBody>
      </p:sp>
      <p:sp>
        <p:nvSpPr>
          <p:cNvPr id="11" name="Text 8"/>
          <p:cNvSpPr/>
          <p:nvPr/>
        </p:nvSpPr>
        <p:spPr>
          <a:xfrm>
            <a:off x="777240" y="1984248"/>
            <a:ext cx="5020056" cy="1399032"/>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rgbClr val="F2F1F6"/>
                </a:solidFill>
                <a:latin typeface="Calibri" pitchFamily="34" charset="0"/>
                <a:ea typeface="Calibri" pitchFamily="34" charset="-122"/>
                <a:cs typeface="Calibri" pitchFamily="34" charset="-120"/>
              </a:rPr>
              <a:t>EXPO_PUBLIC_API_URL must be the computer's LAN IP</a:t>
            </a:r>
            <a:endParaRPr lang="en-US" sz="1500" dirty="0"/>
          </a:p>
          <a:p>
            <a:pPr marL="177800" indent="-177800">
              <a:spcAft>
                <a:spcPts val="400"/>
              </a:spcAft>
              <a:buSzPct val="100000"/>
              <a:buChar char="•"/>
            </a:pPr>
            <a:r>
              <a:rPr lang="en-US" sz="1500" dirty="0">
                <a:solidFill>
                  <a:srgbClr val="F2F1F6"/>
                </a:solidFill>
                <a:latin typeface="Calibri" pitchFamily="34" charset="0"/>
                <a:ea typeface="Calibri" pitchFamily="34" charset="-122"/>
                <a:cs typeface="Calibri" pitchFamily="34" charset="-120"/>
              </a:rPr>
              <a:t>Example: http://192.168.1.250:8000</a:t>
            </a:r>
            <a:endParaRPr lang="en-US" sz="1500" dirty="0"/>
          </a:p>
          <a:p>
            <a:pPr marL="177800" indent="-177800">
              <a:spcAft>
                <a:spcPts val="400"/>
              </a:spcAft>
              <a:buSzPct val="100000"/>
              <a:buChar char="•"/>
            </a:pPr>
            <a:r>
              <a:rPr lang="en-US" sz="1500" dirty="0">
                <a:solidFill>
                  <a:srgbClr val="F2F1F6"/>
                </a:solidFill>
                <a:latin typeface="Calibri" pitchFamily="34" charset="0"/>
                <a:ea typeface="Calibri" pitchFamily="34" charset="-122"/>
                <a:cs typeface="Calibri" pitchFamily="34" charset="-120"/>
              </a:rPr>
              <a:t>Update it if the network or IP changes</a:t>
            </a:r>
            <a:endParaRPr lang="en-US" sz="1500" dirty="0"/>
          </a:p>
        </p:txBody>
      </p:sp>
      <p:sp>
        <p:nvSpPr>
          <p:cNvPr id="12" name="Shape 9"/>
          <p:cNvSpPr/>
          <p:nvPr/>
        </p:nvSpPr>
        <p:spPr>
          <a:xfrm>
            <a:off x="6208776" y="1371600"/>
            <a:ext cx="5431536" cy="2103120"/>
          </a:xfrm>
          <a:prstGeom prst="roundRect">
            <a:avLst>
              <a:gd name="adj" fmla="val 3478"/>
            </a:avLst>
          </a:prstGeom>
          <a:solidFill>
            <a:srgbClr val="23212B"/>
          </a:solidFill>
          <a:ln w="12700">
            <a:solidFill>
              <a:srgbClr val="3A3748"/>
            </a:solidFill>
            <a:prstDash val="solid"/>
          </a:ln>
        </p:spPr>
      </p:sp>
      <p:sp>
        <p:nvSpPr>
          <p:cNvPr id="13" name="Shape 10"/>
          <p:cNvSpPr/>
          <p:nvPr/>
        </p:nvSpPr>
        <p:spPr>
          <a:xfrm>
            <a:off x="6227064" y="1536192"/>
            <a:ext cx="64008" cy="365760"/>
          </a:xfrm>
          <a:prstGeom prst="rect">
            <a:avLst/>
          </a:prstGeom>
          <a:solidFill>
            <a:srgbClr val="E5484D"/>
          </a:solidFill>
          <a:ln w="12700">
            <a:solidFill>
              <a:srgbClr val="E5484D"/>
            </a:solidFill>
            <a:prstDash val="solid"/>
          </a:ln>
        </p:spPr>
      </p:sp>
      <p:sp>
        <p:nvSpPr>
          <p:cNvPr id="14" name="Text 11"/>
          <p:cNvSpPr/>
          <p:nvPr/>
        </p:nvSpPr>
        <p:spPr>
          <a:xfrm>
            <a:off x="6437376" y="1481328"/>
            <a:ext cx="5065776"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Failing clearly</a:t>
            </a:r>
            <a:endParaRPr lang="en-US" sz="1700" dirty="0"/>
          </a:p>
        </p:txBody>
      </p:sp>
      <p:sp>
        <p:nvSpPr>
          <p:cNvPr id="15" name="Text 12"/>
          <p:cNvSpPr/>
          <p:nvPr/>
        </p:nvSpPr>
        <p:spPr>
          <a:xfrm>
            <a:off x="6437376" y="1984248"/>
            <a:ext cx="5020056" cy="1399032"/>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rgbClr val="F2F1F6"/>
                </a:solidFill>
                <a:latin typeface="Calibri" pitchFamily="34" charset="0"/>
                <a:ea typeface="Calibri" pitchFamily="34" charset="-122"/>
                <a:cs typeface="Calibri" pitchFamily="34" charset="-120"/>
              </a:rPr>
              <a:t>10-second timeout instead of an endless spinner</a:t>
            </a:r>
            <a:endParaRPr lang="en-US" sz="1500" dirty="0"/>
          </a:p>
          <a:p>
            <a:pPr marL="177800" indent="-177800">
              <a:spcAft>
                <a:spcPts val="400"/>
              </a:spcAft>
              <a:buSzPct val="100000"/>
              <a:buChar char="•"/>
            </a:pPr>
            <a:r>
              <a:rPr lang="en-US" sz="1500" dirty="0">
                <a:solidFill>
                  <a:srgbClr val="F2F1F6"/>
                </a:solidFill>
                <a:latin typeface="Calibri" pitchFamily="34" charset="0"/>
                <a:ea typeface="Calibri" pitchFamily="34" charset="-122"/>
                <a:cs typeface="Calibri" pitchFamily="34" charset="-120"/>
              </a:rPr>
              <a:t>The error message shows which URL could not be reached</a:t>
            </a:r>
            <a:endParaRPr lang="en-US" sz="1500" dirty="0"/>
          </a:p>
        </p:txBody>
      </p:sp>
      <p:sp>
        <p:nvSpPr>
          <p:cNvPr id="16" name="Shape 13"/>
          <p:cNvSpPr/>
          <p:nvPr/>
        </p:nvSpPr>
        <p:spPr>
          <a:xfrm>
            <a:off x="548640" y="3703320"/>
            <a:ext cx="5431536" cy="2103120"/>
          </a:xfrm>
          <a:prstGeom prst="roundRect">
            <a:avLst>
              <a:gd name="adj" fmla="val 3478"/>
            </a:avLst>
          </a:prstGeom>
          <a:solidFill>
            <a:srgbClr val="23212B"/>
          </a:solidFill>
          <a:ln w="12700">
            <a:solidFill>
              <a:srgbClr val="3A3748"/>
            </a:solidFill>
            <a:prstDash val="solid"/>
          </a:ln>
        </p:spPr>
      </p:sp>
      <p:sp>
        <p:nvSpPr>
          <p:cNvPr id="17" name="Shape 14"/>
          <p:cNvSpPr/>
          <p:nvPr/>
        </p:nvSpPr>
        <p:spPr>
          <a:xfrm>
            <a:off x="566928" y="3867912"/>
            <a:ext cx="64008" cy="365760"/>
          </a:xfrm>
          <a:prstGeom prst="rect">
            <a:avLst/>
          </a:prstGeom>
          <a:solidFill>
            <a:srgbClr val="6C5CE7"/>
          </a:solidFill>
          <a:ln w="12700">
            <a:solidFill>
              <a:srgbClr val="6C5CE7"/>
            </a:solidFill>
            <a:prstDash val="solid"/>
          </a:ln>
        </p:spPr>
      </p:sp>
      <p:sp>
        <p:nvSpPr>
          <p:cNvPr id="18" name="Text 15"/>
          <p:cNvSpPr/>
          <p:nvPr/>
        </p:nvSpPr>
        <p:spPr>
          <a:xfrm>
            <a:off x="777240" y="3813048"/>
            <a:ext cx="5065776"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Storage and navigation</a:t>
            </a:r>
            <a:endParaRPr lang="en-US" sz="1700" dirty="0"/>
          </a:p>
        </p:txBody>
      </p:sp>
      <p:sp>
        <p:nvSpPr>
          <p:cNvPr id="19" name="Text 16"/>
          <p:cNvSpPr/>
          <p:nvPr/>
        </p:nvSpPr>
        <p:spPr>
          <a:xfrm>
            <a:off x="777240" y="4315968"/>
            <a:ext cx="5020056" cy="1399032"/>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rgbClr val="F2F1F6"/>
                </a:solidFill>
                <a:latin typeface="Calibri" pitchFamily="34" charset="0"/>
                <a:ea typeface="Calibri" pitchFamily="34" charset="-122"/>
                <a:cs typeface="Calibri" pitchFamily="34" charset="-120"/>
              </a:rPr>
              <a:t>Token in AsyncStorage</a:t>
            </a:r>
            <a:endParaRPr lang="en-US" sz="1500" dirty="0"/>
          </a:p>
          <a:p>
            <a:pPr marL="177800" indent="-177800">
              <a:spcAft>
                <a:spcPts val="400"/>
              </a:spcAft>
              <a:buSzPct val="100000"/>
              <a:buChar char="•"/>
            </a:pPr>
            <a:r>
              <a:rPr lang="en-US" sz="1500" dirty="0">
                <a:solidFill>
                  <a:srgbClr val="F2F1F6"/>
                </a:solidFill>
                <a:latin typeface="Calibri" pitchFamily="34" charset="0"/>
                <a:ea typeface="Calibri" pitchFamily="34" charset="-122"/>
                <a:cs typeface="Calibri" pitchFamily="34" charset="-120"/>
              </a:rPr>
              <a:t>Native stack navigation</a:t>
            </a:r>
            <a:endParaRPr lang="en-US" sz="1500" dirty="0"/>
          </a:p>
          <a:p>
            <a:pPr marL="177800" indent="-177800">
              <a:spcAft>
                <a:spcPts val="400"/>
              </a:spcAft>
              <a:buSzPct val="100000"/>
              <a:buChar char="•"/>
            </a:pPr>
            <a:r>
              <a:rPr lang="en-US" sz="1500" dirty="0">
                <a:solidFill>
                  <a:srgbClr val="F2F1F6"/>
                </a:solidFill>
                <a:latin typeface="Calibri" pitchFamily="34" charset="0"/>
                <a:ea typeface="Calibri" pitchFamily="34" charset="-122"/>
                <a:cs typeface="Calibri" pitchFamily="34" charset="-120"/>
              </a:rPr>
              <a:t>Confirmations work on phone and in the browser</a:t>
            </a:r>
            <a:endParaRPr lang="en-US" sz="1500" dirty="0"/>
          </a:p>
        </p:txBody>
      </p:sp>
      <p:sp>
        <p:nvSpPr>
          <p:cNvPr id="20" name="Shape 17"/>
          <p:cNvSpPr/>
          <p:nvPr/>
        </p:nvSpPr>
        <p:spPr>
          <a:xfrm>
            <a:off x="6208776" y="3703320"/>
            <a:ext cx="5431536" cy="2103120"/>
          </a:xfrm>
          <a:prstGeom prst="roundRect">
            <a:avLst>
              <a:gd name="adj" fmla="val 3478"/>
            </a:avLst>
          </a:prstGeom>
          <a:solidFill>
            <a:srgbClr val="23212B"/>
          </a:solidFill>
          <a:ln w="12700">
            <a:solidFill>
              <a:srgbClr val="3A3748"/>
            </a:solidFill>
            <a:prstDash val="solid"/>
          </a:ln>
        </p:spPr>
      </p:sp>
      <p:sp>
        <p:nvSpPr>
          <p:cNvPr id="21" name="Shape 18"/>
          <p:cNvSpPr/>
          <p:nvPr/>
        </p:nvSpPr>
        <p:spPr>
          <a:xfrm>
            <a:off x="6227064" y="3867912"/>
            <a:ext cx="64008" cy="365760"/>
          </a:xfrm>
          <a:prstGeom prst="rect">
            <a:avLst/>
          </a:prstGeom>
          <a:solidFill>
            <a:srgbClr val="2ECC71"/>
          </a:solidFill>
          <a:ln w="12700">
            <a:solidFill>
              <a:srgbClr val="2ECC71"/>
            </a:solidFill>
            <a:prstDash val="solid"/>
          </a:ln>
        </p:spPr>
      </p:sp>
      <p:sp>
        <p:nvSpPr>
          <p:cNvPr id="22" name="Text 19"/>
          <p:cNvSpPr/>
          <p:nvPr/>
        </p:nvSpPr>
        <p:spPr>
          <a:xfrm>
            <a:off x="6437376" y="3813048"/>
            <a:ext cx="5065776"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Running it</a:t>
            </a:r>
            <a:endParaRPr lang="en-US" sz="1700" dirty="0"/>
          </a:p>
        </p:txBody>
      </p:sp>
      <p:sp>
        <p:nvSpPr>
          <p:cNvPr id="23" name="Text 20"/>
          <p:cNvSpPr/>
          <p:nvPr/>
        </p:nvSpPr>
        <p:spPr>
          <a:xfrm>
            <a:off x="6437376" y="4315968"/>
            <a:ext cx="5020056" cy="1399032"/>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rgbClr val="F2F1F6"/>
                </a:solidFill>
                <a:latin typeface="Calibri" pitchFamily="34" charset="0"/>
                <a:ea typeface="Calibri" pitchFamily="34" charset="-122"/>
                <a:cs typeface="Calibri" pitchFamily="34" charset="-120"/>
              </a:rPr>
              <a:t>npx expo start, then scan the QR code with Expo Go</a:t>
            </a:r>
            <a:endParaRPr lang="en-US" sz="1500" dirty="0"/>
          </a:p>
          <a:p>
            <a:pPr marL="177800" indent="-177800">
              <a:spcAft>
                <a:spcPts val="400"/>
              </a:spcAft>
              <a:buSzPct val="100000"/>
              <a:buChar char="•"/>
            </a:pPr>
            <a:r>
              <a:rPr lang="en-US" sz="1500" dirty="0">
                <a:solidFill>
                  <a:srgbClr val="F2F1F6"/>
                </a:solidFill>
                <a:latin typeface="Calibri" pitchFamily="34" charset="0"/>
                <a:ea typeface="Calibri" pitchFamily="34" charset="-122"/>
                <a:cs typeface="Calibri" pitchFamily="34" charset="-120"/>
              </a:rPr>
              <a:t>Phone and computer on the same Wi-Fi</a:t>
            </a:r>
            <a:endParaRPr lang="en-US" sz="1500" dirty="0"/>
          </a:p>
          <a:p>
            <a:pPr marL="177800" indent="-177800">
              <a:spcAft>
                <a:spcPts val="400"/>
              </a:spcAft>
              <a:buSzPct val="100000"/>
              <a:buChar char="•"/>
            </a:pPr>
            <a:r>
              <a:rPr lang="en-US" sz="1500" dirty="0">
                <a:solidFill>
                  <a:srgbClr val="F2F1F6"/>
                </a:solidFill>
                <a:latin typeface="Calibri" pitchFamily="34" charset="0"/>
                <a:ea typeface="Calibri" pitchFamily="34" charset="-122"/>
                <a:cs typeface="Calibri" pitchFamily="34" charset="-120"/>
              </a:rPr>
              <a:t>Backend listens on all interfaces</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Profile: see and edit your account</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PROFILE</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26</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sp>
        <p:nvSpPr>
          <p:cNvPr id="8" name="Shape 5"/>
          <p:cNvSpPr/>
          <p:nvPr/>
        </p:nvSpPr>
        <p:spPr>
          <a:xfrm>
            <a:off x="946765" y="1243584"/>
            <a:ext cx="4873031" cy="4828032"/>
          </a:xfrm>
          <a:prstGeom prst="rect">
            <a:avLst/>
          </a:prstGeom>
          <a:solidFill>
            <a:srgbClr val="2C2A37"/>
          </a:solidFill>
          <a:ln w="12700">
            <a:solidFill>
              <a:srgbClr val="3A3748"/>
            </a:solidFill>
            <a:prstDash val="solid"/>
          </a:ln>
        </p:spPr>
      </p:sp>
      <p:pic>
        <p:nvPicPr>
          <p:cNvPr id="9" name="Image 0" descr="C:\Users\User\OneDrive\Desktop\HelloJess\docs\profile-edit.png">    </p:cNvPr>
          <p:cNvPicPr>
            <a:picLocks noChangeAspect="1"/>
          </p:cNvPicPr>
          <p:nvPr/>
        </p:nvPicPr>
        <p:blipFill>
          <a:blip r:embed="rId1"/>
          <a:stretch>
            <a:fillRect/>
          </a:stretch>
        </p:blipFill>
        <p:spPr>
          <a:xfrm>
            <a:off x="983341" y="1280160"/>
            <a:ext cx="4799879" cy="4754880"/>
          </a:xfrm>
          <a:prstGeom prst="rect">
            <a:avLst/>
          </a:prstGeom>
        </p:spPr>
      </p:pic>
      <p:sp>
        <p:nvSpPr>
          <p:cNvPr id="10" name="Text 6"/>
          <p:cNvSpPr/>
          <p:nvPr/>
        </p:nvSpPr>
        <p:spPr>
          <a:xfrm>
            <a:off x="548640" y="6108192"/>
            <a:ext cx="5669280" cy="274320"/>
          </a:xfrm>
          <a:prstGeom prst="rect">
            <a:avLst/>
          </a:prstGeom>
          <a:noFill/>
          <a:ln/>
        </p:spPr>
        <p:txBody>
          <a:bodyPr wrap="square" lIns="0" tIns="0" rIns="0" bIns="0" rtlCol="0" anchor="ctr"/>
          <a:lstStyle/>
          <a:p>
            <a:pPr algn="ctr" indent="0" marL="0">
              <a:buNone/>
            </a:pPr>
            <a:r>
              <a:rPr lang="en-US" sz="1100" i="1" dirty="0">
                <a:solidFill>
                  <a:srgbClr val="A9A7B8"/>
                </a:solidFill>
                <a:latin typeface="Calibri" pitchFamily="34" charset="0"/>
                <a:ea typeface="Calibri" pitchFamily="34" charset="-122"/>
                <a:cs typeface="Calibri" pitchFamily="34" charset="-120"/>
              </a:rPr>
              <a:t>Web: editing the profile</a:t>
            </a:r>
            <a:endParaRPr lang="en-US" sz="1100" dirty="0"/>
          </a:p>
        </p:txBody>
      </p:sp>
      <p:sp>
        <p:nvSpPr>
          <p:cNvPr id="11" name="Shape 7"/>
          <p:cNvSpPr/>
          <p:nvPr/>
        </p:nvSpPr>
        <p:spPr>
          <a:xfrm>
            <a:off x="6547104" y="2028913"/>
            <a:ext cx="2542032" cy="3257374"/>
          </a:xfrm>
          <a:prstGeom prst="rect">
            <a:avLst/>
          </a:prstGeom>
          <a:solidFill>
            <a:srgbClr val="2C2A37"/>
          </a:solidFill>
          <a:ln w="12700">
            <a:solidFill>
              <a:srgbClr val="3A3748"/>
            </a:solidFill>
            <a:prstDash val="solid"/>
          </a:ln>
        </p:spPr>
      </p:sp>
      <p:pic>
        <p:nvPicPr>
          <p:cNvPr id="12" name="Image 1" descr="C:\Users\User\OneDrive\Desktop\HelloJess\docs\mobile-profile-edit.png">    </p:cNvPr>
          <p:cNvPicPr>
            <a:picLocks noChangeAspect="1"/>
          </p:cNvPicPr>
          <p:nvPr/>
        </p:nvPicPr>
        <p:blipFill>
          <a:blip r:embed="rId2"/>
          <a:stretch>
            <a:fillRect/>
          </a:stretch>
        </p:blipFill>
        <p:spPr>
          <a:xfrm>
            <a:off x="6583680" y="2065489"/>
            <a:ext cx="2468880" cy="3184222"/>
          </a:xfrm>
          <a:prstGeom prst="rect">
            <a:avLst/>
          </a:prstGeom>
        </p:spPr>
      </p:pic>
      <p:sp>
        <p:nvSpPr>
          <p:cNvPr id="13" name="Text 8"/>
          <p:cNvSpPr/>
          <p:nvPr/>
        </p:nvSpPr>
        <p:spPr>
          <a:xfrm>
            <a:off x="6583680" y="5322863"/>
            <a:ext cx="2468880" cy="274320"/>
          </a:xfrm>
          <a:prstGeom prst="rect">
            <a:avLst/>
          </a:prstGeom>
          <a:noFill/>
          <a:ln/>
        </p:spPr>
        <p:txBody>
          <a:bodyPr wrap="square" lIns="0" tIns="0" rIns="0" bIns="0" rtlCol="0" anchor="ctr"/>
          <a:lstStyle/>
          <a:p>
            <a:pPr algn="ctr" indent="0" marL="0">
              <a:buNone/>
            </a:pPr>
            <a:r>
              <a:rPr lang="en-US" sz="1100" i="1" dirty="0">
                <a:solidFill>
                  <a:srgbClr val="A9A7B8"/>
                </a:solidFill>
                <a:latin typeface="Calibri" pitchFamily="34" charset="0"/>
                <a:ea typeface="Calibri" pitchFamily="34" charset="-122"/>
                <a:cs typeface="Calibri" pitchFamily="34" charset="-120"/>
              </a:rPr>
              <a:t>Mobile: editing the profile</a:t>
            </a:r>
            <a:endParaRPr lang="en-US" sz="1100" dirty="0"/>
          </a:p>
        </p:txBody>
      </p:sp>
      <p:sp>
        <p:nvSpPr>
          <p:cNvPr id="14" name="Shape 9"/>
          <p:cNvSpPr/>
          <p:nvPr/>
        </p:nvSpPr>
        <p:spPr>
          <a:xfrm>
            <a:off x="9235440" y="1371600"/>
            <a:ext cx="2423160" cy="4480560"/>
          </a:xfrm>
          <a:prstGeom prst="roundRect">
            <a:avLst>
              <a:gd name="adj" fmla="val 3019"/>
            </a:avLst>
          </a:prstGeom>
          <a:solidFill>
            <a:srgbClr val="23212B"/>
          </a:solidFill>
          <a:ln w="12700">
            <a:solidFill>
              <a:srgbClr val="3A3748"/>
            </a:solidFill>
            <a:prstDash val="solid"/>
          </a:ln>
        </p:spPr>
      </p:sp>
      <p:sp>
        <p:nvSpPr>
          <p:cNvPr id="15" name="Text 10"/>
          <p:cNvSpPr/>
          <p:nvPr/>
        </p:nvSpPr>
        <p:spPr>
          <a:xfrm>
            <a:off x="9464040" y="1481328"/>
            <a:ext cx="2057400" cy="457200"/>
          </a:xfrm>
          <a:prstGeom prst="rect">
            <a:avLst/>
          </a:prstGeom>
          <a:noFill/>
          <a:ln/>
        </p:spPr>
        <p:txBody>
          <a:bodyPr wrap="square" lIns="0" tIns="0" rIns="0" bIns="0" rtlCol="0" anchor="ctr"/>
          <a:lstStyle/>
          <a:p>
            <a:pPr indent="0" marL="0">
              <a:buNone/>
            </a:pPr>
            <a:r>
              <a:rPr lang="en-US" sz="1500" b="1" dirty="0">
                <a:solidFill>
                  <a:srgbClr val="A29BFE"/>
                </a:solidFill>
                <a:latin typeface="Calibri" pitchFamily="34" charset="0"/>
                <a:ea typeface="Calibri" pitchFamily="34" charset="-122"/>
                <a:cs typeface="Calibri" pitchFamily="34" charset="-120"/>
              </a:rPr>
              <a:t>Shows</a:t>
            </a:r>
            <a:endParaRPr lang="en-US" sz="1500" dirty="0"/>
          </a:p>
        </p:txBody>
      </p:sp>
      <p:sp>
        <p:nvSpPr>
          <p:cNvPr id="16" name="Text 11"/>
          <p:cNvSpPr/>
          <p:nvPr/>
        </p:nvSpPr>
        <p:spPr>
          <a:xfrm>
            <a:off x="9464040" y="1984248"/>
            <a:ext cx="2011680" cy="3776472"/>
          </a:xfrm>
          <a:prstGeom prst="rect">
            <a:avLst/>
          </a:prstGeom>
          <a:noFill/>
          <a:ln/>
        </p:spPr>
        <p:txBody>
          <a:bodyPr wrap="square" lIns="0" tIns="0" rIns="0" bIns="0" rtlCol="0" anchor="t"/>
          <a:lstStyle/>
          <a:p>
            <a:pPr marL="177800" indent="-177800">
              <a:spcAft>
                <a:spcPts val="400"/>
              </a:spcAft>
              <a:buSzPct val="100000"/>
              <a:buChar char="•"/>
            </a:pPr>
            <a:r>
              <a:rPr lang="en-US" sz="1450" dirty="0">
                <a:solidFill>
                  <a:srgbClr val="F2F1F6"/>
                </a:solidFill>
                <a:latin typeface="Calibri" pitchFamily="34" charset="0"/>
                <a:ea typeface="Calibri" pitchFamily="34" charset="-122"/>
                <a:cs typeface="Calibri" pitchFamily="34" charset="-120"/>
              </a:rPr>
              <a:t>Name, email</a:t>
            </a:r>
            <a:endParaRPr lang="en-US" sz="1450" dirty="0"/>
          </a:p>
          <a:p>
            <a:pPr marL="177800" indent="-177800">
              <a:spcAft>
                <a:spcPts val="400"/>
              </a:spcAft>
              <a:buSzPct val="100000"/>
              <a:buChar char="•"/>
            </a:pPr>
            <a:r>
              <a:rPr lang="en-US" sz="1450" dirty="0">
                <a:solidFill>
                  <a:srgbClr val="F2F1F6"/>
                </a:solidFill>
                <a:latin typeface="Calibri" pitchFamily="34" charset="0"/>
                <a:ea typeface="Calibri" pitchFamily="34" charset="-122"/>
                <a:cs typeface="Calibri" pitchFamily="34" charset="-120"/>
              </a:rPr>
              <a:t>Member since</a:t>
            </a:r>
            <a:endParaRPr lang="en-US" sz="1450" dirty="0"/>
          </a:p>
          <a:p>
            <a:pPr marL="177800" indent="-177800">
              <a:spcAft>
                <a:spcPts val="400"/>
              </a:spcAft>
              <a:buSzPct val="100000"/>
              <a:buChar char="•"/>
            </a:pPr>
            <a:r>
              <a:rPr lang="en-US" sz="1450" dirty="0">
                <a:solidFill>
                  <a:srgbClr val="F2F1F6"/>
                </a:solidFill>
                <a:latin typeface="Calibri" pitchFamily="34" charset="0"/>
                <a:ea typeface="Calibri" pitchFamily="34" charset="-122"/>
                <a:cs typeface="Calibri" pitchFamily="34" charset="-120"/>
              </a:rPr>
              <a:t>User ID</a:t>
            </a:r>
            <a:endParaRPr lang="en-US" sz="1450" dirty="0"/>
          </a:p>
          <a:p>
            <a:pPr marL="177800" indent="-177800">
              <a:spcAft>
                <a:spcPts val="400"/>
              </a:spcAft>
              <a:buSzPct val="100000"/>
              <a:buChar char="•"/>
            </a:pPr>
            <a:r>
              <a:rPr lang="en-US" sz="1450" dirty="0">
                <a:solidFill>
                  <a:srgbClr val="F2F1F6"/>
                </a:solidFill>
                <a:latin typeface="Calibri" pitchFamily="34" charset="0"/>
                <a:ea typeface="Calibri" pitchFamily="34" charset="-122"/>
                <a:cs typeface="Calibri" pitchFamily="34" charset="-120"/>
              </a:rPr>
              <a:t>Tasks by status</a:t>
            </a:r>
            <a:endParaRPr lang="en-US" sz="1450" dirty="0"/>
          </a:p>
          <a:p>
            <a:pPr marL="177800" indent="-177800">
              <a:spcAft>
                <a:spcPts val="400"/>
              </a:spcAft>
              <a:buSzPct val="100000"/>
              <a:buChar char="•"/>
            </a:pPr>
            <a:r>
              <a:rPr lang="en-US" sz="1450" dirty="0">
                <a:solidFill>
                  <a:srgbClr val="F2F1F6"/>
                </a:solidFill>
                <a:latin typeface="Calibri" pitchFamily="34" charset="0"/>
                <a:ea typeface="Calibri" pitchFamily="34" charset="-122"/>
                <a:cs typeface="Calibri" pitchFamily="34" charset="-120"/>
              </a:rPr>
              <a:t>Habit count</a:t>
            </a:r>
            <a:endParaRPr lang="en-US" sz="14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Profile editing: end to end</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PROFILE</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27</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sp>
        <p:nvSpPr>
          <p:cNvPr id="8" name="Shape 5"/>
          <p:cNvSpPr/>
          <p:nvPr/>
        </p:nvSpPr>
        <p:spPr>
          <a:xfrm>
            <a:off x="548640" y="1417320"/>
            <a:ext cx="2013509" cy="1463040"/>
          </a:xfrm>
          <a:prstGeom prst="roundRect">
            <a:avLst>
              <a:gd name="adj" fmla="val 5000"/>
            </a:avLst>
          </a:prstGeom>
          <a:solidFill>
            <a:srgbClr val="23212B"/>
          </a:solidFill>
          <a:ln w="19050">
            <a:solidFill>
              <a:srgbClr val="6C5CE7"/>
            </a:solidFill>
            <a:prstDash val="solid"/>
          </a:ln>
        </p:spPr>
      </p:sp>
      <p:sp>
        <p:nvSpPr>
          <p:cNvPr id="9" name="Text 6"/>
          <p:cNvSpPr/>
          <p:nvPr/>
        </p:nvSpPr>
        <p:spPr>
          <a:xfrm>
            <a:off x="621792" y="1508760"/>
            <a:ext cx="1867205" cy="411480"/>
          </a:xfrm>
          <a:prstGeom prst="rect">
            <a:avLst/>
          </a:prstGeom>
          <a:noFill/>
          <a:ln/>
        </p:spPr>
        <p:txBody>
          <a:bodyPr wrap="square" lIns="0" tIns="0" rIns="0" bIns="0" rtlCol="0" anchor="ctr"/>
          <a:lstStyle/>
          <a:p>
            <a:pPr algn="ctr" indent="0" marL="0">
              <a:buNone/>
            </a:pPr>
            <a:r>
              <a:rPr lang="en-US" sz="1350" b="1" dirty="0">
                <a:solidFill>
                  <a:srgbClr val="F2F1F6"/>
                </a:solidFill>
                <a:latin typeface="Calibri" pitchFamily="34" charset="0"/>
                <a:ea typeface="Calibri" pitchFamily="34" charset="-122"/>
                <a:cs typeface="Calibri" pitchFamily="34" charset="-120"/>
              </a:rPr>
              <a:t>Edit profile</a:t>
            </a:r>
            <a:endParaRPr lang="en-US" sz="1350" dirty="0"/>
          </a:p>
        </p:txBody>
      </p:sp>
      <p:sp>
        <p:nvSpPr>
          <p:cNvPr id="10" name="Text 7"/>
          <p:cNvSpPr/>
          <p:nvPr/>
        </p:nvSpPr>
        <p:spPr>
          <a:xfrm>
            <a:off x="640080" y="1920240"/>
            <a:ext cx="1830629" cy="868680"/>
          </a:xfrm>
          <a:prstGeom prst="rect">
            <a:avLst/>
          </a:prstGeom>
          <a:noFill/>
          <a:ln/>
        </p:spPr>
        <p:txBody>
          <a:bodyPr wrap="square" lIns="0" tIns="0" rIns="0" bIns="0" rtlCol="0" anchor="t"/>
          <a:lstStyle/>
          <a:p>
            <a:pPr algn="ctr" indent="0" marL="0">
              <a:buNone/>
            </a:pPr>
            <a:r>
              <a:rPr lang="en-US" sz="1150" dirty="0">
                <a:solidFill>
                  <a:srgbClr val="A9A7B8"/>
                </a:solidFill>
                <a:latin typeface="Calibri" pitchFamily="34" charset="0"/>
                <a:ea typeface="Calibri" pitchFamily="34" charset="-122"/>
                <a:cs typeface="Calibri" pitchFamily="34" charset="-120"/>
              </a:rPr>
              <a:t>Form opens, pre-filled</a:t>
            </a:r>
            <a:endParaRPr lang="en-US" sz="1150" dirty="0"/>
          </a:p>
        </p:txBody>
      </p:sp>
      <p:sp>
        <p:nvSpPr>
          <p:cNvPr id="11" name="Text 8"/>
          <p:cNvSpPr/>
          <p:nvPr/>
        </p:nvSpPr>
        <p:spPr>
          <a:xfrm>
            <a:off x="2562149" y="1965960"/>
            <a:ext cx="256032" cy="365760"/>
          </a:xfrm>
          <a:prstGeom prst="rect">
            <a:avLst/>
          </a:prstGeom>
          <a:noFill/>
          <a:ln/>
        </p:spPr>
        <p:txBody>
          <a:bodyPr wrap="square" lIns="0" tIns="0" rIns="0" bIns="0" rtlCol="0" anchor="ctr"/>
          <a:lstStyle/>
          <a:p>
            <a:pPr algn="ctr" indent="0" marL="0">
              <a:buNone/>
            </a:pPr>
            <a:r>
              <a:rPr lang="en-US" sz="1200" dirty="0">
                <a:solidFill>
                  <a:srgbClr val="6C5CE7"/>
                </a:solidFill>
              </a:rPr>
              <a:t>▶</a:t>
            </a:r>
            <a:endParaRPr lang="en-US" sz="1200" dirty="0"/>
          </a:p>
        </p:txBody>
      </p:sp>
      <p:sp>
        <p:nvSpPr>
          <p:cNvPr id="12" name="Shape 9"/>
          <p:cNvSpPr/>
          <p:nvPr/>
        </p:nvSpPr>
        <p:spPr>
          <a:xfrm>
            <a:off x="2818181" y="1417320"/>
            <a:ext cx="2013509" cy="1463040"/>
          </a:xfrm>
          <a:prstGeom prst="roundRect">
            <a:avLst>
              <a:gd name="adj" fmla="val 5000"/>
            </a:avLst>
          </a:prstGeom>
          <a:solidFill>
            <a:srgbClr val="23212B"/>
          </a:solidFill>
          <a:ln w="19050">
            <a:solidFill>
              <a:srgbClr val="6C5CE7"/>
            </a:solidFill>
            <a:prstDash val="solid"/>
          </a:ln>
        </p:spPr>
      </p:sp>
      <p:sp>
        <p:nvSpPr>
          <p:cNvPr id="13" name="Text 10"/>
          <p:cNvSpPr/>
          <p:nvPr/>
        </p:nvSpPr>
        <p:spPr>
          <a:xfrm>
            <a:off x="2891333" y="1508760"/>
            <a:ext cx="1867205" cy="411480"/>
          </a:xfrm>
          <a:prstGeom prst="rect">
            <a:avLst/>
          </a:prstGeom>
          <a:noFill/>
          <a:ln/>
        </p:spPr>
        <p:txBody>
          <a:bodyPr wrap="square" lIns="0" tIns="0" rIns="0" bIns="0" rtlCol="0" anchor="ctr"/>
          <a:lstStyle/>
          <a:p>
            <a:pPr algn="ctr" indent="0" marL="0">
              <a:buNone/>
            </a:pPr>
            <a:r>
              <a:rPr lang="en-US" sz="1350" b="1" dirty="0">
                <a:solidFill>
                  <a:srgbClr val="F2F1F6"/>
                </a:solidFill>
                <a:latin typeface="Calibri" pitchFamily="34" charset="0"/>
                <a:ea typeface="Calibri" pitchFamily="34" charset="-122"/>
                <a:cs typeface="Calibri" pitchFamily="34" charset="-120"/>
              </a:rPr>
              <a:t>PATCH /api/auth/me</a:t>
            </a:r>
            <a:endParaRPr lang="en-US" sz="1350" dirty="0"/>
          </a:p>
        </p:txBody>
      </p:sp>
      <p:sp>
        <p:nvSpPr>
          <p:cNvPr id="14" name="Text 11"/>
          <p:cNvSpPr/>
          <p:nvPr/>
        </p:nvSpPr>
        <p:spPr>
          <a:xfrm>
            <a:off x="2909621" y="1920240"/>
            <a:ext cx="1830629" cy="868680"/>
          </a:xfrm>
          <a:prstGeom prst="rect">
            <a:avLst/>
          </a:prstGeom>
          <a:noFill/>
          <a:ln/>
        </p:spPr>
        <p:txBody>
          <a:bodyPr wrap="square" lIns="0" tIns="0" rIns="0" bIns="0" rtlCol="0" anchor="t"/>
          <a:lstStyle/>
          <a:p>
            <a:pPr algn="ctr" indent="0" marL="0">
              <a:buNone/>
            </a:pPr>
            <a:r>
              <a:rPr lang="en-US" sz="1150" dirty="0">
                <a:solidFill>
                  <a:srgbClr val="A9A7B8"/>
                </a:solidFill>
                <a:latin typeface="Calibri" pitchFamily="34" charset="0"/>
                <a:ea typeface="Calibri" pitchFamily="34" charset="-122"/>
                <a:cs typeface="Calibri" pitchFamily="34" charset="-120"/>
              </a:rPr>
              <a:t>{ name, email }</a:t>
            </a:r>
            <a:endParaRPr lang="en-US" sz="1150" dirty="0"/>
          </a:p>
        </p:txBody>
      </p:sp>
      <p:sp>
        <p:nvSpPr>
          <p:cNvPr id="15" name="Text 12"/>
          <p:cNvSpPr/>
          <p:nvPr/>
        </p:nvSpPr>
        <p:spPr>
          <a:xfrm>
            <a:off x="4831690" y="1965960"/>
            <a:ext cx="256032" cy="365760"/>
          </a:xfrm>
          <a:prstGeom prst="rect">
            <a:avLst/>
          </a:prstGeom>
          <a:noFill/>
          <a:ln/>
        </p:spPr>
        <p:txBody>
          <a:bodyPr wrap="square" lIns="0" tIns="0" rIns="0" bIns="0" rtlCol="0" anchor="ctr"/>
          <a:lstStyle/>
          <a:p>
            <a:pPr algn="ctr" indent="0" marL="0">
              <a:buNone/>
            </a:pPr>
            <a:r>
              <a:rPr lang="en-US" sz="1200" dirty="0">
                <a:solidFill>
                  <a:srgbClr val="6C5CE7"/>
                </a:solidFill>
              </a:rPr>
              <a:t>▶</a:t>
            </a:r>
            <a:endParaRPr lang="en-US" sz="1200" dirty="0"/>
          </a:p>
        </p:txBody>
      </p:sp>
      <p:sp>
        <p:nvSpPr>
          <p:cNvPr id="16" name="Shape 13"/>
          <p:cNvSpPr/>
          <p:nvPr/>
        </p:nvSpPr>
        <p:spPr>
          <a:xfrm>
            <a:off x="5087722" y="1417320"/>
            <a:ext cx="2013509" cy="1463040"/>
          </a:xfrm>
          <a:prstGeom prst="roundRect">
            <a:avLst>
              <a:gd name="adj" fmla="val 5000"/>
            </a:avLst>
          </a:prstGeom>
          <a:solidFill>
            <a:srgbClr val="23212B"/>
          </a:solidFill>
          <a:ln w="19050">
            <a:solidFill>
              <a:srgbClr val="6C5CE7"/>
            </a:solidFill>
            <a:prstDash val="solid"/>
          </a:ln>
        </p:spPr>
      </p:sp>
      <p:sp>
        <p:nvSpPr>
          <p:cNvPr id="17" name="Text 14"/>
          <p:cNvSpPr/>
          <p:nvPr/>
        </p:nvSpPr>
        <p:spPr>
          <a:xfrm>
            <a:off x="5160874" y="1508760"/>
            <a:ext cx="1867205" cy="411480"/>
          </a:xfrm>
          <a:prstGeom prst="rect">
            <a:avLst/>
          </a:prstGeom>
          <a:noFill/>
          <a:ln/>
        </p:spPr>
        <p:txBody>
          <a:bodyPr wrap="square" lIns="0" tIns="0" rIns="0" bIns="0" rtlCol="0" anchor="ctr"/>
          <a:lstStyle/>
          <a:p>
            <a:pPr algn="ctr" indent="0" marL="0">
              <a:buNone/>
            </a:pPr>
            <a:r>
              <a:rPr lang="en-US" sz="1350" b="1" dirty="0">
                <a:solidFill>
                  <a:srgbClr val="F2F1F6"/>
                </a:solidFill>
                <a:latin typeface="Calibri" pitchFamily="34" charset="0"/>
                <a:ea typeface="Calibri" pitchFamily="34" charset="-122"/>
                <a:cs typeface="Calibri" pitchFamily="34" charset="-120"/>
              </a:rPr>
              <a:t>Validate (zod)</a:t>
            </a:r>
            <a:endParaRPr lang="en-US" sz="1350" dirty="0"/>
          </a:p>
        </p:txBody>
      </p:sp>
      <p:sp>
        <p:nvSpPr>
          <p:cNvPr id="18" name="Text 15"/>
          <p:cNvSpPr/>
          <p:nvPr/>
        </p:nvSpPr>
        <p:spPr>
          <a:xfrm>
            <a:off x="5179162" y="1920240"/>
            <a:ext cx="1830629" cy="868680"/>
          </a:xfrm>
          <a:prstGeom prst="rect">
            <a:avLst/>
          </a:prstGeom>
          <a:noFill/>
          <a:ln/>
        </p:spPr>
        <p:txBody>
          <a:bodyPr wrap="square" lIns="0" tIns="0" rIns="0" bIns="0" rtlCol="0" anchor="t"/>
          <a:lstStyle/>
          <a:p>
            <a:pPr algn="ctr" indent="0" marL="0">
              <a:buNone/>
            </a:pPr>
            <a:r>
              <a:rPr lang="en-US" sz="1150" dirty="0">
                <a:solidFill>
                  <a:srgbClr val="A9A7B8"/>
                </a:solidFill>
                <a:latin typeface="Calibri" pitchFamily="34" charset="0"/>
                <a:ea typeface="Calibri" pitchFamily="34" charset="-122"/>
                <a:cs typeface="Calibri" pitchFamily="34" charset="-120"/>
              </a:rPr>
              <a:t>422 with per-field messages</a:t>
            </a:r>
            <a:endParaRPr lang="en-US" sz="1150" dirty="0"/>
          </a:p>
        </p:txBody>
      </p:sp>
      <p:sp>
        <p:nvSpPr>
          <p:cNvPr id="19" name="Text 16"/>
          <p:cNvSpPr/>
          <p:nvPr/>
        </p:nvSpPr>
        <p:spPr>
          <a:xfrm>
            <a:off x="7101230" y="1965960"/>
            <a:ext cx="256032" cy="365760"/>
          </a:xfrm>
          <a:prstGeom prst="rect">
            <a:avLst/>
          </a:prstGeom>
          <a:noFill/>
          <a:ln/>
        </p:spPr>
        <p:txBody>
          <a:bodyPr wrap="square" lIns="0" tIns="0" rIns="0" bIns="0" rtlCol="0" anchor="ctr"/>
          <a:lstStyle/>
          <a:p>
            <a:pPr algn="ctr" indent="0" marL="0">
              <a:buNone/>
            </a:pPr>
            <a:r>
              <a:rPr lang="en-US" sz="1200" dirty="0">
                <a:solidFill>
                  <a:srgbClr val="6C5CE7"/>
                </a:solidFill>
              </a:rPr>
              <a:t>▶</a:t>
            </a:r>
            <a:endParaRPr lang="en-US" sz="1200" dirty="0"/>
          </a:p>
        </p:txBody>
      </p:sp>
      <p:sp>
        <p:nvSpPr>
          <p:cNvPr id="20" name="Shape 17"/>
          <p:cNvSpPr/>
          <p:nvPr/>
        </p:nvSpPr>
        <p:spPr>
          <a:xfrm>
            <a:off x="7357262" y="1417320"/>
            <a:ext cx="2013509" cy="1463040"/>
          </a:xfrm>
          <a:prstGeom prst="roundRect">
            <a:avLst>
              <a:gd name="adj" fmla="val 5000"/>
            </a:avLst>
          </a:prstGeom>
          <a:solidFill>
            <a:srgbClr val="23212B"/>
          </a:solidFill>
          <a:ln w="19050">
            <a:solidFill>
              <a:srgbClr val="6C5CE7"/>
            </a:solidFill>
            <a:prstDash val="solid"/>
          </a:ln>
        </p:spPr>
      </p:sp>
      <p:sp>
        <p:nvSpPr>
          <p:cNvPr id="21" name="Text 18"/>
          <p:cNvSpPr/>
          <p:nvPr/>
        </p:nvSpPr>
        <p:spPr>
          <a:xfrm>
            <a:off x="7430414" y="1508760"/>
            <a:ext cx="1867205" cy="411480"/>
          </a:xfrm>
          <a:prstGeom prst="rect">
            <a:avLst/>
          </a:prstGeom>
          <a:noFill/>
          <a:ln/>
        </p:spPr>
        <p:txBody>
          <a:bodyPr wrap="square" lIns="0" tIns="0" rIns="0" bIns="0" rtlCol="0" anchor="ctr"/>
          <a:lstStyle/>
          <a:p>
            <a:pPr algn="ctr" indent="0" marL="0">
              <a:buNone/>
            </a:pPr>
            <a:r>
              <a:rPr lang="en-US" sz="1350" b="1" dirty="0">
                <a:solidFill>
                  <a:srgbClr val="F2F1F6"/>
                </a:solidFill>
                <a:latin typeface="Calibri" pitchFamily="34" charset="0"/>
                <a:ea typeface="Calibri" pitchFamily="34" charset="-122"/>
                <a:cs typeface="Calibri" pitchFamily="34" charset="-120"/>
              </a:rPr>
              <a:t>Save user</a:t>
            </a:r>
            <a:endParaRPr lang="en-US" sz="1350" dirty="0"/>
          </a:p>
        </p:txBody>
      </p:sp>
      <p:sp>
        <p:nvSpPr>
          <p:cNvPr id="22" name="Text 19"/>
          <p:cNvSpPr/>
          <p:nvPr/>
        </p:nvSpPr>
        <p:spPr>
          <a:xfrm>
            <a:off x="7448702" y="1920240"/>
            <a:ext cx="1830629" cy="868680"/>
          </a:xfrm>
          <a:prstGeom prst="rect">
            <a:avLst/>
          </a:prstGeom>
          <a:noFill/>
          <a:ln/>
        </p:spPr>
        <p:txBody>
          <a:bodyPr wrap="square" lIns="0" tIns="0" rIns="0" bIns="0" rtlCol="0" anchor="t"/>
          <a:lstStyle/>
          <a:p>
            <a:pPr algn="ctr" indent="0" marL="0">
              <a:buNone/>
            </a:pPr>
            <a:r>
              <a:rPr lang="en-US" sz="1150" dirty="0">
                <a:solidFill>
                  <a:srgbClr val="A9A7B8"/>
                </a:solidFill>
                <a:latin typeface="Calibri" pitchFamily="34" charset="0"/>
                <a:ea typeface="Calibri" pitchFamily="34" charset="-122"/>
                <a:cs typeface="Calibri" pitchFamily="34" charset="-120"/>
              </a:rPr>
              <a:t>400 if the email is taken</a:t>
            </a:r>
            <a:endParaRPr lang="en-US" sz="1150" dirty="0"/>
          </a:p>
        </p:txBody>
      </p:sp>
      <p:sp>
        <p:nvSpPr>
          <p:cNvPr id="23" name="Text 20"/>
          <p:cNvSpPr/>
          <p:nvPr/>
        </p:nvSpPr>
        <p:spPr>
          <a:xfrm>
            <a:off x="9370771" y="1965960"/>
            <a:ext cx="256032" cy="365760"/>
          </a:xfrm>
          <a:prstGeom prst="rect">
            <a:avLst/>
          </a:prstGeom>
          <a:noFill/>
          <a:ln/>
        </p:spPr>
        <p:txBody>
          <a:bodyPr wrap="square" lIns="0" tIns="0" rIns="0" bIns="0" rtlCol="0" anchor="ctr"/>
          <a:lstStyle/>
          <a:p>
            <a:pPr algn="ctr" indent="0" marL="0">
              <a:buNone/>
            </a:pPr>
            <a:r>
              <a:rPr lang="en-US" sz="1200" dirty="0">
                <a:solidFill>
                  <a:srgbClr val="6C5CE7"/>
                </a:solidFill>
              </a:rPr>
              <a:t>▶</a:t>
            </a:r>
            <a:endParaRPr lang="en-US" sz="1200" dirty="0"/>
          </a:p>
        </p:txBody>
      </p:sp>
      <p:sp>
        <p:nvSpPr>
          <p:cNvPr id="24" name="Shape 21"/>
          <p:cNvSpPr/>
          <p:nvPr/>
        </p:nvSpPr>
        <p:spPr>
          <a:xfrm>
            <a:off x="9626803" y="1417320"/>
            <a:ext cx="2013509" cy="1463040"/>
          </a:xfrm>
          <a:prstGeom prst="roundRect">
            <a:avLst>
              <a:gd name="adj" fmla="val 5000"/>
            </a:avLst>
          </a:prstGeom>
          <a:solidFill>
            <a:srgbClr val="23212B"/>
          </a:solidFill>
          <a:ln w="19050">
            <a:solidFill>
              <a:srgbClr val="6C5CE7"/>
            </a:solidFill>
            <a:prstDash val="solid"/>
          </a:ln>
        </p:spPr>
      </p:sp>
      <p:sp>
        <p:nvSpPr>
          <p:cNvPr id="25" name="Text 22"/>
          <p:cNvSpPr/>
          <p:nvPr/>
        </p:nvSpPr>
        <p:spPr>
          <a:xfrm>
            <a:off x="9699955" y="1508760"/>
            <a:ext cx="1867205" cy="411480"/>
          </a:xfrm>
          <a:prstGeom prst="rect">
            <a:avLst/>
          </a:prstGeom>
          <a:noFill/>
          <a:ln/>
        </p:spPr>
        <p:txBody>
          <a:bodyPr wrap="square" lIns="0" tIns="0" rIns="0" bIns="0" rtlCol="0" anchor="ctr"/>
          <a:lstStyle/>
          <a:p>
            <a:pPr algn="ctr" indent="0" marL="0">
              <a:buNone/>
            </a:pPr>
            <a:r>
              <a:rPr lang="en-US" sz="1350" b="1" dirty="0">
                <a:solidFill>
                  <a:srgbClr val="F2F1F6"/>
                </a:solidFill>
                <a:latin typeface="Calibri" pitchFamily="34" charset="0"/>
                <a:ea typeface="Calibri" pitchFamily="34" charset="-122"/>
                <a:cs typeface="Calibri" pitchFamily="34" charset="-120"/>
              </a:rPr>
              <a:t>Fresh token + user</a:t>
            </a:r>
            <a:endParaRPr lang="en-US" sz="1350" dirty="0"/>
          </a:p>
        </p:txBody>
      </p:sp>
      <p:sp>
        <p:nvSpPr>
          <p:cNvPr id="26" name="Text 23"/>
          <p:cNvSpPr/>
          <p:nvPr/>
        </p:nvSpPr>
        <p:spPr>
          <a:xfrm>
            <a:off x="9718243" y="1920240"/>
            <a:ext cx="1830629" cy="868680"/>
          </a:xfrm>
          <a:prstGeom prst="rect">
            <a:avLst/>
          </a:prstGeom>
          <a:noFill/>
          <a:ln/>
        </p:spPr>
        <p:txBody>
          <a:bodyPr wrap="square" lIns="0" tIns="0" rIns="0" bIns="0" rtlCol="0" anchor="t"/>
          <a:lstStyle/>
          <a:p>
            <a:pPr algn="ctr" indent="0" marL="0">
              <a:buNone/>
            </a:pPr>
            <a:r>
              <a:rPr lang="en-US" sz="1150" dirty="0">
                <a:solidFill>
                  <a:srgbClr val="A9A7B8"/>
                </a:solidFill>
                <a:latin typeface="Calibri" pitchFamily="34" charset="0"/>
                <a:ea typeface="Calibri" pitchFamily="34" charset="-122"/>
                <a:cs typeface="Calibri" pitchFamily="34" charset="-120"/>
              </a:rPr>
              <a:t>client stores it, screens update</a:t>
            </a:r>
            <a:endParaRPr lang="en-US" sz="1150" dirty="0"/>
          </a:p>
        </p:txBody>
      </p:sp>
      <p:sp>
        <p:nvSpPr>
          <p:cNvPr id="27" name="Shape 24"/>
          <p:cNvSpPr/>
          <p:nvPr/>
        </p:nvSpPr>
        <p:spPr>
          <a:xfrm>
            <a:off x="548640" y="3200400"/>
            <a:ext cx="5440680" cy="2743200"/>
          </a:xfrm>
          <a:prstGeom prst="roundRect">
            <a:avLst>
              <a:gd name="adj" fmla="val 2667"/>
            </a:avLst>
          </a:prstGeom>
          <a:solidFill>
            <a:srgbClr val="23212B"/>
          </a:solidFill>
          <a:ln w="12700">
            <a:solidFill>
              <a:srgbClr val="3A3748"/>
            </a:solidFill>
            <a:prstDash val="solid"/>
          </a:ln>
        </p:spPr>
      </p:sp>
      <p:sp>
        <p:nvSpPr>
          <p:cNvPr id="28" name="Shape 25"/>
          <p:cNvSpPr/>
          <p:nvPr/>
        </p:nvSpPr>
        <p:spPr>
          <a:xfrm>
            <a:off x="566928" y="3364992"/>
            <a:ext cx="64008" cy="365760"/>
          </a:xfrm>
          <a:prstGeom prst="rect">
            <a:avLst/>
          </a:prstGeom>
          <a:solidFill>
            <a:srgbClr val="6C5CE7"/>
          </a:solidFill>
          <a:ln w="12700">
            <a:solidFill>
              <a:srgbClr val="6C5CE7"/>
            </a:solidFill>
            <a:prstDash val="solid"/>
          </a:ln>
        </p:spPr>
      </p:sp>
      <p:sp>
        <p:nvSpPr>
          <p:cNvPr id="29" name="Text 26"/>
          <p:cNvSpPr/>
          <p:nvPr/>
        </p:nvSpPr>
        <p:spPr>
          <a:xfrm>
            <a:off x="777240" y="3310128"/>
            <a:ext cx="5074920"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Design choices</a:t>
            </a:r>
            <a:endParaRPr lang="en-US" sz="1700" dirty="0"/>
          </a:p>
        </p:txBody>
      </p:sp>
      <p:sp>
        <p:nvSpPr>
          <p:cNvPr id="30" name="Text 27"/>
          <p:cNvSpPr/>
          <p:nvPr/>
        </p:nvSpPr>
        <p:spPr>
          <a:xfrm>
            <a:off x="777240" y="3813048"/>
            <a:ext cx="5029200" cy="2039112"/>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Token subject is the user id, so an email change never logs you out</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Old email-based tokens are still accepted</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Only name and email can change; password, id and dates cannot</a:t>
            </a:r>
            <a:endParaRPr lang="en-US" sz="1550" dirty="0"/>
          </a:p>
        </p:txBody>
      </p:sp>
      <p:sp>
        <p:nvSpPr>
          <p:cNvPr id="31" name="Shape 28"/>
          <p:cNvSpPr/>
          <p:nvPr/>
        </p:nvSpPr>
        <p:spPr>
          <a:xfrm>
            <a:off x="6217920" y="3200400"/>
            <a:ext cx="5440680" cy="2743200"/>
          </a:xfrm>
          <a:prstGeom prst="roundRect">
            <a:avLst>
              <a:gd name="adj" fmla="val 2667"/>
            </a:avLst>
          </a:prstGeom>
          <a:solidFill>
            <a:srgbClr val="23212B"/>
          </a:solidFill>
          <a:ln w="12700">
            <a:solidFill>
              <a:srgbClr val="3A3748"/>
            </a:solidFill>
            <a:prstDash val="solid"/>
          </a:ln>
        </p:spPr>
      </p:sp>
      <p:sp>
        <p:nvSpPr>
          <p:cNvPr id="32" name="Shape 29"/>
          <p:cNvSpPr/>
          <p:nvPr/>
        </p:nvSpPr>
        <p:spPr>
          <a:xfrm>
            <a:off x="6236208" y="3364992"/>
            <a:ext cx="64008" cy="365760"/>
          </a:xfrm>
          <a:prstGeom prst="rect">
            <a:avLst/>
          </a:prstGeom>
          <a:solidFill>
            <a:srgbClr val="2ECC71"/>
          </a:solidFill>
          <a:ln w="12700">
            <a:solidFill>
              <a:srgbClr val="2ECC71"/>
            </a:solidFill>
            <a:prstDash val="solid"/>
          </a:ln>
        </p:spPr>
      </p:sp>
      <p:sp>
        <p:nvSpPr>
          <p:cNvPr id="33" name="Text 30"/>
          <p:cNvSpPr/>
          <p:nvPr/>
        </p:nvSpPr>
        <p:spPr>
          <a:xfrm>
            <a:off x="6446520" y="3310128"/>
            <a:ext cx="5074920"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Verified</a:t>
            </a:r>
            <a:endParaRPr lang="en-US" sz="1700" dirty="0"/>
          </a:p>
        </p:txBody>
      </p:sp>
      <p:sp>
        <p:nvSpPr>
          <p:cNvPr id="34" name="Text 31"/>
          <p:cNvSpPr/>
          <p:nvPr/>
        </p:nvSpPr>
        <p:spPr>
          <a:xfrm>
            <a:off x="6446520" y="3813048"/>
            <a:ext cx="5029200" cy="2039112"/>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27 API checks: success, duplicate email, invalid email, blank name, forbidden fields, old token</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Browser runs on web and mobile: cancel, each error, success, header update, reload, login with new email</a:t>
            </a:r>
            <a:endParaRPr lang="en-US" sz="15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TaskFlow requirements and bonuses</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SUMMARY</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28</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5120640"/>
                <a:gridCol w="5971032"/>
              </a:tblGrid>
              <a:tr h="38404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Item</a:t>
                      </a:r>
                      <a:endParaRPr lang="en-US" sz="1350" dirty="0">
                        <a:latin typeface="Calibri" charset="0"/>
                        <a:ea typeface="Calibri" charset="0"/>
                        <a:cs typeface="Calibri" charset="0"/>
                      </a:endParaRPr>
                    </a:p>
                  </a:txBody>
                  <a:tcPr marL="91440" marR="91440" marT="36576" marB="36576">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6C5CE7"/>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Where it lives</a:t>
                      </a:r>
                      <a:endParaRPr lang="en-US" sz="1350" dirty="0">
                        <a:latin typeface="Calibri" charset="0"/>
                        <a:ea typeface="Calibri" charset="0"/>
                        <a:cs typeface="Calibri" charset="0"/>
                      </a:endParaRPr>
                    </a:p>
                  </a:txBody>
                  <a:tcPr marL="91440" marR="91440" marT="36576" marB="36576">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6C5CE7"/>
                    </a:solidFill>
                  </a:tcPr>
                </a:tc>
              </a:tr>
              <a:tr h="502920">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MVP: register, login, own tasks, add, detail, edit, delete</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auth + task controllers and services; Tasks and TaskDetail pages and screens</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r>
              <a:tr h="502920">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Validation with clear messages</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zod schemas, 422 per field, shown in both clients</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r>
              <a:tr h="502920">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Persistence and authorization</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MongoDB; every query scoped to the logged-in user</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r>
              <a:tr h="502920">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B1  priority, filters, counters</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Task.priority; filters on GET /api/tasks; GET /api/tasks/count</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r>
              <a:tr h="502920">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B2  second entity</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Habit and HabitEvent with dated completions</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r>
              <a:tr h="502920">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B3  heatmap</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GET /api/stats/heatmap; Heatmap component (web and mobile)</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r>
              <a:tr h="502920">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B4  completion statistics</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GET /api/stats/completion; CompletionChart; unit-tested calculations</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C2A37"/>
                    </a:solidFill>
                  </a:tcPr>
                </a:tc>
              </a:tr>
              <a:tr h="502920">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Extra</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c>
                  <a:txBody>
                    <a:bodyPr/>
                    <a:lstStyle/>
                    <a:p>
                      <a:pPr indent="0" marL="0">
                        <a:buNone/>
                      </a:pPr>
                      <a:r>
                        <a:rPr lang="en-US" sz="1350" dirty="0">
                          <a:solidFill>
                            <a:srgbClr val="F2F1F6"/>
                          </a:solidFill>
                          <a:latin typeface="Calibri" pitchFamily="34" charset="0"/>
                          <a:ea typeface="Calibri" pitchFamily="34" charset="-122"/>
                          <a:cs typeface="Calibri" pitchFamily="34" charset="-120"/>
                        </a:rPr>
                        <a:t>Calendar with status colours and overdue carry-over; profile page with editing</a:t>
                      </a:r>
                      <a:endParaRPr lang="en-US" sz="1350" dirty="0">
                        <a:latin typeface="Calibri" charset="0"/>
                        <a:ea typeface="Calibri" charset="0"/>
                        <a:cs typeface="Calibri" charset="0"/>
                      </a:endParaRPr>
                    </a:p>
                  </a:txBody>
                  <a:tcPr marL="91440" marR="91440" marT="36576" marB="36576" anchor="ctr">
                    <a:lnL w="9525" cap="flat" cmpd="sng" algn="ctr">
                      <a:solidFill>
                        <a:srgbClr val="3A3748"/>
                      </a:solidFill>
                      <a:prstDash val="solid"/>
                      <a:round/>
                      <a:headEnd type="none" w="med" len="med"/>
                      <a:tailEnd type="none" w="med" len="med"/>
                    </a:lnL>
                    <a:lnR w="9525" cap="flat" cmpd="sng" algn="ctr">
                      <a:solidFill>
                        <a:srgbClr val="3A3748"/>
                      </a:solidFill>
                      <a:prstDash val="solid"/>
                      <a:round/>
                      <a:headEnd type="none" w="med" len="med"/>
                      <a:tailEnd type="none" w="med" len="med"/>
                    </a:lnR>
                    <a:lnT w="9525" cap="flat" cmpd="sng" algn="ctr">
                      <a:solidFill>
                        <a:srgbClr val="3A3748"/>
                      </a:solidFill>
                      <a:prstDash val="solid"/>
                      <a:round/>
                      <a:headEnd type="none" w="med" len="med"/>
                      <a:tailEnd type="none" w="med" len="med"/>
                    </a:lnT>
                    <a:lnB w="9525" cap="flat" cmpd="sng" algn="ctr">
                      <a:solidFill>
                        <a:srgbClr val="3A3748"/>
                      </a:solidFill>
                      <a:prstDash val="solid"/>
                      <a:round/>
                      <a:headEnd type="none" w="med" len="med"/>
                      <a:tailEnd type="none" w="med" len="med"/>
                    </a:lnB>
                    <a:solidFill>
                      <a:srgbClr val="23212B"/>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Running the project</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SUMMARY</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29</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sp>
        <p:nvSpPr>
          <p:cNvPr id="8" name="Text 5"/>
          <p:cNvSpPr/>
          <p:nvPr/>
        </p:nvSpPr>
        <p:spPr>
          <a:xfrm>
            <a:off x="548640" y="1371600"/>
            <a:ext cx="3544824" cy="457200"/>
          </a:xfrm>
          <a:prstGeom prst="rect">
            <a:avLst/>
          </a:prstGeom>
          <a:noFill/>
          <a:ln/>
        </p:spPr>
        <p:txBody>
          <a:bodyPr wrap="square" lIns="0" tIns="0" rIns="0" bIns="0" rtlCol="0" anchor="ctr"/>
          <a:lstStyle/>
          <a:p>
            <a:pPr indent="0" marL="0">
              <a:buNone/>
            </a:pPr>
            <a:r>
              <a:rPr lang="en-US" sz="2000" b="1" dirty="0">
                <a:solidFill>
                  <a:srgbClr val="A29BFE"/>
                </a:solidFill>
                <a:latin typeface="Calibri" pitchFamily="34" charset="0"/>
                <a:ea typeface="Calibri" pitchFamily="34" charset="-122"/>
                <a:cs typeface="Calibri" pitchFamily="34" charset="-120"/>
              </a:rPr>
              <a:t>Backend</a:t>
            </a:r>
            <a:endParaRPr lang="en-US" sz="2000" dirty="0"/>
          </a:p>
        </p:txBody>
      </p:sp>
      <p:sp>
        <p:nvSpPr>
          <p:cNvPr id="9" name="Shape 6"/>
          <p:cNvSpPr/>
          <p:nvPr/>
        </p:nvSpPr>
        <p:spPr>
          <a:xfrm>
            <a:off x="548640" y="1920240"/>
            <a:ext cx="3544824" cy="2743200"/>
          </a:xfrm>
          <a:prstGeom prst="roundRect">
            <a:avLst>
              <a:gd name="adj" fmla="val 2000"/>
            </a:avLst>
          </a:prstGeom>
          <a:solidFill>
            <a:srgbClr val="0F0E12"/>
          </a:solidFill>
          <a:ln w="12700">
            <a:solidFill>
              <a:srgbClr val="3A3748"/>
            </a:solidFill>
            <a:prstDash val="solid"/>
          </a:ln>
        </p:spPr>
      </p:sp>
      <p:sp>
        <p:nvSpPr>
          <p:cNvPr id="10" name="Text 7"/>
          <p:cNvSpPr/>
          <p:nvPr/>
        </p:nvSpPr>
        <p:spPr>
          <a:xfrm>
            <a:off x="731520" y="2029968"/>
            <a:ext cx="3179064" cy="2523744"/>
          </a:xfrm>
          <a:prstGeom prst="rect">
            <a:avLst/>
          </a:prstGeom>
          <a:noFill/>
          <a:ln/>
        </p:spPr>
        <p:txBody>
          <a:bodyPr wrap="square" lIns="0" tIns="0" rIns="0" bIns="0" rtlCol="0" anchor="t"/>
          <a:lstStyle/>
          <a:p>
            <a:pPr indent="0" marL="0">
              <a:buNone/>
            </a:pPr>
            <a:r>
              <a:rPr lang="en-US" sz="1500" dirty="0">
                <a:solidFill>
                  <a:srgbClr val="CFCDE0"/>
                </a:solidFill>
                <a:latin typeface="Consolas" pitchFamily="34" charset="0"/>
                <a:ea typeface="Consolas" pitchFamily="34" charset="-122"/>
                <a:cs typeface="Consolas" pitchFamily="34" charset="-120"/>
              </a:rPr>
              <a:t>cd backend</a:t>
            </a:r>
            <a:endParaRPr lang="en-US" sz="1500" dirty="0"/>
          </a:p>
          <a:p>
            <a:pPr indent="0" marL="0">
              <a:buNone/>
            </a:pPr>
            <a:r>
              <a:rPr lang="en-US" sz="1500" dirty="0">
                <a:solidFill>
                  <a:srgbClr val="CFCDE0"/>
                </a:solidFill>
                <a:latin typeface="Consolas" pitchFamily="34" charset="0"/>
                <a:ea typeface="Consolas" pitchFamily="34" charset="-122"/>
                <a:cs typeface="Consolas" pitchFamily="34" charset="-120"/>
              </a:rPr>
              <a:t>npm install</a:t>
            </a:r>
            <a:endParaRPr lang="en-US" sz="1500" dirty="0"/>
          </a:p>
          <a:p>
            <a:pPr indent="0" marL="0">
              <a:buNone/>
            </a:pPr>
            <a:r>
              <a:rPr lang="en-US" sz="1500" dirty="0">
                <a:solidFill>
                  <a:srgbClr val="CFCDE0"/>
                </a:solidFill>
                <a:latin typeface="Consolas" pitchFamily="34" charset="0"/>
                <a:ea typeface="Consolas" pitchFamily="34" charset="-122"/>
                <a:cs typeface="Consolas" pitchFamily="34" charset="-120"/>
              </a:rPr>
              <a:t>npm run dev</a:t>
            </a:r>
            <a:endParaRPr lang="en-US" sz="1500" dirty="0"/>
          </a:p>
          <a:p>
            <a:pPr indent="0" marL="0">
              <a:buNone/>
            </a:pPr>
            <a:endParaRPr lang="en-US" sz="1500" dirty="0"/>
          </a:p>
          <a:p>
            <a:pPr indent="0" marL="0">
              <a:buNone/>
            </a:pPr>
            <a:r>
              <a:rPr lang="en-US" sz="1500" dirty="0">
                <a:solidFill>
                  <a:srgbClr val="CFCDE0"/>
                </a:solidFill>
                <a:latin typeface="Consolas" pitchFamily="34" charset="0"/>
                <a:ea typeface="Consolas" pitchFamily="34" charset="-122"/>
                <a:cs typeface="Consolas" pitchFamily="34" charset="-120"/>
              </a:rPr>
              <a:t># API on :8000</a:t>
            </a:r>
            <a:endParaRPr lang="en-US" sz="1500" dirty="0"/>
          </a:p>
          <a:p>
            <a:pPr indent="0" marL="0">
              <a:buNone/>
            </a:pPr>
            <a:r>
              <a:rPr lang="en-US" sz="1500" dirty="0">
                <a:solidFill>
                  <a:srgbClr val="CFCDE0"/>
                </a:solidFill>
                <a:latin typeface="Consolas" pitchFamily="34" charset="0"/>
                <a:ea typeface="Consolas" pitchFamily="34" charset="-122"/>
                <a:cs typeface="Consolas" pitchFamily="34" charset="-120"/>
              </a:rPr>
              <a:t>npm test</a:t>
            </a:r>
            <a:endParaRPr lang="en-US" sz="1500" dirty="0"/>
          </a:p>
        </p:txBody>
      </p:sp>
      <p:sp>
        <p:nvSpPr>
          <p:cNvPr id="11" name="Text 8"/>
          <p:cNvSpPr/>
          <p:nvPr/>
        </p:nvSpPr>
        <p:spPr>
          <a:xfrm>
            <a:off x="4322064" y="1371600"/>
            <a:ext cx="3544824" cy="457200"/>
          </a:xfrm>
          <a:prstGeom prst="rect">
            <a:avLst/>
          </a:prstGeom>
          <a:noFill/>
          <a:ln/>
        </p:spPr>
        <p:txBody>
          <a:bodyPr wrap="square" lIns="0" tIns="0" rIns="0" bIns="0" rtlCol="0" anchor="ctr"/>
          <a:lstStyle/>
          <a:p>
            <a:pPr indent="0" marL="0">
              <a:buNone/>
            </a:pPr>
            <a:r>
              <a:rPr lang="en-US" sz="2000" b="1" dirty="0">
                <a:solidFill>
                  <a:srgbClr val="A29BFE"/>
                </a:solidFill>
                <a:latin typeface="Calibri" pitchFamily="34" charset="0"/>
                <a:ea typeface="Calibri" pitchFamily="34" charset="-122"/>
                <a:cs typeface="Calibri" pitchFamily="34" charset="-120"/>
              </a:rPr>
              <a:t>Web</a:t>
            </a:r>
            <a:endParaRPr lang="en-US" sz="2000" dirty="0"/>
          </a:p>
        </p:txBody>
      </p:sp>
      <p:sp>
        <p:nvSpPr>
          <p:cNvPr id="12" name="Shape 9"/>
          <p:cNvSpPr/>
          <p:nvPr/>
        </p:nvSpPr>
        <p:spPr>
          <a:xfrm>
            <a:off x="4322064" y="1920240"/>
            <a:ext cx="3544824" cy="2743200"/>
          </a:xfrm>
          <a:prstGeom prst="roundRect">
            <a:avLst>
              <a:gd name="adj" fmla="val 2000"/>
            </a:avLst>
          </a:prstGeom>
          <a:solidFill>
            <a:srgbClr val="0F0E12"/>
          </a:solidFill>
          <a:ln w="12700">
            <a:solidFill>
              <a:srgbClr val="3A3748"/>
            </a:solidFill>
            <a:prstDash val="solid"/>
          </a:ln>
        </p:spPr>
      </p:sp>
      <p:sp>
        <p:nvSpPr>
          <p:cNvPr id="13" name="Text 10"/>
          <p:cNvSpPr/>
          <p:nvPr/>
        </p:nvSpPr>
        <p:spPr>
          <a:xfrm>
            <a:off x="4504944" y="2029968"/>
            <a:ext cx="3179064" cy="2523744"/>
          </a:xfrm>
          <a:prstGeom prst="rect">
            <a:avLst/>
          </a:prstGeom>
          <a:noFill/>
          <a:ln/>
        </p:spPr>
        <p:txBody>
          <a:bodyPr wrap="square" lIns="0" tIns="0" rIns="0" bIns="0" rtlCol="0" anchor="t"/>
          <a:lstStyle/>
          <a:p>
            <a:pPr indent="0" marL="0">
              <a:buNone/>
            </a:pPr>
            <a:r>
              <a:rPr lang="en-US" sz="1500" dirty="0">
                <a:solidFill>
                  <a:srgbClr val="CFCDE0"/>
                </a:solidFill>
                <a:latin typeface="Consolas" pitchFamily="34" charset="0"/>
                <a:ea typeface="Consolas" pitchFamily="34" charset="-122"/>
                <a:cs typeface="Consolas" pitchFamily="34" charset="-120"/>
              </a:rPr>
              <a:t>cd web</a:t>
            </a:r>
            <a:endParaRPr lang="en-US" sz="1500" dirty="0"/>
          </a:p>
          <a:p>
            <a:pPr indent="0" marL="0">
              <a:buNone/>
            </a:pPr>
            <a:r>
              <a:rPr lang="en-US" sz="1500" dirty="0">
                <a:solidFill>
                  <a:srgbClr val="CFCDE0"/>
                </a:solidFill>
                <a:latin typeface="Consolas" pitchFamily="34" charset="0"/>
                <a:ea typeface="Consolas" pitchFamily="34" charset="-122"/>
                <a:cs typeface="Consolas" pitchFamily="34" charset="-120"/>
              </a:rPr>
              <a:t>npm install</a:t>
            </a:r>
            <a:endParaRPr lang="en-US" sz="1500" dirty="0"/>
          </a:p>
          <a:p>
            <a:pPr indent="0" marL="0">
              <a:buNone/>
            </a:pPr>
            <a:r>
              <a:rPr lang="en-US" sz="1500" dirty="0">
                <a:solidFill>
                  <a:srgbClr val="CFCDE0"/>
                </a:solidFill>
                <a:latin typeface="Consolas" pitchFamily="34" charset="0"/>
                <a:ea typeface="Consolas" pitchFamily="34" charset="-122"/>
                <a:cs typeface="Consolas" pitchFamily="34" charset="-120"/>
              </a:rPr>
              <a:t>npm run dev</a:t>
            </a:r>
            <a:endParaRPr lang="en-US" sz="1500" dirty="0"/>
          </a:p>
          <a:p>
            <a:pPr indent="0" marL="0">
              <a:buNone/>
            </a:pPr>
            <a:endParaRPr lang="en-US" sz="1500" dirty="0"/>
          </a:p>
          <a:p>
            <a:pPr indent="0" marL="0">
              <a:buNone/>
            </a:pPr>
            <a:r>
              <a:rPr lang="en-US" sz="1500" dirty="0">
                <a:solidFill>
                  <a:srgbClr val="CFCDE0"/>
                </a:solidFill>
                <a:latin typeface="Consolas" pitchFamily="34" charset="0"/>
                <a:ea typeface="Consolas" pitchFamily="34" charset="-122"/>
                <a:cs typeface="Consolas" pitchFamily="34" charset="-120"/>
              </a:rPr>
              <a:t># http://localhost:5173</a:t>
            </a:r>
            <a:endParaRPr lang="en-US" sz="1500" dirty="0"/>
          </a:p>
        </p:txBody>
      </p:sp>
      <p:sp>
        <p:nvSpPr>
          <p:cNvPr id="14" name="Text 11"/>
          <p:cNvSpPr/>
          <p:nvPr/>
        </p:nvSpPr>
        <p:spPr>
          <a:xfrm>
            <a:off x="8095488" y="1371600"/>
            <a:ext cx="3544824" cy="457200"/>
          </a:xfrm>
          <a:prstGeom prst="rect">
            <a:avLst/>
          </a:prstGeom>
          <a:noFill/>
          <a:ln/>
        </p:spPr>
        <p:txBody>
          <a:bodyPr wrap="square" lIns="0" tIns="0" rIns="0" bIns="0" rtlCol="0" anchor="ctr"/>
          <a:lstStyle/>
          <a:p>
            <a:pPr indent="0" marL="0">
              <a:buNone/>
            </a:pPr>
            <a:r>
              <a:rPr lang="en-US" sz="2000" b="1" dirty="0">
                <a:solidFill>
                  <a:srgbClr val="A29BFE"/>
                </a:solidFill>
                <a:latin typeface="Calibri" pitchFamily="34" charset="0"/>
                <a:ea typeface="Calibri" pitchFamily="34" charset="-122"/>
                <a:cs typeface="Calibri" pitchFamily="34" charset="-120"/>
              </a:rPr>
              <a:t>Mobile</a:t>
            </a:r>
            <a:endParaRPr lang="en-US" sz="2000" dirty="0"/>
          </a:p>
        </p:txBody>
      </p:sp>
      <p:sp>
        <p:nvSpPr>
          <p:cNvPr id="15" name="Shape 12"/>
          <p:cNvSpPr/>
          <p:nvPr/>
        </p:nvSpPr>
        <p:spPr>
          <a:xfrm>
            <a:off x="8095488" y="1920240"/>
            <a:ext cx="3544824" cy="2743200"/>
          </a:xfrm>
          <a:prstGeom prst="roundRect">
            <a:avLst>
              <a:gd name="adj" fmla="val 2000"/>
            </a:avLst>
          </a:prstGeom>
          <a:solidFill>
            <a:srgbClr val="0F0E12"/>
          </a:solidFill>
          <a:ln w="12700">
            <a:solidFill>
              <a:srgbClr val="3A3748"/>
            </a:solidFill>
            <a:prstDash val="solid"/>
          </a:ln>
        </p:spPr>
      </p:sp>
      <p:sp>
        <p:nvSpPr>
          <p:cNvPr id="16" name="Text 13"/>
          <p:cNvSpPr/>
          <p:nvPr/>
        </p:nvSpPr>
        <p:spPr>
          <a:xfrm>
            <a:off x="8278368" y="2029968"/>
            <a:ext cx="3179064" cy="2523744"/>
          </a:xfrm>
          <a:prstGeom prst="rect">
            <a:avLst/>
          </a:prstGeom>
          <a:noFill/>
          <a:ln/>
        </p:spPr>
        <p:txBody>
          <a:bodyPr wrap="square" lIns="0" tIns="0" rIns="0" bIns="0" rtlCol="0" anchor="t"/>
          <a:lstStyle/>
          <a:p>
            <a:pPr indent="0" marL="0">
              <a:buNone/>
            </a:pPr>
            <a:r>
              <a:rPr lang="en-US" sz="1500" dirty="0">
                <a:solidFill>
                  <a:srgbClr val="CFCDE0"/>
                </a:solidFill>
                <a:latin typeface="Consolas" pitchFamily="34" charset="0"/>
                <a:ea typeface="Consolas" pitchFamily="34" charset="-122"/>
                <a:cs typeface="Consolas" pitchFamily="34" charset="-120"/>
              </a:rPr>
              <a:t>cd mobile</a:t>
            </a:r>
            <a:endParaRPr lang="en-US" sz="1500" dirty="0"/>
          </a:p>
          <a:p>
            <a:pPr indent="0" marL="0">
              <a:buNone/>
            </a:pPr>
            <a:r>
              <a:rPr lang="en-US" sz="1500" dirty="0">
                <a:solidFill>
                  <a:srgbClr val="CFCDE0"/>
                </a:solidFill>
                <a:latin typeface="Consolas" pitchFamily="34" charset="0"/>
                <a:ea typeface="Consolas" pitchFamily="34" charset="-122"/>
                <a:cs typeface="Consolas" pitchFamily="34" charset="-120"/>
              </a:rPr>
              <a:t>npm install</a:t>
            </a:r>
            <a:endParaRPr lang="en-US" sz="1500" dirty="0"/>
          </a:p>
          <a:p>
            <a:pPr indent="0" marL="0">
              <a:buNone/>
            </a:pPr>
            <a:r>
              <a:rPr lang="en-US" sz="1500" dirty="0">
                <a:solidFill>
                  <a:srgbClr val="CFCDE0"/>
                </a:solidFill>
                <a:latin typeface="Consolas" pitchFamily="34" charset="0"/>
                <a:ea typeface="Consolas" pitchFamily="34" charset="-122"/>
                <a:cs typeface="Consolas" pitchFamily="34" charset="-120"/>
              </a:rPr>
              <a:t>npx expo start</a:t>
            </a:r>
            <a:endParaRPr lang="en-US" sz="1500" dirty="0"/>
          </a:p>
          <a:p>
            <a:pPr indent="0" marL="0">
              <a:buNone/>
            </a:pPr>
            <a:endParaRPr lang="en-US" sz="1500" dirty="0"/>
          </a:p>
          <a:p>
            <a:pPr indent="0" marL="0">
              <a:buNone/>
            </a:pPr>
            <a:r>
              <a:rPr lang="en-US" sz="1500" dirty="0">
                <a:solidFill>
                  <a:srgbClr val="CFCDE0"/>
                </a:solidFill>
                <a:latin typeface="Consolas" pitchFamily="34" charset="0"/>
                <a:ea typeface="Consolas" pitchFamily="34" charset="-122"/>
                <a:cs typeface="Consolas" pitchFamily="34" charset="-120"/>
              </a:rPr>
              <a:t># scan the QR code</a:t>
            </a:r>
            <a:endParaRPr lang="en-US" sz="1500" dirty="0"/>
          </a:p>
          <a:p>
            <a:pPr indent="0" marL="0">
              <a:buNone/>
            </a:pPr>
            <a:r>
              <a:rPr lang="en-US" sz="1500" dirty="0">
                <a:solidFill>
                  <a:srgbClr val="CFCDE0"/>
                </a:solidFill>
                <a:latin typeface="Consolas" pitchFamily="34" charset="0"/>
                <a:ea typeface="Consolas" pitchFamily="34" charset="-122"/>
                <a:cs typeface="Consolas" pitchFamily="34" charset="-120"/>
              </a:rPr>
              <a:t># with Expo Go</a:t>
            </a:r>
            <a:endParaRPr lang="en-US" sz="1500" dirty="0"/>
          </a:p>
        </p:txBody>
      </p:sp>
      <p:sp>
        <p:nvSpPr>
          <p:cNvPr id="17" name="Shape 14"/>
          <p:cNvSpPr/>
          <p:nvPr/>
        </p:nvSpPr>
        <p:spPr>
          <a:xfrm>
            <a:off x="548640" y="4937760"/>
            <a:ext cx="11091672" cy="1005840"/>
          </a:xfrm>
          <a:prstGeom prst="roundRect">
            <a:avLst>
              <a:gd name="adj" fmla="val 7273"/>
            </a:avLst>
          </a:prstGeom>
          <a:solidFill>
            <a:srgbClr val="23212B"/>
          </a:solidFill>
          <a:ln w="12700">
            <a:solidFill>
              <a:srgbClr val="3A3748"/>
            </a:solidFill>
            <a:prstDash val="solid"/>
          </a:ln>
        </p:spPr>
      </p:sp>
      <p:sp>
        <p:nvSpPr>
          <p:cNvPr id="18" name="Text 15"/>
          <p:cNvSpPr/>
          <p:nvPr/>
        </p:nvSpPr>
        <p:spPr>
          <a:xfrm>
            <a:off x="777240" y="5047488"/>
            <a:ext cx="10680192" cy="804672"/>
          </a:xfrm>
          <a:prstGeom prst="rect">
            <a:avLst/>
          </a:prstGeom>
          <a:noFill/>
          <a:ln/>
        </p:spPr>
        <p:txBody>
          <a:bodyPr wrap="square" lIns="0" tIns="0" rIns="0" bIns="0" rtlCol="0" anchor="t"/>
          <a:lstStyle/>
          <a:p>
            <a:pPr indent="0" marL="0">
              <a:spcAft>
                <a:spcPts val="400"/>
              </a:spcAft>
              <a:buNone/>
            </a:pPr>
            <a:r>
              <a:rPr lang="en-US" sz="1500" dirty="0">
                <a:solidFill>
                  <a:srgbClr val="F2F1F6"/>
                </a:solidFill>
                <a:latin typeface="Calibri" pitchFamily="34" charset="0"/>
                <a:ea typeface="Calibri" pitchFamily="34" charset="-122"/>
                <a:cs typeface="Calibri" pitchFamily="34" charset="-120"/>
              </a:rPr>
              <a:t>Requires Node 22+ and a running MongoDB. Settings in backend/.env (PORT, MONGODB_URI, CORS_ORIGIN, SECRET_KEY); web/.env (VITE_API_URL); mobile/.env (EXPO_PUBLIC_API_URL).</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7161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6C5CE7"/>
          </a:solidFill>
          <a:ln w="12700">
            <a:solidFill>
              <a:srgbClr val="6C5CE7"/>
            </a:solidFill>
            <a:prstDash val="solid"/>
          </a:ln>
        </p:spPr>
      </p:sp>
      <p:sp>
        <p:nvSpPr>
          <p:cNvPr id="3" name="Text 1"/>
          <p:cNvSpPr/>
          <p:nvPr/>
        </p:nvSpPr>
        <p:spPr>
          <a:xfrm>
            <a:off x="548640" y="320040"/>
            <a:ext cx="9811512" cy="731520"/>
          </a:xfrm>
          <a:prstGeom prst="rect">
            <a:avLst/>
          </a:prstGeom>
          <a:noFill/>
          <a:ln/>
        </p:spPr>
        <p:txBody>
          <a:bodyPr wrap="square" lIns="0" tIns="0" rIns="0" bIns="0" rtlCol="0" anchor="ctr"/>
          <a:lstStyle/>
          <a:p>
            <a:pPr indent="0" marL="0">
              <a:buNone/>
            </a:pPr>
            <a:r>
              <a:rPr lang="en-US" sz="3000" b="1" dirty="0">
                <a:solidFill>
                  <a:srgbClr val="F2F1F6"/>
                </a:solidFill>
                <a:latin typeface="Calibri" pitchFamily="34" charset="0"/>
                <a:ea typeface="Calibri" pitchFamily="34" charset="-122"/>
                <a:cs typeface="Calibri" pitchFamily="34" charset="-120"/>
              </a:rPr>
              <a:t>Limits and next steps</a:t>
            </a:r>
            <a:endParaRPr lang="en-US" sz="3000" dirty="0"/>
          </a:p>
        </p:txBody>
      </p:sp>
      <p:sp>
        <p:nvSpPr>
          <p:cNvPr id="4" name="Text 2"/>
          <p:cNvSpPr/>
          <p:nvPr/>
        </p:nvSpPr>
        <p:spPr>
          <a:xfrm>
            <a:off x="9811512" y="457200"/>
            <a:ext cx="1828800" cy="365760"/>
          </a:xfrm>
          <a:prstGeom prst="rect">
            <a:avLst/>
          </a:prstGeom>
          <a:solidFill>
            <a:srgbClr val="23212B"/>
          </a:solidFill>
          <a:ln/>
        </p:spPr>
        <p:txBody>
          <a:bodyPr wrap="square" lIns="0" tIns="0" rIns="0" bIns="0" rtlCol="0" anchor="ctr"/>
          <a:lstStyle/>
          <a:p>
            <a:pPr algn="ctr" indent="0" marL="0">
              <a:buNone/>
            </a:pPr>
            <a:r>
              <a:rPr lang="en-US" sz="1100" b="1" dirty="0">
                <a:solidFill>
                  <a:srgbClr val="A29BFE"/>
                </a:solidFill>
                <a:latin typeface="Calibri" pitchFamily="34" charset="0"/>
                <a:ea typeface="Calibri" pitchFamily="34" charset="-122"/>
                <a:cs typeface="Calibri" pitchFamily="34" charset="-120"/>
              </a:rPr>
              <a:t>SUMMARY</a:t>
            </a:r>
            <a:endParaRPr lang="en-US" sz="1100" dirty="0"/>
          </a:p>
        </p:txBody>
      </p:sp>
      <p:sp>
        <p:nvSpPr>
          <p:cNvPr id="5" name="Text 3"/>
          <p:cNvSpPr/>
          <p:nvPr/>
        </p:nvSpPr>
        <p:spPr>
          <a:xfrm>
            <a:off x="11274552" y="6400800"/>
            <a:ext cx="457200" cy="274320"/>
          </a:xfrm>
          <a:prstGeom prst="rect">
            <a:avLst/>
          </a:prstGeom>
          <a:noFill/>
          <a:ln/>
        </p:spPr>
        <p:txBody>
          <a:bodyPr wrap="square" lIns="0" tIns="0" rIns="0" bIns="0" rtlCol="0" anchor="ctr"/>
          <a:lstStyle/>
          <a:p>
            <a:pPr algn="r" indent="0" marL="0">
              <a:buNone/>
            </a:pPr>
            <a:r>
              <a:rPr lang="en-US" sz="1000" dirty="0">
                <a:solidFill>
                  <a:srgbClr val="A9A7B8"/>
                </a:solidFill>
                <a:latin typeface="Calibri" pitchFamily="34" charset="0"/>
                <a:ea typeface="Calibri" pitchFamily="34" charset="-122"/>
                <a:cs typeface="Calibri" pitchFamily="34" charset="-120"/>
              </a:rPr>
              <a:t>30</a:t>
            </a:r>
            <a:endParaRPr lang="en-US" sz="1000" dirty="0"/>
          </a:p>
        </p:txBody>
      </p:sp>
      <p:sp>
        <p:nvSpPr>
          <p:cNvPr id="6" name="Text 4"/>
          <p:cNvSpPr/>
          <p:nvPr/>
        </p:nvSpPr>
        <p:spPr>
          <a:xfrm>
            <a:off x="548640" y="6400800"/>
            <a:ext cx="1828800" cy="274320"/>
          </a:xfrm>
          <a:prstGeom prst="rect">
            <a:avLst/>
          </a:prstGeom>
          <a:noFill/>
          <a:ln/>
        </p:spPr>
        <p:txBody>
          <a:bodyPr wrap="square" lIns="0" tIns="0" rIns="0" bIns="0" rtlCol="0" anchor="ctr"/>
          <a:lstStyle/>
          <a:p>
            <a:pPr indent="0" marL="0">
              <a:buNone/>
            </a:pPr>
            <a:r>
              <a:rPr lang="en-US" sz="1000" dirty="0">
                <a:solidFill>
                  <a:srgbClr val="A9A7B8"/>
                </a:solidFill>
                <a:latin typeface="Calibri" pitchFamily="34" charset="0"/>
                <a:ea typeface="Calibri" pitchFamily="34" charset="-122"/>
                <a:cs typeface="Calibri" pitchFamily="34" charset="-120"/>
              </a:rPr>
              <a:t>HelloJess</a:t>
            </a:r>
            <a:endParaRPr lang="en-US" sz="1000" dirty="0"/>
          </a:p>
        </p:txBody>
      </p:sp>
      <p:sp>
        <p:nvSpPr>
          <p:cNvPr id="8" name="Shape 5"/>
          <p:cNvSpPr/>
          <p:nvPr/>
        </p:nvSpPr>
        <p:spPr>
          <a:xfrm>
            <a:off x="548640" y="1371600"/>
            <a:ext cx="5440680" cy="3291840"/>
          </a:xfrm>
          <a:prstGeom prst="roundRect">
            <a:avLst>
              <a:gd name="adj" fmla="val 2222"/>
            </a:avLst>
          </a:prstGeom>
          <a:solidFill>
            <a:srgbClr val="23212B"/>
          </a:solidFill>
          <a:ln w="12700">
            <a:solidFill>
              <a:srgbClr val="3A3748"/>
            </a:solidFill>
            <a:prstDash val="solid"/>
          </a:ln>
        </p:spPr>
      </p:sp>
      <p:sp>
        <p:nvSpPr>
          <p:cNvPr id="9" name="Shape 6"/>
          <p:cNvSpPr/>
          <p:nvPr/>
        </p:nvSpPr>
        <p:spPr>
          <a:xfrm>
            <a:off x="566928" y="1536192"/>
            <a:ext cx="64008" cy="365760"/>
          </a:xfrm>
          <a:prstGeom prst="rect">
            <a:avLst/>
          </a:prstGeom>
          <a:solidFill>
            <a:srgbClr val="E5484D"/>
          </a:solidFill>
          <a:ln w="12700">
            <a:solidFill>
              <a:srgbClr val="E5484D"/>
            </a:solidFill>
            <a:prstDash val="solid"/>
          </a:ln>
        </p:spPr>
      </p:sp>
      <p:sp>
        <p:nvSpPr>
          <p:cNvPr id="10" name="Text 7"/>
          <p:cNvSpPr/>
          <p:nvPr/>
        </p:nvSpPr>
        <p:spPr>
          <a:xfrm>
            <a:off x="777240" y="1481328"/>
            <a:ext cx="5074920"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Known limitations</a:t>
            </a:r>
            <a:endParaRPr lang="en-US" sz="1700" dirty="0"/>
          </a:p>
        </p:txBody>
      </p:sp>
      <p:sp>
        <p:nvSpPr>
          <p:cNvPr id="11" name="Text 8"/>
          <p:cNvSpPr/>
          <p:nvPr/>
        </p:nvSpPr>
        <p:spPr>
          <a:xfrm>
            <a:off x="777240" y="1984248"/>
            <a:ext cx="5029200" cy="2587752"/>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Reopening a completed task clears its completion date, so past statistics lose it</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No password change or account deletion yet</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Tokens last 7 days and cannot be revoked early</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SECRET_KEY has a development default</a:t>
            </a:r>
            <a:endParaRPr lang="en-US" sz="1550" dirty="0"/>
          </a:p>
        </p:txBody>
      </p:sp>
      <p:sp>
        <p:nvSpPr>
          <p:cNvPr id="12" name="Shape 9"/>
          <p:cNvSpPr/>
          <p:nvPr/>
        </p:nvSpPr>
        <p:spPr>
          <a:xfrm>
            <a:off x="6217920" y="1371600"/>
            <a:ext cx="5440680" cy="3291840"/>
          </a:xfrm>
          <a:prstGeom prst="roundRect">
            <a:avLst>
              <a:gd name="adj" fmla="val 2222"/>
            </a:avLst>
          </a:prstGeom>
          <a:solidFill>
            <a:srgbClr val="23212B"/>
          </a:solidFill>
          <a:ln w="12700">
            <a:solidFill>
              <a:srgbClr val="3A3748"/>
            </a:solidFill>
            <a:prstDash val="solid"/>
          </a:ln>
        </p:spPr>
      </p:sp>
      <p:sp>
        <p:nvSpPr>
          <p:cNvPr id="13" name="Shape 10"/>
          <p:cNvSpPr/>
          <p:nvPr/>
        </p:nvSpPr>
        <p:spPr>
          <a:xfrm>
            <a:off x="6236208" y="1536192"/>
            <a:ext cx="64008" cy="365760"/>
          </a:xfrm>
          <a:prstGeom prst="rect">
            <a:avLst/>
          </a:prstGeom>
          <a:solidFill>
            <a:srgbClr val="2ECC71"/>
          </a:solidFill>
          <a:ln w="12700">
            <a:solidFill>
              <a:srgbClr val="2ECC71"/>
            </a:solidFill>
            <a:prstDash val="solid"/>
          </a:ln>
        </p:spPr>
      </p:sp>
      <p:sp>
        <p:nvSpPr>
          <p:cNvPr id="14" name="Text 11"/>
          <p:cNvSpPr/>
          <p:nvPr/>
        </p:nvSpPr>
        <p:spPr>
          <a:xfrm>
            <a:off x="6446520" y="1481328"/>
            <a:ext cx="5074920" cy="457200"/>
          </a:xfrm>
          <a:prstGeom prst="rect">
            <a:avLst/>
          </a:prstGeom>
          <a:noFill/>
          <a:ln/>
        </p:spPr>
        <p:txBody>
          <a:bodyPr wrap="square" lIns="0" tIns="0" rIns="0" bIns="0" rtlCol="0" anchor="ctr"/>
          <a:lstStyle/>
          <a:p>
            <a:pPr indent="0" marL="0">
              <a:buNone/>
            </a:pPr>
            <a:r>
              <a:rPr lang="en-US" sz="1700" b="1" dirty="0">
                <a:solidFill>
                  <a:srgbClr val="A29BFE"/>
                </a:solidFill>
                <a:latin typeface="Calibri" pitchFamily="34" charset="0"/>
                <a:ea typeface="Calibri" pitchFamily="34" charset="-122"/>
                <a:cs typeface="Calibri" pitchFamily="34" charset="-120"/>
              </a:rPr>
              <a:t>Possible next steps</a:t>
            </a:r>
            <a:endParaRPr lang="en-US" sz="1700" dirty="0"/>
          </a:p>
        </p:txBody>
      </p:sp>
      <p:sp>
        <p:nvSpPr>
          <p:cNvPr id="15" name="Text 12"/>
          <p:cNvSpPr/>
          <p:nvPr/>
        </p:nvSpPr>
        <p:spPr>
          <a:xfrm>
            <a:off x="6446520" y="1984248"/>
            <a:ext cx="5029200" cy="2587752"/>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Password change and account deletion</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Token refresh and revocation</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Push reminders for due tasks</a:t>
            </a:r>
            <a:endParaRPr lang="en-US" sz="1550" dirty="0"/>
          </a:p>
          <a:p>
            <a:pPr marL="177800" indent="-177800">
              <a:spcAft>
                <a:spcPts val="400"/>
              </a:spcAft>
              <a:buSzPct val="100000"/>
              <a:buChar char="•"/>
            </a:pPr>
            <a:r>
              <a:rPr lang="en-US" sz="1550" dirty="0">
                <a:solidFill>
                  <a:srgbClr val="F2F1F6"/>
                </a:solidFill>
                <a:latin typeface="Calibri" pitchFamily="34" charset="0"/>
                <a:ea typeface="Calibri" pitchFamily="34" charset="-122"/>
                <a:cs typeface="Calibri" pitchFamily="34" charset="-120"/>
              </a:rPr>
              <a:t>Deploy the API and publish the apps</a:t>
            </a:r>
            <a:endParaRPr lang="en-US" sz="1550" dirty="0"/>
          </a:p>
        </p:txBody>
      </p:sp>
      <p:sp>
        <p:nvSpPr>
          <p:cNvPr id="16" name="Text 13"/>
          <p:cNvSpPr/>
          <p:nvPr/>
        </p:nvSpPr>
        <p:spPr>
          <a:xfrm>
            <a:off x="548640" y="4937760"/>
            <a:ext cx="11091672" cy="914400"/>
          </a:xfrm>
          <a:prstGeom prst="rect">
            <a:avLst/>
          </a:prstGeom>
          <a:noFill/>
          <a:ln/>
        </p:spPr>
        <p:txBody>
          <a:bodyPr wrap="square" lIns="0" tIns="0" rIns="0" bIns="0" rtlCol="0" anchor="ctr"/>
          <a:lstStyle/>
          <a:p>
            <a:pPr algn="ctr" indent="0" marL="0">
              <a:buNone/>
            </a:pPr>
            <a:r>
              <a:rPr lang="en-US" sz="4400" b="1" dirty="0">
                <a:solidFill>
                  <a:srgbClr val="6C5CE7"/>
                </a:solidFill>
                <a:latin typeface="Calibri" pitchFamily="34" charset="0"/>
                <a:ea typeface="Calibri" pitchFamily="34" charset="-122"/>
                <a:cs typeface="Calibri" pitchFamily="34" charset="-120"/>
              </a:rPr>
              <a:t>Thank you</a:t>
            </a:r>
            <a:endParaRPr lang="en-US"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HelloJess</dc:title>
  <dc:subject>PptxGenJS Presentation</dc:subject>
  <dc:creator>HelloJess</dc:creator>
  <cp:lastModifiedBy>HelloJess</cp:lastModifiedBy>
  <cp:revision>1</cp:revision>
  <dcterms:created xsi:type="dcterms:W3CDTF">2026-10-06T07:55:51Z</dcterms:created>
  <dcterms:modified xsi:type="dcterms:W3CDTF">2026-10-06T07:55:51Z</dcterms:modified>
</cp:coreProperties>
</file>